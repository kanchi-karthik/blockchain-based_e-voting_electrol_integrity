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4"/>
    <p:sldMasterId id="2147483660" r:id="rId5"/>
    <p:sldMasterId id="2147483685" r:id="rId6"/>
    <p:sldMasterId id="2147483688" r:id="rId7"/>
    <p:sldMasterId id="2147483701" r:id="rId8"/>
  </p:sldMasterIdLst>
  <p:notesMasterIdLst>
    <p:notesMasterId r:id="rId53"/>
  </p:notesMasterIdLst>
  <p:handoutMasterIdLst>
    <p:handoutMasterId r:id="rId54"/>
  </p:handoutMasterIdLst>
  <p:sldIdLst>
    <p:sldId id="849" r:id="rId9"/>
    <p:sldId id="831" r:id="rId10"/>
    <p:sldId id="860" r:id="rId11"/>
    <p:sldId id="850" r:id="rId12"/>
    <p:sldId id="858" r:id="rId13"/>
    <p:sldId id="859" r:id="rId14"/>
    <p:sldId id="851" r:id="rId15"/>
    <p:sldId id="878" r:id="rId16"/>
    <p:sldId id="879" r:id="rId17"/>
    <p:sldId id="880" r:id="rId18"/>
    <p:sldId id="881" r:id="rId19"/>
    <p:sldId id="882" r:id="rId20"/>
    <p:sldId id="852" r:id="rId21"/>
    <p:sldId id="864" r:id="rId22"/>
    <p:sldId id="868" r:id="rId23"/>
    <p:sldId id="853" r:id="rId24"/>
    <p:sldId id="883" r:id="rId25"/>
    <p:sldId id="863" r:id="rId26"/>
    <p:sldId id="854" r:id="rId27"/>
    <p:sldId id="884" r:id="rId28"/>
    <p:sldId id="885" r:id="rId29"/>
    <p:sldId id="886" r:id="rId30"/>
    <p:sldId id="887" r:id="rId31"/>
    <p:sldId id="862" r:id="rId32"/>
    <p:sldId id="865" r:id="rId33"/>
    <p:sldId id="870" r:id="rId34"/>
    <p:sldId id="875" r:id="rId35"/>
    <p:sldId id="876" r:id="rId36"/>
    <p:sldId id="877" r:id="rId37"/>
    <p:sldId id="871" r:id="rId38"/>
    <p:sldId id="872" r:id="rId39"/>
    <p:sldId id="866" r:id="rId40"/>
    <p:sldId id="264" r:id="rId41"/>
    <p:sldId id="265" r:id="rId42"/>
    <p:sldId id="259" r:id="rId43"/>
    <p:sldId id="260" r:id="rId44"/>
    <p:sldId id="266" r:id="rId45"/>
    <p:sldId id="867" r:id="rId46"/>
    <p:sldId id="314" r:id="rId47"/>
    <p:sldId id="855" r:id="rId48"/>
    <p:sldId id="857" r:id="rId49"/>
    <p:sldId id="874" r:id="rId50"/>
    <p:sldId id="873" r:id="rId51"/>
    <p:sldId id="86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38507C"/>
    <a:srgbClr val="086072"/>
    <a:srgbClr val="336699"/>
    <a:srgbClr val="69115F"/>
    <a:srgbClr val="E96C1F"/>
    <a:srgbClr val="B6114D"/>
    <a:srgbClr val="2657E2"/>
    <a:srgbClr val="0000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571"/>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theme" Target="theme/theme1.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FDB985-8404-473A-A297-1E33D8BC29AD}" type="datetimeFigureOut">
              <a:rPr lang="en-US" smtClean="0"/>
              <a:pPr/>
              <a:t>11/16/2025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2B8ED-2479-4BFE-A0EA-F4DF447902E2}" type="slidenum">
              <a:rPr lang="en-US" smtClean="0"/>
              <a:pPr/>
              <a:t>‹#›</a:t>
            </a:fld>
            <a:endParaRPr lang="en-US"/>
          </a:p>
        </p:txBody>
      </p:sp>
    </p:spTree>
    <p:extLst>
      <p:ext uri="{BB962C8B-B14F-4D97-AF65-F5344CB8AC3E}">
        <p14:creationId xmlns:p14="http://schemas.microsoft.com/office/powerpoint/2010/main" val="286997832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A85CDB-4198-450F-B6D3-048A14B96D4C}" type="datetimeFigureOut">
              <a:rPr lang="en-IN" smtClean="0"/>
              <a:pPr/>
              <a:t>16-11-2025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04008-3433-43AD-8483-BD8A804A264A}" type="slidenum">
              <a:rPr lang="en-IN" smtClean="0"/>
              <a:pPr/>
              <a:t>‹#›</a:t>
            </a:fld>
            <a:endParaRPr lang="en-IN"/>
          </a:p>
        </p:txBody>
      </p:sp>
    </p:spTree>
    <p:extLst>
      <p:ext uri="{BB962C8B-B14F-4D97-AF65-F5344CB8AC3E}">
        <p14:creationId xmlns:p14="http://schemas.microsoft.com/office/powerpoint/2010/main" val="38727393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22535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23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a:t>Presentation Name</a:t>
            </a:r>
          </a:p>
        </p:txBody>
      </p:sp>
    </p:spTree>
    <p:extLst>
      <p:ext uri="{BB962C8B-B14F-4D97-AF65-F5344CB8AC3E}">
        <p14:creationId xmlns:p14="http://schemas.microsoft.com/office/powerpoint/2010/main" val="4187337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482340" y="3911285"/>
            <a:ext cx="9144000" cy="1277937"/>
          </a:xfrm>
        </p:spPr>
        <p:txBody>
          <a:bodyPr anchor="b"/>
          <a:lstStyle>
            <a:lvl1pPr algn="l">
              <a:defRPr sz="6000">
                <a:solidFill>
                  <a:schemeClr val="bg1"/>
                </a:solidFill>
                <a:latin typeface="Garamond" panose="02020404030301010803" pitchFamily="18" charset="0"/>
              </a:defRPr>
            </a:lvl1pPr>
          </a:lstStyle>
          <a:p>
            <a:r>
              <a:rPr lang="en-US"/>
              <a:t>Presentation Name</a:t>
            </a:r>
          </a:p>
        </p:txBody>
      </p:sp>
    </p:spTree>
    <p:extLst>
      <p:ext uri="{BB962C8B-B14F-4D97-AF65-F5344CB8AC3E}">
        <p14:creationId xmlns:p14="http://schemas.microsoft.com/office/powerpoint/2010/main" val="791746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6B218248-39AE-B24D-B571-E8695ACF81F5}" type="slidenum">
              <a:rPr lang="en-US" smtClean="0"/>
              <a:pPr/>
              <a:t>‹#›</a:t>
            </a:fld>
            <a:endParaRPr lang="en-US"/>
          </a:p>
        </p:txBody>
      </p:sp>
    </p:spTree>
    <p:extLst>
      <p:ext uri="{BB962C8B-B14F-4D97-AF65-F5344CB8AC3E}">
        <p14:creationId xmlns:p14="http://schemas.microsoft.com/office/powerpoint/2010/main" val="28068857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77296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644480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6496934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69442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4826153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3299912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5392649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2684968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550763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5338761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850522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415600" y="593367"/>
            <a:ext cx="11360800" cy="763600"/>
          </a:xfrm>
          <a:prstGeom prst="rect">
            <a:avLst/>
          </a:prstGeom>
        </p:spPr>
        <p:txBody>
          <a:bodyPr spcFirstLastPara="1" wrap="square" lIns="90000" tIns="46800" rIns="90000" bIns="46800"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title style</a:t>
            </a:r>
            <a:endParaRPr/>
          </a:p>
        </p:txBody>
      </p:sp>
      <p:sp>
        <p:nvSpPr>
          <p:cNvPr id="29" name="Google Shape;29;p7"/>
          <p:cNvSpPr txBox="1">
            <a:spLocks noGrp="1"/>
          </p:cNvSpPr>
          <p:nvPr>
            <p:ph type="body" idx="1"/>
          </p:nvPr>
        </p:nvSpPr>
        <p:spPr>
          <a:xfrm>
            <a:off x="415600" y="1536633"/>
            <a:ext cx="11360800" cy="4555200"/>
          </a:xfrm>
          <a:prstGeom prst="rect">
            <a:avLst/>
          </a:prstGeom>
        </p:spPr>
        <p:txBody>
          <a:bodyPr spcFirstLastPara="1" wrap="square" lIns="90000" tIns="46800" rIns="90000" bIns="46800" anchor="t" anchorCtr="0">
            <a:noAutofit/>
          </a:bodyPr>
          <a:lstStyle>
            <a:lvl1pPr marL="609570" lvl="0" indent="-450510" rtl="0">
              <a:spcBef>
                <a:spcPts val="675"/>
              </a:spcBef>
              <a:spcAft>
                <a:spcPts val="0"/>
              </a:spcAft>
              <a:buSzPts val="1721"/>
              <a:buChar char="⚫"/>
              <a:defRPr/>
            </a:lvl1pPr>
            <a:lvl2pPr marL="1219140" lvl="1" indent="-402569" rtl="0">
              <a:spcBef>
                <a:spcPts val="551"/>
              </a:spcBef>
              <a:spcAft>
                <a:spcPts val="0"/>
              </a:spcAft>
              <a:buSzPts val="1155"/>
              <a:buChar char="⚪"/>
              <a:defRPr/>
            </a:lvl2pPr>
            <a:lvl3pPr marL="1828709" lvl="2" indent="-400029" rtl="0">
              <a:spcBef>
                <a:spcPts val="500"/>
              </a:spcBef>
              <a:spcAft>
                <a:spcPts val="0"/>
              </a:spcAft>
              <a:buSzPts val="1125"/>
              <a:buChar char="⯍"/>
              <a:defRPr/>
            </a:lvl3pPr>
            <a:lvl4pPr marL="2438278" lvl="3" indent="-393681" rtl="0">
              <a:spcBef>
                <a:spcPts val="500"/>
              </a:spcBef>
              <a:spcAft>
                <a:spcPts val="0"/>
              </a:spcAft>
              <a:buSzPts val="1050"/>
              <a:buChar char="🞆"/>
              <a:defRPr/>
            </a:lvl4pPr>
            <a:lvl5pPr marL="3047848" lvl="4" indent="-431779" rtl="0">
              <a:spcBef>
                <a:spcPts val="500"/>
              </a:spcBef>
              <a:spcAft>
                <a:spcPts val="0"/>
              </a:spcAft>
              <a:buSzPts val="1500"/>
              <a:buChar char="•"/>
              <a:defRPr/>
            </a:lvl5pPr>
            <a:lvl6pPr marL="3657418" lvl="5" indent="-431779" rtl="0">
              <a:spcBef>
                <a:spcPts val="500"/>
              </a:spcBef>
              <a:spcAft>
                <a:spcPts val="0"/>
              </a:spcAft>
              <a:buSzPts val="1500"/>
              <a:buChar char="•"/>
              <a:defRPr/>
            </a:lvl6pPr>
            <a:lvl7pPr marL="4266987" lvl="6" indent="-431779" rtl="0">
              <a:spcBef>
                <a:spcPts val="500"/>
              </a:spcBef>
              <a:spcAft>
                <a:spcPts val="0"/>
              </a:spcAft>
              <a:buSzPts val="1500"/>
              <a:buChar char="•"/>
              <a:defRPr/>
            </a:lvl7pPr>
            <a:lvl8pPr marL="4876557" lvl="7" indent="-431779" rtl="0">
              <a:spcBef>
                <a:spcPts val="500"/>
              </a:spcBef>
              <a:spcAft>
                <a:spcPts val="0"/>
              </a:spcAft>
              <a:buSzPts val="1500"/>
              <a:buChar char="•"/>
              <a:defRPr/>
            </a:lvl8pPr>
            <a:lvl9pPr marL="5486126" lvl="8" indent="-431779" rtl="0">
              <a:spcBef>
                <a:spcPts val="500"/>
              </a:spcBef>
              <a:spcAft>
                <a:spcPts val="0"/>
              </a:spcAft>
              <a:buSzPts val="1500"/>
              <a:buChar char="•"/>
              <a:defRPr/>
            </a:lvl9pPr>
          </a:lstStyle>
          <a:p>
            <a:pPr lvl="0"/>
            <a:r>
              <a:rPr lang="en-US"/>
              <a:t>Click to edit Master text styles</a:t>
            </a:r>
          </a:p>
        </p:txBody>
      </p:sp>
      <p:sp>
        <p:nvSpPr>
          <p:cNvPr id="30" name="Google Shape;30;p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l"/>
            <a:fld id="{00000000-1234-1234-1234-123412341234}" type="slidenum">
              <a:rPr lang="en" smtClean="0"/>
              <a:pPr algn="l"/>
              <a:t>‹#›</a:t>
            </a:fld>
            <a:endParaRPr lang="en"/>
          </a:p>
        </p:txBody>
      </p:sp>
    </p:spTree>
    <p:extLst>
      <p:ext uri="{BB962C8B-B14F-4D97-AF65-F5344CB8AC3E}">
        <p14:creationId xmlns:p14="http://schemas.microsoft.com/office/powerpoint/2010/main" val="42510730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66359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latin typeface="Avenir Next LT Pro"/>
              </a:defRPr>
            </a:lvl1pPr>
            <a:lvl2pPr>
              <a:defRPr>
                <a:latin typeface="Avenir Next LT Pro"/>
              </a:defRPr>
            </a:lvl2pPr>
            <a:lvl3pPr>
              <a:defRPr>
                <a:latin typeface="Avenir Next LT Pro"/>
              </a:defRPr>
            </a:lvl3pPr>
            <a:lvl4pPr>
              <a:defRPr>
                <a:latin typeface="Avenir Next LT Pro"/>
              </a:defRPr>
            </a:lvl4pPr>
            <a:lvl5pPr>
              <a:defRPr>
                <a:latin typeface="Avenir Next LT Pro"/>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6204173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1512806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0318380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0026641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4080833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4729884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38995710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6557816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4862495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pPr/>
              <a:t>‹#›</a:t>
            </a:fld>
            <a:endParaRPr lang="en-US"/>
          </a:p>
        </p:txBody>
      </p:sp>
    </p:spTree>
    <p:extLst>
      <p:ext uri="{BB962C8B-B14F-4D97-AF65-F5344CB8AC3E}">
        <p14:creationId xmlns:p14="http://schemas.microsoft.com/office/powerpoint/2010/main" val="2582206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270B5-2641-4048-A5B7-426327B0BA58}"/>
              </a:ext>
            </a:extLst>
          </p:cNvPr>
          <p:cNvSpPr>
            <a:spLocks noGrp="1"/>
          </p:cNvSpPr>
          <p:nvPr>
            <p:ph type="title"/>
          </p:nvPr>
        </p:nvSpPr>
        <p:spPr>
          <a:xfrm>
            <a:off x="838091" y="365084"/>
            <a:ext cx="10515819" cy="831928"/>
          </a:xfrm>
          <a:prstGeom prst="rect">
            <a:avLst/>
          </a:prstGeom>
        </p:spPr>
        <p:txBody>
          <a:bodyPr anchor="ctr"/>
          <a:lstStyle>
            <a:lvl1pPr>
              <a:defRPr sz="3599"/>
            </a:lvl1pPr>
          </a:lstStyle>
          <a:p>
            <a:r>
              <a:rPr lang="en-US"/>
              <a:t>Click to edit Master title style</a:t>
            </a:r>
          </a:p>
        </p:txBody>
      </p:sp>
    </p:spTree>
    <p:extLst>
      <p:ext uri="{BB962C8B-B14F-4D97-AF65-F5344CB8AC3E}">
        <p14:creationId xmlns:p14="http://schemas.microsoft.com/office/powerpoint/2010/main" val="42825909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53297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4.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image" Target="../media/image2.png"/><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a:p>
        </p:txBody>
      </p:sp>
      <p:sp>
        <p:nvSpPr>
          <p:cNvPr id="7" name="Rectangle 6"/>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cxnSp>
        <p:nvCxnSpPr>
          <p:cNvPr id="10" name="Straight Connector 9"/>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1002095191"/>
      </p:ext>
    </p:extLst>
  </p:cSld>
  <p:clrMap bg1="lt1" tx1="dk1" bg2="lt2" tx2="dk2" accent1="accent1" accent2="accent2" accent3="accent3" accent4="accent4" accent5="accent5" accent6="accent6" hlink="hlink" folHlink="folHlink"/>
  <p:sldLayoutIdLst>
    <p:sldLayoutId id="2147483680" r:id="rId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a:p>
        </p:txBody>
      </p:sp>
      <p:sp>
        <p:nvSpPr>
          <p:cNvPr id="7" name="Rectangle 6"/>
          <p:cNvSpPr/>
          <p:nvPr/>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cxnSp>
        <p:nvCxnSpPr>
          <p:cNvPr id="10" name="Straight Connector 9"/>
          <p:cNvCxnSpPr/>
          <p:nvPr/>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1" name="Picture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
        <p:nvSpPr>
          <p:cNvPr id="12" name="Rectangle 11">
            <a:extLst>
              <a:ext uri="{FF2B5EF4-FFF2-40B4-BE49-F238E27FC236}">
                <a16:creationId xmlns:a16="http://schemas.microsoft.com/office/drawing/2014/main" id="{723A1E2C-F9E9-476C-A5F4-4A59EF6C5BFF}"/>
              </a:ext>
            </a:extLst>
          </p:cNvPr>
          <p:cNvSpPr/>
          <p:nvPr userDrawn="1"/>
        </p:nvSpPr>
        <p:spPr>
          <a:xfrm>
            <a:off x="0" y="-335280"/>
            <a:ext cx="12192000" cy="7193280"/>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cxnSp>
        <p:nvCxnSpPr>
          <p:cNvPr id="13" name="Straight Connector 12">
            <a:extLst>
              <a:ext uri="{FF2B5EF4-FFF2-40B4-BE49-F238E27FC236}">
                <a16:creationId xmlns:a16="http://schemas.microsoft.com/office/drawing/2014/main" id="{DF098539-A9C5-4E0A-946B-5498FE4AB03F}"/>
              </a:ext>
            </a:extLst>
          </p:cNvPr>
          <p:cNvCxnSpPr/>
          <p:nvPr userDrawn="1"/>
        </p:nvCxnSpPr>
        <p:spPr>
          <a:xfrm>
            <a:off x="3345180" y="2707281"/>
            <a:ext cx="0" cy="2283821"/>
          </a:xfrm>
          <a:prstGeom prst="line">
            <a:avLst/>
          </a:prstGeom>
          <a:ln w="34925"/>
        </p:spPr>
        <p:style>
          <a:lnRef idx="3">
            <a:schemeClr val="dk1"/>
          </a:lnRef>
          <a:fillRef idx="0">
            <a:schemeClr val="dk1"/>
          </a:fillRef>
          <a:effectRef idx="2">
            <a:schemeClr val="dk1"/>
          </a:effectRef>
          <a:fontRef idx="minor">
            <a:schemeClr val="tx1"/>
          </a:fontRef>
        </p:style>
      </p:cxnSp>
      <p:pic>
        <p:nvPicPr>
          <p:cNvPr id="14" name="Picture 13">
            <a:extLst>
              <a:ext uri="{FF2B5EF4-FFF2-40B4-BE49-F238E27FC236}">
                <a16:creationId xmlns:a16="http://schemas.microsoft.com/office/drawing/2014/main" id="{B9FF7B53-CEDA-4C55-9457-6E244D4B49BB}"/>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451862" y="2544174"/>
            <a:ext cx="4801940" cy="1533432"/>
          </a:xfrm>
          <a:prstGeom prst="rect">
            <a:avLst/>
          </a:prstGeom>
        </p:spPr>
      </p:pic>
    </p:spTree>
    <p:extLst>
      <p:ext uri="{BB962C8B-B14F-4D97-AF65-F5344CB8AC3E}">
        <p14:creationId xmlns:p14="http://schemas.microsoft.com/office/powerpoint/2010/main" val="51432786"/>
      </p:ext>
    </p:extLst>
  </p:cSld>
  <p:clrMap bg1="lt1" tx1="dk1" bg2="lt2" tx2="dk2" accent1="accent1" accent2="accent2" accent3="accent3" accent4="accent4" accent5="accent5" accent6="accent6" hlink="hlink" folHlink="folHlink"/>
  <p:sldLayoutIdLst>
    <p:sldLayoutId id="2147483686" r:id="rId1"/>
    <p:sldLayoutId id="2147483687" r:id="rId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a:p>
        </p:txBody>
      </p:sp>
      <p:sp>
        <p:nvSpPr>
          <p:cNvPr id="7" name="Rectangle 6"/>
          <p:cNvSpPr/>
          <p:nvPr/>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pic>
        <p:nvPicPr>
          <p:cNvPr id="8" name="Picture 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3787487800"/>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Ls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096000"/>
            <a:ext cx="12192000" cy="771800"/>
          </a:xfrm>
          <a:prstGeom prst="rect">
            <a:avLst/>
          </a:prstGeom>
          <a:solidFill>
            <a:srgbClr val="000000"/>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pPr/>
              <a:t>‹#›</a:t>
            </a:fld>
            <a:endParaRPr lang="en-US"/>
          </a:p>
        </p:txBody>
      </p:sp>
      <p:sp>
        <p:nvSpPr>
          <p:cNvPr id="7" name="Rectangle 6"/>
          <p:cNvSpPr/>
          <p:nvPr userDrawn="1"/>
        </p:nvSpPr>
        <p:spPr>
          <a:xfrm>
            <a:off x="0" y="6140361"/>
            <a:ext cx="12192000" cy="705028"/>
          </a:xfrm>
          <a:prstGeom prst="rect">
            <a:avLst/>
          </a:prstGeom>
          <a:solidFill>
            <a:srgbClr val="B6114D"/>
          </a:solidFill>
          <a:ln w="76200">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sz="1800"/>
          </a:p>
        </p:txBody>
      </p:sp>
      <p:pic>
        <p:nvPicPr>
          <p:cNvPr id="8" name="Picture 7"/>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9890762" y="6165912"/>
            <a:ext cx="1935479" cy="618068"/>
          </a:xfrm>
          <a:prstGeom prst="rect">
            <a:avLst/>
          </a:prstGeom>
        </p:spPr>
      </p:pic>
    </p:spTree>
    <p:extLst>
      <p:ext uri="{BB962C8B-B14F-4D97-AF65-F5344CB8AC3E}">
        <p14:creationId xmlns:p14="http://schemas.microsoft.com/office/powerpoint/2010/main" val="169695910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Lst>
  <mc:AlternateContent xmlns:mc="http://schemas.openxmlformats.org/markup-compatibility/2006" xmlns:p15="http://schemas.microsoft.com/office/powerpoint/2012/main">
    <mc:Choice Requires="p15">
      <p:transition xmlns:p14="http://schemas.microsoft.com/office/powerpoint/2010/main" spd="slow" p14:dur="10000">
        <p15:prstTrans prst="pageCurlDouble"/>
      </p:transition>
    </mc:Choice>
    <mc:Fallback xmlns="">
      <p:transition spd="slow">
        <p:fade/>
      </p:transition>
    </mc:Fallback>
  </mc:AlternateContent>
  <p:hf sldNum="0" hdr="0" ftr="0" dt="0"/>
  <p:txStyles>
    <p:titleStyle>
      <a:lvl1pPr algn="l" defTabSz="914377" rtl="0" eaLnBrk="1" latinLnBrk="0" hangingPunct="1">
        <a:lnSpc>
          <a:spcPct val="90000"/>
        </a:lnSpc>
        <a:spcBef>
          <a:spcPct val="0"/>
        </a:spcBef>
        <a:buNone/>
        <a:defRPr sz="4400" kern="1200">
          <a:solidFill>
            <a:schemeClr val="tx1"/>
          </a:solidFill>
          <a:latin typeface="Futura"/>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Avenir Next LT Pro"/>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Avenir Next LT Pro"/>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Avenir Next LT Pro"/>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Avenir Next LT Pro"/>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voatz.com/" TargetMode="External"/><Relationship Id="rId2" Type="http://schemas.openxmlformats.org/officeDocument/2006/relationships/hyperlink" Target="https://followmyvote.com/" TargetMode="External"/><Relationship Id="rId1" Type="http://schemas.openxmlformats.org/officeDocument/2006/relationships/slideLayout" Target="../slideLayouts/slideLayout3.xml"/><Relationship Id="rId5" Type="http://schemas.openxmlformats.org/officeDocument/2006/relationships/hyperlink" Target="https://www.polyas.com/" TargetMode="External"/><Relationship Id="rId4" Type="http://schemas.openxmlformats.org/officeDocument/2006/relationships/hyperlink" Target="https://www.netservice.eu/en/products-and-solutions/b-voting"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ntt-review.jp/archive/ntttechnical.php?contents=ntr201912fa3.html" TargetMode="External"/><Relationship Id="rId2" Type="http://schemas.openxmlformats.org/officeDocument/2006/relationships/hyperlink" Target="https://www.ntnu.edu/iik/nacl-lab" TargetMode="External"/><Relationship Id="rId1" Type="http://schemas.openxmlformats.org/officeDocument/2006/relationships/slideLayout" Target="../slideLayouts/slideLayout3.xml"/><Relationship Id="rId4" Type="http://schemas.openxmlformats.org/officeDocument/2006/relationships/hyperlink" Target="https://www.amrita.edu/center/e-learning-research-la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hyperlink" Target="https://www.kaggle.com/datasets/ardodev/blockchain-voting-transactions-jurnal"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A6FE1-BE3A-E444-EF9B-B6330AA8D529}"/>
              </a:ext>
            </a:extLst>
          </p:cNvPr>
          <p:cNvSpPr>
            <a:spLocks noGrp="1"/>
          </p:cNvSpPr>
          <p:nvPr>
            <p:ph type="ctrTitle"/>
          </p:nvPr>
        </p:nvSpPr>
        <p:spPr>
          <a:xfrm>
            <a:off x="71021" y="272143"/>
            <a:ext cx="11974022" cy="859971"/>
          </a:xfrm>
        </p:spPr>
        <p:txBody>
          <a:bodyPr vert="horz" lIns="91440" tIns="45720" rIns="91440" bIns="45720" rtlCol="0" anchor="b">
            <a:noAutofit/>
          </a:bodyPr>
          <a:lstStyle/>
          <a:p>
            <a:pPr>
              <a:lnSpc>
                <a:spcPct val="150000"/>
              </a:lnSpc>
            </a:pPr>
            <a:r>
              <a:rPr lang="en-US" sz="3600" b="1" dirty="0" err="1">
                <a:solidFill>
                  <a:schemeClr val="accent6">
                    <a:lumMod val="50000"/>
                  </a:schemeClr>
                </a:solidFill>
                <a:latin typeface="Times New Roman"/>
                <a:ea typeface="Calibri"/>
                <a:cs typeface="Times New Roman"/>
              </a:rPr>
              <a:t>Blockchain</a:t>
            </a:r>
            <a:r>
              <a:rPr lang="en-US" sz="3600" b="1" dirty="0">
                <a:solidFill>
                  <a:schemeClr val="accent6">
                    <a:lumMod val="50000"/>
                  </a:schemeClr>
                </a:solidFill>
                <a:latin typeface="Times New Roman"/>
                <a:ea typeface="Calibri"/>
                <a:cs typeface="Times New Roman"/>
              </a:rPr>
              <a:t> Based E-Voting for </a:t>
            </a:r>
            <a:r>
              <a:rPr lang="en-US" sz="3600" b="1" dirty="0" err="1">
                <a:solidFill>
                  <a:schemeClr val="accent6">
                    <a:lumMod val="50000"/>
                  </a:schemeClr>
                </a:solidFill>
                <a:latin typeface="Times New Roman"/>
                <a:ea typeface="Calibri"/>
                <a:cs typeface="Times New Roman"/>
              </a:rPr>
              <a:t>Electrol</a:t>
            </a:r>
            <a:r>
              <a:rPr lang="en-US" sz="3600" b="1" dirty="0">
                <a:solidFill>
                  <a:schemeClr val="accent6">
                    <a:lumMod val="50000"/>
                  </a:schemeClr>
                </a:solidFill>
                <a:latin typeface="Times New Roman"/>
                <a:ea typeface="Calibri"/>
                <a:cs typeface="Times New Roman"/>
              </a:rPr>
              <a:t> Integrity</a:t>
            </a:r>
            <a:endParaRPr lang="en-US" dirty="0">
              <a:solidFill>
                <a:schemeClr val="accent6">
                  <a:lumMod val="50000"/>
                </a:schemeClr>
              </a:solidFill>
            </a:endParaRPr>
          </a:p>
        </p:txBody>
      </p:sp>
      <p:sp>
        <p:nvSpPr>
          <p:cNvPr id="6" name="TextBox 5">
            <a:extLst>
              <a:ext uri="{FF2B5EF4-FFF2-40B4-BE49-F238E27FC236}">
                <a16:creationId xmlns:a16="http://schemas.microsoft.com/office/drawing/2014/main" id="{A0ADCBB5-97EA-9306-294F-89D24E4A151A}"/>
              </a:ext>
            </a:extLst>
          </p:cNvPr>
          <p:cNvSpPr txBox="1"/>
          <p:nvPr/>
        </p:nvSpPr>
        <p:spPr>
          <a:xfrm>
            <a:off x="1314451" y="1261418"/>
            <a:ext cx="7743824" cy="2308324"/>
          </a:xfrm>
          <a:prstGeom prst="rect">
            <a:avLst/>
          </a:prstGeom>
          <a:noFill/>
        </p:spPr>
        <p:txBody>
          <a:bodyPr wrap="square" lIns="91440" tIns="45720" rIns="91440" bIns="45720" anchor="t">
            <a:spAutoFit/>
          </a:bodyPr>
          <a:lstStyle/>
          <a:p>
            <a:pPr algn="just">
              <a:lnSpc>
                <a:spcPct val="150000"/>
              </a:lnSpc>
              <a:defRPr/>
            </a:pPr>
            <a:r>
              <a:rPr lang="en-US" sz="2400" b="1" dirty="0">
                <a:solidFill>
                  <a:srgbClr val="B6114D"/>
                </a:solidFill>
                <a:latin typeface="Times New Roman"/>
                <a:cs typeface="Times New Roman"/>
              </a:rPr>
              <a:t>Name : </a:t>
            </a:r>
            <a:r>
              <a:rPr lang="en-US" sz="2400" b="1" dirty="0" err="1">
                <a:solidFill>
                  <a:srgbClr val="B6114D"/>
                </a:solidFill>
                <a:latin typeface="Times New Roman"/>
                <a:cs typeface="Times New Roman"/>
              </a:rPr>
              <a:t>Kanchi</a:t>
            </a:r>
            <a:r>
              <a:rPr lang="en-US" sz="2400" b="1" dirty="0">
                <a:solidFill>
                  <a:srgbClr val="B6114D"/>
                </a:solidFill>
                <a:latin typeface="Times New Roman"/>
                <a:cs typeface="Times New Roman"/>
              </a:rPr>
              <a:t> </a:t>
            </a:r>
            <a:r>
              <a:rPr lang="en-US" sz="2400" b="1" dirty="0" err="1">
                <a:solidFill>
                  <a:srgbClr val="B6114D"/>
                </a:solidFill>
                <a:latin typeface="Times New Roman"/>
                <a:cs typeface="Times New Roman"/>
              </a:rPr>
              <a:t>Karthik</a:t>
            </a:r>
            <a:r>
              <a:rPr lang="en-US" sz="2400" b="1" dirty="0">
                <a:solidFill>
                  <a:srgbClr val="B6114D"/>
                </a:solidFill>
                <a:latin typeface="Times New Roman"/>
                <a:cs typeface="Times New Roman"/>
              </a:rPr>
              <a:t> , </a:t>
            </a:r>
            <a:r>
              <a:rPr lang="en-US" sz="2400" b="1" dirty="0" err="1">
                <a:solidFill>
                  <a:srgbClr val="B6114D"/>
                </a:solidFill>
                <a:latin typeface="Times New Roman"/>
                <a:cs typeface="Times New Roman"/>
              </a:rPr>
              <a:t>Shanmugapriyan</a:t>
            </a:r>
            <a:r>
              <a:rPr lang="en-US" sz="2400" b="1" dirty="0">
                <a:solidFill>
                  <a:srgbClr val="B6114D"/>
                </a:solidFill>
                <a:latin typeface="Times New Roman"/>
                <a:cs typeface="Times New Roman"/>
              </a:rPr>
              <a:t> S</a:t>
            </a:r>
          </a:p>
          <a:p>
            <a:pPr algn="just">
              <a:lnSpc>
                <a:spcPct val="150000"/>
              </a:lnSpc>
              <a:defRPr/>
            </a:pPr>
            <a:r>
              <a:rPr lang="en-US" sz="2400" b="1" dirty="0">
                <a:solidFill>
                  <a:srgbClr val="B6114D"/>
                </a:solidFill>
                <a:latin typeface="Times New Roman"/>
                <a:cs typeface="Times New Roman"/>
              </a:rPr>
              <a:t>Roll no.  : CB.SC.P2CSE25016, CB.SC.P2CSE25040</a:t>
            </a:r>
            <a:endParaRPr lang="en-US" sz="2400" b="1" u="none" strike="noStrike" kern="1200" cap="none" spc="0" normalizeH="0" baseline="0" noProof="0" dirty="0">
              <a:ln>
                <a:noFill/>
              </a:ln>
              <a:solidFill>
                <a:srgbClr val="B6114D"/>
              </a:solidFill>
              <a:effectLst/>
              <a:uLnTx/>
              <a:uFillTx/>
              <a:latin typeface="Times New Roman" panose="02020603050405020304" pitchFamily="18" charset="0"/>
              <a:cs typeface="Times New Roman" panose="02020603050405020304" pitchFamily="18" charset="0"/>
            </a:endParaRPr>
          </a:p>
          <a:p>
            <a:pPr>
              <a:lnSpc>
                <a:spcPct val="150000"/>
              </a:lnSpc>
              <a:defRPr/>
            </a:pPr>
            <a:r>
              <a:rPr lang="en-US" sz="2400" b="1" dirty="0" err="1">
                <a:solidFill>
                  <a:srgbClr val="B6114D"/>
                </a:solidFill>
                <a:latin typeface="Times New Roman"/>
                <a:cs typeface="Times New Roman"/>
              </a:rPr>
              <a:t>Github</a:t>
            </a:r>
            <a:r>
              <a:rPr kumimoji="0" lang="en-US" sz="2400" b="1" u="none" strike="noStrike" kern="1200" cap="none" spc="0" normalizeH="0" baseline="0" noProof="0" dirty="0">
                <a:ln>
                  <a:noFill/>
                </a:ln>
                <a:solidFill>
                  <a:srgbClr val="B6114D"/>
                </a:solidFill>
                <a:effectLst/>
                <a:uLnTx/>
                <a:uFillTx/>
                <a:latin typeface="Times New Roman"/>
                <a:cs typeface="Times New Roman"/>
              </a:rPr>
              <a:t> URL: </a:t>
            </a:r>
            <a:r>
              <a:rPr lang="en-US" sz="2400" b="1" dirty="0">
                <a:solidFill>
                  <a:srgbClr val="B6114D"/>
                </a:solidFill>
                <a:latin typeface="Times New Roman"/>
                <a:cs typeface="Times New Roman"/>
              </a:rPr>
              <a:t>https://github.com/Kanchi-karthik/Blockchain-Based_e-voting_electrol_integrity</a:t>
            </a:r>
            <a:endParaRPr lang="en-US" sz="2400" b="1" dirty="0">
              <a:solidFill>
                <a:srgbClr val="B6114D"/>
              </a:solidFill>
              <a:latin typeface="Times New Roman"/>
              <a:ea typeface="+mn-lt"/>
              <a:cs typeface="Times New Roman"/>
            </a:endParaRPr>
          </a:p>
        </p:txBody>
      </p:sp>
      <p:sp>
        <p:nvSpPr>
          <p:cNvPr id="7" name="TextBox 6">
            <a:extLst>
              <a:ext uri="{FF2B5EF4-FFF2-40B4-BE49-F238E27FC236}">
                <a16:creationId xmlns:a16="http://schemas.microsoft.com/office/drawing/2014/main" id="{BFD5E892-66C9-8D76-B741-FD054205D0DD}"/>
              </a:ext>
            </a:extLst>
          </p:cNvPr>
          <p:cNvSpPr txBox="1"/>
          <p:nvPr/>
        </p:nvSpPr>
        <p:spPr>
          <a:xfrm>
            <a:off x="1857375" y="3600450"/>
            <a:ext cx="8530724" cy="2246769"/>
          </a:xfrm>
          <a:prstGeom prst="rect">
            <a:avLst/>
          </a:prstGeom>
          <a:noFill/>
        </p:spPr>
        <p:txBody>
          <a:bodyPr wrap="square" lIns="91440" tIns="45720" rIns="91440" bIns="45720" anchor="t">
            <a:spAutoFit/>
          </a:bodyPr>
          <a:lstStyle/>
          <a:p>
            <a:pPr marL="0" marR="0" lvl="0" indent="0" algn="ctr" defTabSz="914400">
              <a:lnSpc>
                <a:spcPct val="100000"/>
              </a:lnSpc>
              <a:spcBef>
                <a:spcPts val="0"/>
              </a:spcBef>
              <a:spcAft>
                <a:spcPts val="0"/>
              </a:spcAft>
              <a:buClrTx/>
              <a:buSzTx/>
              <a:buFontTx/>
              <a:buNone/>
              <a:tabLst/>
              <a:defRPr/>
            </a:pPr>
            <a:r>
              <a:rPr lang="en-IN" sz="2000" b="1" dirty="0">
                <a:solidFill>
                  <a:srgbClr val="086072"/>
                </a:solidFill>
                <a:latin typeface="Times New Roman"/>
                <a:cs typeface="Times New Roman"/>
              </a:rPr>
              <a:t>Review - 2</a:t>
            </a:r>
            <a:endParaRPr kumimoji="0" lang="en-IN" sz="2000" b="1" strike="noStrike" kern="1200" cap="none" spc="0" normalizeH="0" baseline="0" noProof="0" dirty="0">
              <a:ln>
                <a:noFill/>
              </a:ln>
              <a:solidFill>
                <a:srgbClr val="086072"/>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strike="noStrike" kern="1200" cap="none" spc="0" normalizeH="0" baseline="0" noProof="0" dirty="0">
                <a:ln>
                  <a:noFill/>
                </a:ln>
                <a:solidFill>
                  <a:srgbClr val="086072"/>
                </a:solidFill>
                <a:effectLst/>
                <a:uLnTx/>
                <a:uFillTx/>
                <a:latin typeface="Times New Roman"/>
                <a:cs typeface="Times New Roman"/>
              </a:rPr>
              <a:t>Advisor / Course Instructor details</a:t>
            </a:r>
          </a:p>
          <a:p>
            <a:pPr lvl="0" algn="ctr">
              <a:defRPr/>
            </a:pPr>
            <a:r>
              <a:rPr lang="en-US" sz="2000" dirty="0"/>
              <a:t>Dr. </a:t>
            </a:r>
            <a:r>
              <a:rPr lang="en-US" sz="2000" dirty="0" err="1"/>
              <a:t>Senthilkumar</a:t>
            </a:r>
            <a:r>
              <a:rPr lang="en-US" sz="2000" dirty="0"/>
              <a:t> T </a:t>
            </a:r>
            <a:br>
              <a:rPr lang="en-US" sz="2000" dirty="0"/>
            </a:br>
            <a:r>
              <a:rPr lang="en-US" sz="2000" i="1" dirty="0"/>
              <a:t>School of Computing</a:t>
            </a:r>
            <a:r>
              <a:rPr lang="en-US" sz="2000" dirty="0"/>
              <a:t> </a:t>
            </a:r>
            <a:br>
              <a:rPr lang="en-US" sz="2000" dirty="0"/>
            </a:br>
            <a:r>
              <a:rPr lang="en-US" sz="2000" i="1" dirty="0"/>
              <a:t>Amrita </a:t>
            </a:r>
            <a:r>
              <a:rPr lang="en-US" sz="2000" i="1" dirty="0" err="1"/>
              <a:t>Vishwa</a:t>
            </a:r>
            <a:r>
              <a:rPr lang="en-US" sz="2000" i="1" dirty="0"/>
              <a:t> </a:t>
            </a:r>
            <a:r>
              <a:rPr lang="en-US" sz="2000" i="1" dirty="0" err="1"/>
              <a:t>Vidyapeetham</a:t>
            </a:r>
            <a:r>
              <a:rPr lang="en-US" sz="2000" dirty="0"/>
              <a:t> </a:t>
            </a:r>
            <a:br>
              <a:rPr lang="en-US" sz="2000" dirty="0"/>
            </a:br>
            <a:r>
              <a:rPr lang="en-US" sz="2000" dirty="0"/>
              <a:t>Coimbatore, India. </a:t>
            </a:r>
            <a:br>
              <a:rPr lang="en-US" sz="2000" dirty="0"/>
            </a:br>
            <a:r>
              <a:rPr lang="en-US" sz="2000" dirty="0"/>
              <a:t>t_senthilkumar@cb.amrita.edu </a:t>
            </a:r>
            <a:endParaRPr kumimoji="0" lang="en-US" b="1" strike="noStrike" kern="1200" cap="none" spc="0" normalizeH="0" baseline="0" noProof="0" dirty="0">
              <a:ln>
                <a:noFill/>
              </a:ln>
              <a:solidFill>
                <a:srgbClr val="B6114D"/>
              </a:solidFill>
              <a:effectLst/>
              <a:uLnTx/>
              <a:uFillTx/>
              <a:latin typeface="Times New Roman" panose="02020603050405020304" pitchFamily="18" charset="0"/>
              <a:ea typeface="+mn-ea"/>
              <a:cs typeface="Times New Roman" panose="02020603050405020304" pitchFamily="18" charset="0"/>
            </a:endParaRPr>
          </a:p>
        </p:txBody>
      </p:sp>
      <p:pic>
        <p:nvPicPr>
          <p:cNvPr id="5" name="Picture 4" descr="Karthik.jpg"/>
          <p:cNvPicPr>
            <a:picLocks noChangeAspect="1"/>
          </p:cNvPicPr>
          <p:nvPr/>
        </p:nvPicPr>
        <p:blipFill>
          <a:blip r:embed="rId3" cstate="print"/>
          <a:stretch>
            <a:fillRect/>
          </a:stretch>
        </p:blipFill>
        <p:spPr>
          <a:xfrm>
            <a:off x="8697487" y="1456592"/>
            <a:ext cx="1184508" cy="1674622"/>
          </a:xfrm>
          <a:prstGeom prst="rect">
            <a:avLst/>
          </a:prstGeom>
        </p:spPr>
      </p:pic>
      <p:pic>
        <p:nvPicPr>
          <p:cNvPr id="8" name="Picture 7" descr="Karthik.jpg"/>
          <p:cNvPicPr>
            <a:picLocks noChangeAspect="1"/>
          </p:cNvPicPr>
          <p:nvPr/>
        </p:nvPicPr>
        <p:blipFill>
          <a:blip r:embed="rId4" cstate="print"/>
          <a:stretch>
            <a:fillRect/>
          </a:stretch>
        </p:blipFill>
        <p:spPr>
          <a:xfrm>
            <a:off x="10069087" y="1457325"/>
            <a:ext cx="1237542" cy="1660407"/>
          </a:xfrm>
          <a:prstGeom prst="rect">
            <a:avLst/>
          </a:prstGeom>
        </p:spPr>
      </p:pic>
    </p:spTree>
    <p:extLst>
      <p:ext uri="{BB962C8B-B14F-4D97-AF65-F5344CB8AC3E}">
        <p14:creationId xmlns:p14="http://schemas.microsoft.com/office/powerpoint/2010/main" val="40011349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431A-28AB-DCF1-9F25-58808FC916A9}"/>
              </a:ext>
            </a:extLst>
          </p:cNvPr>
          <p:cNvSpPr>
            <a:spLocks noGrp="1"/>
          </p:cNvSpPr>
          <p:nvPr>
            <p:ph type="title"/>
          </p:nvPr>
        </p:nvSpPr>
        <p:spPr>
          <a:xfrm>
            <a:off x="595661" y="182564"/>
            <a:ext cx="10515600" cy="456628"/>
          </a:xfrm>
        </p:spPr>
        <p:txBody>
          <a:bodyPr>
            <a:noAutofit/>
          </a:bodyPr>
          <a:lstStyle/>
          <a:p>
            <a:r>
              <a:rPr lang="en-IN" sz="3200" b="1" i="1">
                <a:solidFill>
                  <a:srgbClr val="C00000"/>
                </a:solidFill>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F28071CB-6A6B-63B9-9B7E-59DAC86A4632}"/>
              </a:ext>
            </a:extLst>
          </p:cNvPr>
          <p:cNvSpPr>
            <a:spLocks noGrp="1"/>
          </p:cNvSpPr>
          <p:nvPr>
            <p:ph idx="1"/>
          </p:nvPr>
        </p:nvSpPr>
        <p:spPr>
          <a:xfrm>
            <a:off x="544285" y="799838"/>
            <a:ext cx="10881275" cy="5296162"/>
          </a:xfrm>
        </p:spPr>
        <p:txBody>
          <a:bodyPr>
            <a:noAutofit/>
          </a:bodyPr>
          <a:lstStyle/>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Introduction</a:t>
            </a:r>
          </a:p>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Literature survey</a:t>
            </a:r>
          </a:p>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Challenges</a:t>
            </a:r>
          </a:p>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Dataset description</a:t>
            </a:r>
          </a:p>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Methodology</a:t>
            </a:r>
          </a:p>
          <a:p>
            <a:pPr marL="857239" lvl="1" indent="-400050" algn="just">
              <a:lnSpc>
                <a:spcPct val="150000"/>
              </a:lnSpc>
              <a:buFont typeface="+mj-lt"/>
              <a:buAutoNum type="romanLcPeriod"/>
            </a:pPr>
            <a:r>
              <a:rPr lang="en-IN" sz="1400" b="1">
                <a:solidFill>
                  <a:srgbClr val="38507C"/>
                </a:solidFill>
                <a:latin typeface="Times New Roman" panose="02020603050405020304" pitchFamily="18" charset="0"/>
                <a:cs typeface="Times New Roman" panose="02020603050405020304" pitchFamily="18" charset="0"/>
              </a:rPr>
              <a:t>Data analysis</a:t>
            </a:r>
          </a:p>
          <a:p>
            <a:pPr marL="857239" lvl="1" indent="-400050" algn="just">
              <a:lnSpc>
                <a:spcPct val="150000"/>
              </a:lnSpc>
              <a:buFont typeface="+mj-lt"/>
              <a:buAutoNum type="romanLcPeriod"/>
            </a:pPr>
            <a:r>
              <a:rPr lang="en-IN" sz="1400" b="1">
                <a:solidFill>
                  <a:srgbClr val="38507C"/>
                </a:solidFill>
                <a:latin typeface="Times New Roman" panose="02020603050405020304" pitchFamily="18" charset="0"/>
                <a:cs typeface="Times New Roman" panose="02020603050405020304" pitchFamily="18" charset="0"/>
              </a:rPr>
              <a:t>ML model</a:t>
            </a:r>
          </a:p>
          <a:p>
            <a:pPr marL="857239" lvl="1" indent="-400050" algn="just">
              <a:lnSpc>
                <a:spcPct val="150000"/>
              </a:lnSpc>
              <a:buFont typeface="+mj-lt"/>
              <a:buAutoNum type="romanLcPeriod"/>
            </a:pPr>
            <a:r>
              <a:rPr lang="en-IN" sz="1400" b="1">
                <a:solidFill>
                  <a:srgbClr val="38507C"/>
                </a:solidFill>
                <a:latin typeface="Times New Roman" panose="02020603050405020304" pitchFamily="18" charset="0"/>
                <a:cs typeface="Times New Roman" panose="02020603050405020304" pitchFamily="18" charset="0"/>
              </a:rPr>
              <a:t>DL model</a:t>
            </a:r>
          </a:p>
          <a:p>
            <a:pPr marL="857239" lvl="1" indent="-400050" algn="just">
              <a:lnSpc>
                <a:spcPct val="150000"/>
              </a:lnSpc>
              <a:buFont typeface="+mj-lt"/>
              <a:buAutoNum type="romanLcPeriod"/>
            </a:pPr>
            <a:r>
              <a:rPr lang="en-IN" sz="1400" b="1">
                <a:solidFill>
                  <a:srgbClr val="38507C"/>
                </a:solidFill>
                <a:latin typeface="Times New Roman" panose="02020603050405020304" pitchFamily="18" charset="0"/>
                <a:cs typeface="Times New Roman" panose="02020603050405020304" pitchFamily="18" charset="0"/>
              </a:rPr>
              <a:t>Explainable AI</a:t>
            </a:r>
          </a:p>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Conclusion </a:t>
            </a:r>
          </a:p>
          <a:p>
            <a:pPr algn="just">
              <a:lnSpc>
                <a:spcPct val="150000"/>
              </a:lnSpc>
              <a:buFont typeface="Wingdings" panose="05000000000000000000" pitchFamily="2" charset="2"/>
              <a:buChar char="ü"/>
            </a:pPr>
            <a:r>
              <a:rPr lang="en-IN" sz="1800" b="1">
                <a:solidFill>
                  <a:srgbClr val="38507C"/>
                </a:solidFill>
                <a:latin typeface="Times New Roman" panose="02020603050405020304" pitchFamily="18" charset="0"/>
                <a:cs typeface="Times New Roman" panose="02020603050405020304" pitchFamily="18" charset="0"/>
              </a:rPr>
              <a:t>Future Enhancement</a:t>
            </a:r>
          </a:p>
        </p:txBody>
      </p:sp>
    </p:spTree>
    <p:extLst>
      <p:ext uri="{BB962C8B-B14F-4D97-AF65-F5344CB8AC3E}">
        <p14:creationId xmlns:p14="http://schemas.microsoft.com/office/powerpoint/2010/main" val="1563946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7A2DE-D677-FE01-C0E4-F0BB6B6592EF}"/>
              </a:ext>
            </a:extLst>
          </p:cNvPr>
          <p:cNvSpPr>
            <a:spLocks noGrp="1"/>
          </p:cNvSpPr>
          <p:nvPr>
            <p:ph type="title"/>
          </p:nvPr>
        </p:nvSpPr>
        <p:spPr>
          <a:xfrm>
            <a:off x="838200" y="365127"/>
            <a:ext cx="10515600" cy="625473"/>
          </a:xfrm>
        </p:spPr>
        <p:txBody>
          <a:bodyPr>
            <a:normAutofit fontScale="90000"/>
          </a:bodyPr>
          <a:lstStyle/>
          <a:p>
            <a:r>
              <a:rPr lang="en-US" b="1">
                <a:solidFill>
                  <a:srgbClr val="CC0066"/>
                </a:solidFill>
                <a:latin typeface="Times New Roman" panose="02020603050405020304" pitchFamily="18" charset="0"/>
                <a:cs typeface="Times New Roman" panose="02020603050405020304" pitchFamily="18" charset="0"/>
              </a:rPr>
              <a:t>Contributions</a:t>
            </a:r>
          </a:p>
        </p:txBody>
      </p:sp>
      <p:graphicFrame>
        <p:nvGraphicFramePr>
          <p:cNvPr id="5" name="Content Placeholder 4">
            <a:extLst>
              <a:ext uri="{FF2B5EF4-FFF2-40B4-BE49-F238E27FC236}">
                <a16:creationId xmlns:a16="http://schemas.microsoft.com/office/drawing/2014/main" id="{EDFCC67A-6EAA-A882-EC2C-332FA3F3C051}"/>
              </a:ext>
            </a:extLst>
          </p:cNvPr>
          <p:cNvGraphicFramePr>
            <a:graphicFrameLocks noGrp="1"/>
          </p:cNvGraphicFramePr>
          <p:nvPr>
            <p:ph idx="1"/>
            <p:extLst>
              <p:ext uri="{D42A27DB-BD31-4B8C-83A1-F6EECF244321}">
                <p14:modId xmlns:p14="http://schemas.microsoft.com/office/powerpoint/2010/main" val="1720228663"/>
              </p:ext>
            </p:extLst>
          </p:nvPr>
        </p:nvGraphicFramePr>
        <p:xfrm>
          <a:off x="838200" y="1460954"/>
          <a:ext cx="10533184" cy="3252188"/>
        </p:xfrm>
        <a:graphic>
          <a:graphicData uri="http://schemas.openxmlformats.org/drawingml/2006/table">
            <a:tbl>
              <a:tblPr firstRow="1" bandRow="1">
                <a:tableStyleId>{5C22544A-7EE6-4342-B048-85BDC9FD1C3A}</a:tableStyleId>
              </a:tblPr>
              <a:tblGrid>
                <a:gridCol w="2633296">
                  <a:extLst>
                    <a:ext uri="{9D8B030D-6E8A-4147-A177-3AD203B41FA5}">
                      <a16:colId xmlns:a16="http://schemas.microsoft.com/office/drawing/2014/main" val="4118981284"/>
                    </a:ext>
                  </a:extLst>
                </a:gridCol>
                <a:gridCol w="2436935">
                  <a:extLst>
                    <a:ext uri="{9D8B030D-6E8A-4147-A177-3AD203B41FA5}">
                      <a16:colId xmlns:a16="http://schemas.microsoft.com/office/drawing/2014/main" val="3362724327"/>
                    </a:ext>
                  </a:extLst>
                </a:gridCol>
                <a:gridCol w="2672861">
                  <a:extLst>
                    <a:ext uri="{9D8B030D-6E8A-4147-A177-3AD203B41FA5}">
                      <a16:colId xmlns:a16="http://schemas.microsoft.com/office/drawing/2014/main" val="3714134445"/>
                    </a:ext>
                  </a:extLst>
                </a:gridCol>
                <a:gridCol w="2790092">
                  <a:extLst>
                    <a:ext uri="{9D8B030D-6E8A-4147-A177-3AD203B41FA5}">
                      <a16:colId xmlns:a16="http://schemas.microsoft.com/office/drawing/2014/main" val="290440193"/>
                    </a:ext>
                  </a:extLst>
                </a:gridCol>
              </a:tblGrid>
              <a:tr h="836769">
                <a:tc>
                  <a:txBody>
                    <a:bodyPr/>
                    <a:lstStyle/>
                    <a:p>
                      <a:pPr algn="ctr"/>
                      <a:r>
                        <a:rPr lang="en-US" sz="2000" dirty="0" err="1">
                          <a:latin typeface="Times New Roman"/>
                          <a:cs typeface="Times New Roman"/>
                        </a:rPr>
                        <a:t>Roll.No</a:t>
                      </a:r>
                      <a:endParaRPr lang="en-US" sz="2000" dirty="0">
                        <a:latin typeface="Times New Roman"/>
                        <a:cs typeface="Times New Roman"/>
                      </a:endParaRPr>
                    </a:p>
                  </a:txBody>
                  <a:tcPr/>
                </a:tc>
                <a:tc>
                  <a:txBody>
                    <a:bodyPr/>
                    <a:lstStyle/>
                    <a:p>
                      <a:pPr algn="ctr"/>
                      <a:r>
                        <a:rPr lang="en-US" sz="2000">
                          <a:latin typeface="Times New Roman"/>
                          <a:cs typeface="Times New Roman"/>
                        </a:rPr>
                        <a:t>Name</a:t>
                      </a:r>
                    </a:p>
                  </a:txBody>
                  <a:tcPr/>
                </a:tc>
                <a:tc>
                  <a:txBody>
                    <a:bodyPr/>
                    <a:lstStyle/>
                    <a:p>
                      <a:pPr algn="ctr"/>
                      <a:r>
                        <a:rPr lang="en-US" sz="2000">
                          <a:latin typeface="Times New Roman"/>
                          <a:cs typeface="Times New Roman"/>
                        </a:rPr>
                        <a:t>Contribution</a:t>
                      </a:r>
                    </a:p>
                  </a:txBody>
                  <a:tcPr/>
                </a:tc>
                <a:tc>
                  <a:txBody>
                    <a:bodyPr/>
                    <a:lstStyle/>
                    <a:p>
                      <a:pPr algn="ctr"/>
                      <a:r>
                        <a:rPr lang="en-US" sz="2000">
                          <a:latin typeface="Times New Roman"/>
                          <a:cs typeface="Times New Roman"/>
                        </a:rPr>
                        <a:t>Uniqueness in Contribution</a:t>
                      </a:r>
                    </a:p>
                  </a:txBody>
                  <a:tcPr/>
                </a:tc>
                <a:extLst>
                  <a:ext uri="{0D108BD9-81ED-4DB2-BD59-A6C34878D82A}">
                    <a16:rowId xmlns:a16="http://schemas.microsoft.com/office/drawing/2014/main" val="427488512"/>
                  </a:ext>
                </a:extLst>
              </a:tr>
              <a:tr h="1219200">
                <a:tc>
                  <a:txBody>
                    <a:bodyPr/>
                    <a:lstStyle/>
                    <a:p>
                      <a:pPr algn="l"/>
                      <a:r>
                        <a:rPr lang="en-IN" sz="1600" dirty="0">
                          <a:latin typeface="Times New Roman"/>
                          <a:cs typeface="Times New Roman"/>
                        </a:rPr>
                        <a:t>CB.SC.P2CSE25016</a:t>
                      </a:r>
                      <a:endParaRPr lang="en-US" sz="1600" dirty="0">
                        <a:latin typeface="Times New Roman"/>
                        <a:cs typeface="Times New Roman"/>
                      </a:endParaRPr>
                    </a:p>
                  </a:txBody>
                  <a:tcPr/>
                </a:tc>
                <a:tc>
                  <a:txBody>
                    <a:bodyPr/>
                    <a:lstStyle/>
                    <a:p>
                      <a:r>
                        <a:rPr lang="en-IN" sz="1600" dirty="0">
                          <a:latin typeface="Times New Roman"/>
                          <a:cs typeface="Times New Roman"/>
                        </a:rPr>
                        <a:t>KANCHI KARTHIK</a:t>
                      </a:r>
                      <a:endParaRPr lang="en-US" sz="1600" dirty="0">
                        <a:latin typeface="Times New Roman"/>
                        <a:cs typeface="Times New Roman"/>
                      </a:endParaRP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dirty="0">
                          <a:latin typeface="Times New Roman"/>
                          <a:cs typeface="Times New Roman"/>
                        </a:rPr>
                        <a:t>Abstract, Introduction, Literature Review, Methodology, Block Diagram, References </a:t>
                      </a:r>
                    </a:p>
                  </a:txBody>
                  <a:tcPr/>
                </a:tc>
                <a:tc>
                  <a:txBody>
                    <a:bodyPr/>
                    <a:lstStyle/>
                    <a:p>
                      <a:r>
                        <a:rPr lang="en-US" sz="1600" dirty="0">
                          <a:latin typeface="Times New Roman" panose="02020603050405020304" pitchFamily="18" charset="0"/>
                          <a:cs typeface="Times New Roman" panose="02020603050405020304" pitchFamily="18" charset="0"/>
                        </a:rPr>
                        <a:t>Literature mapping + DOIs, </a:t>
                      </a:r>
                      <a:r>
                        <a:rPr lang="en-US" sz="1600" dirty="0" err="1">
                          <a:latin typeface="Times New Roman" panose="02020603050405020304" pitchFamily="18" charset="0"/>
                          <a:cs typeface="Times New Roman" panose="02020603050405020304" pitchFamily="18" charset="0"/>
                        </a:rPr>
                        <a:t>Litmaps</a:t>
                      </a:r>
                      <a:r>
                        <a:rPr lang="en-US" sz="1600" dirty="0">
                          <a:latin typeface="Times New Roman" panose="02020603050405020304" pitchFamily="18" charset="0"/>
                          <a:cs typeface="Times New Roman" panose="02020603050405020304" pitchFamily="18" charset="0"/>
                        </a:rPr>
                        <a:t> graph &amp; journal-metrics.</a:t>
                      </a:r>
                    </a:p>
                    <a:p>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3802123"/>
                  </a:ext>
                </a:extLst>
              </a:tr>
              <a:tr h="1196219">
                <a:tc>
                  <a:txBody>
                    <a:bodyPr/>
                    <a:lstStyle/>
                    <a:p>
                      <a:r>
                        <a:rPr lang="en-IN" sz="1600" dirty="0">
                          <a:latin typeface="Times New Roman" panose="02020603050405020304" pitchFamily="18" charset="0"/>
                          <a:cs typeface="Times New Roman" panose="02020603050405020304" pitchFamily="18" charset="0"/>
                        </a:rPr>
                        <a:t>CB.SC.P2CSE25040</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latin typeface="Times New Roman"/>
                          <a:ea typeface="+mn-ea"/>
                          <a:cs typeface="Times New Roman"/>
                        </a:rPr>
                        <a:t>SHANMUGAPRIYAN S</a:t>
                      </a:r>
                    </a:p>
                  </a:txBody>
                  <a:tcPr/>
                </a:tc>
                <a:tc>
                  <a:txBody>
                    <a:bodyPr/>
                    <a:lstStyle/>
                    <a:p>
                      <a:pPr marL="0" marR="0" indent="0" algn="l" defTabSz="914377"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Index Terms, Introduction, Literature Review, Methodology, Block Diagram, References </a:t>
                      </a:r>
                    </a:p>
                  </a:txBody>
                  <a:tcPr/>
                </a:tc>
                <a:tc>
                  <a:txBody>
                    <a:bodyPr/>
                    <a:lstStyle/>
                    <a:p>
                      <a:r>
                        <a:rPr lang="en-GB" sz="1600" dirty="0">
                          <a:latin typeface="Times New Roman" panose="02020603050405020304" pitchFamily="18" charset="0"/>
                          <a:cs typeface="Times New Roman" panose="02020603050405020304" pitchFamily="18" charset="0"/>
                        </a:rPr>
                        <a:t>Implemented prototype (CNN–</a:t>
                      </a:r>
                      <a:r>
                        <a:rPr lang="en-GB" sz="1600" dirty="0" err="1">
                          <a:latin typeface="Times New Roman" panose="02020603050405020304" pitchFamily="18" charset="0"/>
                          <a:cs typeface="Times New Roman" panose="02020603050405020304" pitchFamily="18" charset="0"/>
                        </a:rPr>
                        <a:t>BiLSTM</a:t>
                      </a:r>
                      <a:r>
                        <a:rPr lang="en-GB" sz="1600" dirty="0">
                          <a:latin typeface="Times New Roman" panose="02020603050405020304" pitchFamily="18" charset="0"/>
                          <a:cs typeface="Times New Roman" panose="02020603050405020304" pitchFamily="18" charset="0"/>
                        </a:rPr>
                        <a:t>), plots &amp; SHAP explanations.</a:t>
                      </a:r>
                    </a:p>
                    <a:p>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76564814"/>
                  </a:ext>
                </a:extLst>
              </a:tr>
            </a:tbl>
          </a:graphicData>
        </a:graphic>
      </p:graphicFrame>
    </p:spTree>
    <p:extLst>
      <p:ext uri="{BB962C8B-B14F-4D97-AF65-F5344CB8AC3E}">
        <p14:creationId xmlns:p14="http://schemas.microsoft.com/office/powerpoint/2010/main" val="109509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5F4B2-A1B4-3A69-7166-40FF5DF50C17}"/>
              </a:ext>
            </a:extLst>
          </p:cNvPr>
          <p:cNvSpPr>
            <a:spLocks noGrp="1"/>
          </p:cNvSpPr>
          <p:nvPr>
            <p:ph type="title"/>
          </p:nvPr>
        </p:nvSpPr>
        <p:spPr>
          <a:xfrm>
            <a:off x="571500" y="250828"/>
            <a:ext cx="10515600" cy="669016"/>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DE22E77-B818-9594-6288-535C38AC7812}"/>
              </a:ext>
            </a:extLst>
          </p:cNvPr>
          <p:cNvSpPr>
            <a:spLocks noGrp="1"/>
          </p:cNvSpPr>
          <p:nvPr>
            <p:ph idx="1"/>
          </p:nvPr>
        </p:nvSpPr>
        <p:spPr>
          <a:xfrm>
            <a:off x="680357" y="1020082"/>
            <a:ext cx="10515600" cy="4351338"/>
          </a:xfrm>
        </p:spPr>
        <p:txBody>
          <a:bodyPr>
            <a:noAutofit/>
          </a:bodyPr>
          <a:lstStyle/>
          <a:p>
            <a:r>
              <a:rPr lang="en-US" sz="2400" dirty="0"/>
              <a:t>Digital voting systems face challenges in privacy, security, and scalability.</a:t>
            </a:r>
          </a:p>
          <a:p>
            <a:r>
              <a:rPr lang="en-US" sz="2400" dirty="0"/>
              <a:t>Centralized e-voting risks manipulation and lack of transparency, undermining voter trust.</a:t>
            </a:r>
          </a:p>
          <a:p>
            <a:r>
              <a:rPr lang="en-US" sz="2400" dirty="0" err="1"/>
              <a:t>Blockchain</a:t>
            </a:r>
            <a:r>
              <a:rPr lang="en-US" sz="2400" dirty="0"/>
              <a:t> offers a decentralized and immutable ledger to enhance election integrity.</a:t>
            </a:r>
          </a:p>
          <a:p>
            <a:r>
              <a:rPr lang="en-US" sz="2400" dirty="0"/>
              <a:t>This project proposes a </a:t>
            </a:r>
            <a:r>
              <a:rPr lang="en-US" sz="2400" dirty="0" err="1"/>
              <a:t>blockchain</a:t>
            </a:r>
            <a:r>
              <a:rPr lang="en-US" sz="2400" dirty="0"/>
              <a:t>-based e-voting scheme with:</a:t>
            </a:r>
          </a:p>
          <a:p>
            <a:pPr lvl="1"/>
            <a:r>
              <a:rPr lang="en-US" dirty="0" err="1"/>
              <a:t>Homomorphic</a:t>
            </a:r>
            <a:r>
              <a:rPr lang="en-US" dirty="0"/>
              <a:t> </a:t>
            </a:r>
            <a:r>
              <a:rPr lang="en-US" dirty="0" err="1"/>
              <a:t>signcryption</a:t>
            </a:r>
            <a:r>
              <a:rPr lang="en-US" dirty="0"/>
              <a:t> and threshold decryption for secure, anonymous voting</a:t>
            </a:r>
          </a:p>
          <a:p>
            <a:pPr lvl="1"/>
            <a:r>
              <a:rPr lang="en-US" dirty="0"/>
              <a:t>Support for mixed ballot formats (approval, score)</a:t>
            </a:r>
          </a:p>
          <a:p>
            <a:pPr lvl="1"/>
            <a:r>
              <a:rPr lang="en-US" dirty="0"/>
              <a:t>Deployment and evaluation on </a:t>
            </a:r>
            <a:r>
              <a:rPr lang="en-US" dirty="0" err="1"/>
              <a:t>Hyperledger</a:t>
            </a:r>
            <a:r>
              <a:rPr lang="en-US" dirty="0"/>
              <a:t> Fabric and </a:t>
            </a:r>
            <a:r>
              <a:rPr lang="en-US" dirty="0" err="1"/>
              <a:t>Ethereum</a:t>
            </a:r>
            <a:r>
              <a:rPr lang="en-US" dirty="0"/>
              <a:t> platforms</a:t>
            </a:r>
          </a:p>
          <a:p>
            <a:r>
              <a:rPr lang="en-US" sz="2400" dirty="0"/>
              <a:t>Our goal: Enable scalable, privacy-preserving, and verifiable elections aligned with democratic values.</a:t>
            </a:r>
          </a:p>
        </p:txBody>
      </p:sp>
    </p:spTree>
    <p:extLst>
      <p:ext uri="{BB962C8B-B14F-4D97-AF65-F5344CB8AC3E}">
        <p14:creationId xmlns:p14="http://schemas.microsoft.com/office/powerpoint/2010/main" val="1437596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1B290-F578-0C08-9B62-B75576E3011A}"/>
              </a:ext>
            </a:extLst>
          </p:cNvPr>
          <p:cNvSpPr>
            <a:spLocks noGrp="1"/>
          </p:cNvSpPr>
          <p:nvPr>
            <p:ph type="title"/>
          </p:nvPr>
        </p:nvSpPr>
        <p:spPr>
          <a:xfrm>
            <a:off x="838200" y="365128"/>
            <a:ext cx="10515600" cy="745216"/>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List of Products similar to this project</a:t>
            </a:r>
            <a:endParaRPr lang="en-US" sz="3600"/>
          </a:p>
        </p:txBody>
      </p:sp>
      <p:graphicFrame>
        <p:nvGraphicFramePr>
          <p:cNvPr id="4" name="Content Placeholder 3">
            <a:extLst>
              <a:ext uri="{FF2B5EF4-FFF2-40B4-BE49-F238E27FC236}">
                <a16:creationId xmlns:a16="http://schemas.microsoft.com/office/drawing/2014/main" id="{0B6FAE57-CEEA-D779-4A35-BF318D4048F5}"/>
              </a:ext>
            </a:extLst>
          </p:cNvPr>
          <p:cNvGraphicFramePr>
            <a:graphicFrameLocks noGrp="1"/>
          </p:cNvGraphicFramePr>
          <p:nvPr>
            <p:ph idx="1"/>
            <p:extLst>
              <p:ext uri="{D42A27DB-BD31-4B8C-83A1-F6EECF244321}">
                <p14:modId xmlns:p14="http://schemas.microsoft.com/office/powerpoint/2010/main" val="1828102780"/>
              </p:ext>
            </p:extLst>
          </p:nvPr>
        </p:nvGraphicFramePr>
        <p:xfrm>
          <a:off x="351692" y="1078523"/>
          <a:ext cx="11465169" cy="4811332"/>
        </p:xfrm>
        <a:graphic>
          <a:graphicData uri="http://schemas.openxmlformats.org/drawingml/2006/table">
            <a:tbl>
              <a:tblPr firstRow="1" bandRow="1">
                <a:tableStyleId>{5C22544A-7EE6-4342-B048-85BDC9FD1C3A}</a:tableStyleId>
              </a:tblPr>
              <a:tblGrid>
                <a:gridCol w="3821723">
                  <a:extLst>
                    <a:ext uri="{9D8B030D-6E8A-4147-A177-3AD203B41FA5}">
                      <a16:colId xmlns:a16="http://schemas.microsoft.com/office/drawing/2014/main" val="115765364"/>
                    </a:ext>
                  </a:extLst>
                </a:gridCol>
                <a:gridCol w="3821723">
                  <a:extLst>
                    <a:ext uri="{9D8B030D-6E8A-4147-A177-3AD203B41FA5}">
                      <a16:colId xmlns:a16="http://schemas.microsoft.com/office/drawing/2014/main" val="2494718197"/>
                    </a:ext>
                  </a:extLst>
                </a:gridCol>
                <a:gridCol w="3821723">
                  <a:extLst>
                    <a:ext uri="{9D8B030D-6E8A-4147-A177-3AD203B41FA5}">
                      <a16:colId xmlns:a16="http://schemas.microsoft.com/office/drawing/2014/main" val="122590935"/>
                    </a:ext>
                  </a:extLst>
                </a:gridCol>
              </a:tblGrid>
              <a:tr h="367924">
                <a:tc>
                  <a:txBody>
                    <a:bodyPr/>
                    <a:lstStyle/>
                    <a:p>
                      <a:pPr algn="ctr"/>
                      <a:r>
                        <a:rPr lang="en-US" sz="2000" dirty="0">
                          <a:latin typeface="Times New Roman" panose="02020603050405020304" pitchFamily="18" charset="0"/>
                          <a:cs typeface="Times New Roman" panose="02020603050405020304" pitchFamily="18" charset="0"/>
                        </a:rPr>
                        <a:t>Product Name</a:t>
                      </a:r>
                    </a:p>
                  </a:txBody>
                  <a:tcPr/>
                </a:tc>
                <a:tc>
                  <a:txBody>
                    <a:bodyPr/>
                    <a:lstStyle/>
                    <a:p>
                      <a:pPr algn="ctr"/>
                      <a:r>
                        <a:rPr lang="en-US" sz="2000" dirty="0">
                          <a:latin typeface="Times New Roman" panose="02020603050405020304" pitchFamily="18" charset="0"/>
                          <a:cs typeface="Times New Roman" panose="02020603050405020304" pitchFamily="18" charset="0"/>
                        </a:rPr>
                        <a:t>URL</a:t>
                      </a:r>
                    </a:p>
                  </a:txBody>
                  <a:tcPr/>
                </a:tc>
                <a:tc>
                  <a:txBody>
                    <a:bodyPr/>
                    <a:lstStyle/>
                    <a:p>
                      <a:pPr algn="ctr"/>
                      <a:r>
                        <a:rPr lang="en-US" sz="2000">
                          <a:latin typeface="Times New Roman" panose="02020603050405020304" pitchFamily="18" charset="0"/>
                          <a:cs typeface="Times New Roman" panose="02020603050405020304" pitchFamily="18" charset="0"/>
                        </a:rPr>
                        <a:t>Features</a:t>
                      </a:r>
                    </a:p>
                  </a:txBody>
                  <a:tcPr/>
                </a:tc>
                <a:extLst>
                  <a:ext uri="{0D108BD9-81ED-4DB2-BD59-A6C34878D82A}">
                    <a16:rowId xmlns:a16="http://schemas.microsoft.com/office/drawing/2014/main" val="3057801878"/>
                  </a:ext>
                </a:extLst>
              </a:tr>
              <a:tr h="1103773">
                <a:tc>
                  <a:txBody>
                    <a:bodyPr/>
                    <a:lstStyle/>
                    <a:p>
                      <a:pPr fontAlgn="base" latinLnBrk="0"/>
                      <a:r>
                        <a:rPr lang="en-US" sz="1400" b="0" dirty="0">
                          <a:latin typeface="Times New Roman" pitchFamily="18" charset="0"/>
                          <a:cs typeface="Times New Roman" pitchFamily="18" charset="0"/>
                        </a:rPr>
                        <a:t>Follow My Vote</a:t>
                      </a:r>
                      <a:endParaRPr lang="en-US" sz="1400" dirty="0">
                        <a:latin typeface="Times New Roman" pitchFamily="18" charset="0"/>
                        <a:cs typeface="Times New Roman" pitchFamily="18" charset="0"/>
                      </a:endParaRPr>
                    </a:p>
                  </a:txBody>
                  <a:tcPr marL="76200" marR="76200" anchor="ctr"/>
                </a:tc>
                <a:tc>
                  <a:txBody>
                    <a:bodyPr/>
                    <a:lstStyle/>
                    <a:p>
                      <a:pPr fontAlgn="base" latinLnBrk="0"/>
                      <a:r>
                        <a:rPr lang="en-US" sz="1400" b="0" dirty="0">
                          <a:effectLst/>
                          <a:latin typeface="Times New Roman" pitchFamily="18" charset="0"/>
                          <a:cs typeface="Times New Roman" pitchFamily="18" charset="0"/>
                          <a:hlinkClick r:id="rId2"/>
                        </a:rPr>
                        <a:t>https://followmyvote.com/</a:t>
                      </a:r>
                      <a:endParaRPr lang="en-US" sz="1400" dirty="0">
                        <a:latin typeface="Times New Roman" pitchFamily="18" charset="0"/>
                        <a:cs typeface="Times New Roman" pitchFamily="18" charset="0"/>
                      </a:endParaRPr>
                    </a:p>
                  </a:txBody>
                  <a:tcPr marL="76200" marR="76200" anchor="ctr"/>
                </a:tc>
                <a:tc>
                  <a:txBody>
                    <a:bodyPr/>
                    <a:lstStyle/>
                    <a:p>
                      <a:pPr fontAlgn="base" latinLnBrk="0"/>
                      <a:r>
                        <a:rPr lang="en-US" sz="1400">
                          <a:latin typeface="Times New Roman" pitchFamily="18" charset="0"/>
                          <a:cs typeface="Times New Roman" pitchFamily="18" charset="0"/>
                        </a:rPr>
                        <a:t>Open-source, end-to-end verifiable online voting software, secure remote voting, voter identity verification, transparency</a:t>
                      </a:r>
                    </a:p>
                  </a:txBody>
                  <a:tcPr marL="76200" marR="76200" anchor="ctr"/>
                </a:tc>
                <a:extLst>
                  <a:ext uri="{0D108BD9-81ED-4DB2-BD59-A6C34878D82A}">
                    <a16:rowId xmlns:a16="http://schemas.microsoft.com/office/drawing/2014/main" val="2913074688"/>
                  </a:ext>
                </a:extLst>
              </a:tr>
              <a:tr h="1103773">
                <a:tc>
                  <a:txBody>
                    <a:bodyPr/>
                    <a:lstStyle/>
                    <a:p>
                      <a:pPr fontAlgn="base" latinLnBrk="0"/>
                      <a:r>
                        <a:rPr lang="en-US" sz="1400" b="0">
                          <a:latin typeface="Times New Roman" pitchFamily="18" charset="0"/>
                          <a:cs typeface="Times New Roman" pitchFamily="18" charset="0"/>
                        </a:rPr>
                        <a:t>Voatz</a:t>
                      </a:r>
                      <a:endParaRPr lang="en-US" sz="1400">
                        <a:latin typeface="Times New Roman" pitchFamily="18" charset="0"/>
                        <a:cs typeface="Times New Roman" pitchFamily="18" charset="0"/>
                      </a:endParaRPr>
                    </a:p>
                  </a:txBody>
                  <a:tcPr marL="76200" marR="76200" anchor="ctr"/>
                </a:tc>
                <a:tc>
                  <a:txBody>
                    <a:bodyPr/>
                    <a:lstStyle/>
                    <a:p>
                      <a:pPr fontAlgn="base" latinLnBrk="0"/>
                      <a:r>
                        <a:rPr lang="en-US" sz="1400" b="0">
                          <a:effectLst/>
                          <a:latin typeface="Times New Roman" pitchFamily="18" charset="0"/>
                          <a:cs typeface="Times New Roman" pitchFamily="18" charset="0"/>
                          <a:hlinkClick r:id="rId3"/>
                        </a:rPr>
                        <a:t>https://voatz.com/</a:t>
                      </a:r>
                      <a:endParaRPr lang="en-US" sz="1400">
                        <a:latin typeface="Times New Roman" pitchFamily="18" charset="0"/>
                        <a:cs typeface="Times New Roman" pitchFamily="18" charset="0"/>
                      </a:endParaRPr>
                    </a:p>
                  </a:txBody>
                  <a:tcPr marL="76200" marR="76200" anchor="ctr"/>
                </a:tc>
                <a:tc>
                  <a:txBody>
                    <a:bodyPr/>
                    <a:lstStyle/>
                    <a:p>
                      <a:pPr fontAlgn="base" latinLnBrk="0"/>
                      <a:r>
                        <a:rPr lang="en-US" sz="1400">
                          <a:latin typeface="Times New Roman" pitchFamily="18" charset="0"/>
                          <a:cs typeface="Times New Roman" pitchFamily="18" charset="0"/>
                        </a:rPr>
                        <a:t>Mobile voting app, biometric verification, blockchain-based tamper-proof ledger, support for absentee and overseas voting</a:t>
                      </a:r>
                    </a:p>
                  </a:txBody>
                  <a:tcPr marL="76200" marR="76200" anchor="ctr"/>
                </a:tc>
                <a:extLst>
                  <a:ext uri="{0D108BD9-81ED-4DB2-BD59-A6C34878D82A}">
                    <a16:rowId xmlns:a16="http://schemas.microsoft.com/office/drawing/2014/main" val="1977971209"/>
                  </a:ext>
                </a:extLst>
              </a:tr>
              <a:tr h="1103773">
                <a:tc>
                  <a:txBody>
                    <a:bodyPr/>
                    <a:lstStyle/>
                    <a:p>
                      <a:pPr fontAlgn="base" latinLnBrk="0"/>
                      <a:r>
                        <a:rPr lang="en-US" sz="1400" b="0">
                          <a:latin typeface="Times New Roman" pitchFamily="18" charset="0"/>
                          <a:cs typeface="Times New Roman" pitchFamily="18" charset="0"/>
                        </a:rPr>
                        <a:t>B-Voting</a:t>
                      </a:r>
                      <a:endParaRPr lang="en-US" sz="1400">
                        <a:latin typeface="Times New Roman" pitchFamily="18" charset="0"/>
                        <a:cs typeface="Times New Roman" pitchFamily="18" charset="0"/>
                      </a:endParaRPr>
                    </a:p>
                  </a:txBody>
                  <a:tcPr marL="76200" marR="76200" anchor="ctr"/>
                </a:tc>
                <a:tc>
                  <a:txBody>
                    <a:bodyPr/>
                    <a:lstStyle/>
                    <a:p>
                      <a:pPr fontAlgn="base" latinLnBrk="0"/>
                      <a:r>
                        <a:rPr lang="en-US" sz="1400" b="0">
                          <a:effectLst/>
                          <a:latin typeface="Times New Roman" pitchFamily="18" charset="0"/>
                          <a:cs typeface="Times New Roman" pitchFamily="18" charset="0"/>
                          <a:hlinkClick r:id="rId4"/>
                        </a:rPr>
                        <a:t>https://www.netservice.eu/en/products-and-solutions/b-voting</a:t>
                      </a:r>
                      <a:endParaRPr lang="en-US" sz="1400">
                        <a:latin typeface="Times New Roman" pitchFamily="18" charset="0"/>
                        <a:cs typeface="Times New Roman" pitchFamily="18" charset="0"/>
                      </a:endParaRPr>
                    </a:p>
                  </a:txBody>
                  <a:tcPr marL="76200" marR="76200" anchor="ctr"/>
                </a:tc>
                <a:tc>
                  <a:txBody>
                    <a:bodyPr/>
                    <a:lstStyle/>
                    <a:p>
                      <a:pPr fontAlgn="base" latinLnBrk="0"/>
                      <a:r>
                        <a:rPr lang="en-US" sz="1400">
                          <a:latin typeface="Times New Roman" pitchFamily="18" charset="0"/>
                          <a:cs typeface="Times New Roman" pitchFamily="18" charset="0"/>
                        </a:rPr>
                        <a:t>Blockchain-based e-voting system integrated with electoral event management, voter anonymity, vote integrity, verifiability</a:t>
                      </a:r>
                    </a:p>
                  </a:txBody>
                  <a:tcPr marL="76200" marR="76200" anchor="ctr"/>
                </a:tc>
                <a:extLst>
                  <a:ext uri="{0D108BD9-81ED-4DB2-BD59-A6C34878D82A}">
                    <a16:rowId xmlns:a16="http://schemas.microsoft.com/office/drawing/2014/main" val="3269352985"/>
                  </a:ext>
                </a:extLst>
              </a:tr>
              <a:tr h="1103773">
                <a:tc>
                  <a:txBody>
                    <a:bodyPr/>
                    <a:lstStyle/>
                    <a:p>
                      <a:pPr fontAlgn="base" latinLnBrk="0"/>
                      <a:r>
                        <a:rPr lang="en-US" sz="1400" b="0">
                          <a:latin typeface="Times New Roman" pitchFamily="18" charset="0"/>
                          <a:cs typeface="Times New Roman" pitchFamily="18" charset="0"/>
                        </a:rPr>
                        <a:t>Polyas</a:t>
                      </a:r>
                      <a:endParaRPr lang="en-US" sz="1400">
                        <a:latin typeface="Times New Roman" pitchFamily="18" charset="0"/>
                        <a:cs typeface="Times New Roman" pitchFamily="18" charset="0"/>
                      </a:endParaRPr>
                    </a:p>
                  </a:txBody>
                  <a:tcPr marL="76200" marR="76200" anchor="ctr"/>
                </a:tc>
                <a:tc>
                  <a:txBody>
                    <a:bodyPr/>
                    <a:lstStyle/>
                    <a:p>
                      <a:pPr fontAlgn="base" latinLnBrk="0"/>
                      <a:r>
                        <a:rPr lang="en-US" sz="1400" b="0">
                          <a:effectLst/>
                          <a:latin typeface="Times New Roman" pitchFamily="18" charset="0"/>
                          <a:cs typeface="Times New Roman" pitchFamily="18" charset="0"/>
                          <a:hlinkClick r:id="rId5"/>
                        </a:rPr>
                        <a:t>https://www.polyas.com/</a:t>
                      </a:r>
                      <a:endParaRPr lang="en-US" sz="1400">
                        <a:latin typeface="Times New Roman" pitchFamily="18" charset="0"/>
                        <a:cs typeface="Times New Roman" pitchFamily="18" charset="0"/>
                      </a:endParaRPr>
                    </a:p>
                  </a:txBody>
                  <a:tcPr marL="76200" marR="76200" anchor="ctr"/>
                </a:tc>
                <a:tc>
                  <a:txBody>
                    <a:bodyPr/>
                    <a:lstStyle/>
                    <a:p>
                      <a:pPr fontAlgn="base" latinLnBrk="0"/>
                      <a:r>
                        <a:rPr lang="en-US" sz="1400" dirty="0">
                          <a:latin typeface="Times New Roman" pitchFamily="18" charset="0"/>
                          <a:cs typeface="Times New Roman" pitchFamily="18" charset="0"/>
                        </a:rPr>
                        <a:t>Secure remote e-voting with cryptographic guarantees, scalable for large elections, supports various ballot formats</a:t>
                      </a:r>
                    </a:p>
                  </a:txBody>
                  <a:tcPr marL="76200" marR="76200" anchor="ctr"/>
                </a:tc>
                <a:extLst>
                  <a:ext uri="{0D108BD9-81ED-4DB2-BD59-A6C34878D82A}">
                    <a16:rowId xmlns:a16="http://schemas.microsoft.com/office/drawing/2014/main" val="2313265583"/>
                  </a:ext>
                </a:extLst>
              </a:tr>
            </a:tbl>
          </a:graphicData>
        </a:graphic>
      </p:graphicFrame>
    </p:spTree>
    <p:extLst>
      <p:ext uri="{BB962C8B-B14F-4D97-AF65-F5344CB8AC3E}">
        <p14:creationId xmlns:p14="http://schemas.microsoft.com/office/powerpoint/2010/main" val="959702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95001-7007-C639-18FA-698B2CAADA6D}"/>
              </a:ext>
            </a:extLst>
          </p:cNvPr>
          <p:cNvSpPr>
            <a:spLocks noGrp="1"/>
          </p:cNvSpPr>
          <p:nvPr>
            <p:ph type="title"/>
          </p:nvPr>
        </p:nvSpPr>
        <p:spPr>
          <a:xfrm>
            <a:off x="838200" y="365128"/>
            <a:ext cx="10515600" cy="630916"/>
          </a:xfrm>
        </p:spPr>
        <p:txBody>
          <a:bodyPr>
            <a:normAutofit/>
          </a:bodyPr>
          <a:lstStyle/>
          <a:p>
            <a:pPr fontAlgn="base"/>
            <a:r>
              <a:rPr lang="en-US" sz="3600" b="1">
                <a:solidFill>
                  <a:srgbClr val="CC0066"/>
                </a:solidFill>
                <a:latin typeface="Times New Roman" panose="02020603050405020304" pitchFamily="18" charset="0"/>
                <a:cs typeface="Times New Roman" panose="02020603050405020304" pitchFamily="18" charset="0"/>
              </a:rPr>
              <a:t>List of Research Labs</a:t>
            </a:r>
            <a:endParaRPr lang="en-US" sz="3600"/>
          </a:p>
        </p:txBody>
      </p:sp>
      <p:graphicFrame>
        <p:nvGraphicFramePr>
          <p:cNvPr id="4" name="Content Placeholder 3">
            <a:extLst>
              <a:ext uri="{FF2B5EF4-FFF2-40B4-BE49-F238E27FC236}">
                <a16:creationId xmlns:a16="http://schemas.microsoft.com/office/drawing/2014/main" id="{CF0CD6B9-9F9F-6339-354A-C5EF06D88CBE}"/>
              </a:ext>
            </a:extLst>
          </p:cNvPr>
          <p:cNvGraphicFramePr>
            <a:graphicFrameLocks noGrp="1"/>
          </p:cNvGraphicFramePr>
          <p:nvPr>
            <p:ph idx="1"/>
            <p:extLst>
              <p:ext uri="{D42A27DB-BD31-4B8C-83A1-F6EECF244321}">
                <p14:modId xmlns:p14="http://schemas.microsoft.com/office/powerpoint/2010/main" val="2425514416"/>
              </p:ext>
            </p:extLst>
          </p:nvPr>
        </p:nvGraphicFramePr>
        <p:xfrm>
          <a:off x="938892" y="1079954"/>
          <a:ext cx="10110109" cy="4730296"/>
        </p:xfrm>
        <a:graphic>
          <a:graphicData uri="http://schemas.openxmlformats.org/drawingml/2006/table">
            <a:tbl>
              <a:tblPr firstRow="1" bandRow="1">
                <a:tableStyleId>{5C22544A-7EE6-4342-B048-85BDC9FD1C3A}</a:tableStyleId>
              </a:tblPr>
              <a:tblGrid>
                <a:gridCol w="2306636">
                  <a:extLst>
                    <a:ext uri="{9D8B030D-6E8A-4147-A177-3AD203B41FA5}">
                      <a16:colId xmlns:a16="http://schemas.microsoft.com/office/drawing/2014/main" val="2913092635"/>
                    </a:ext>
                  </a:extLst>
                </a:gridCol>
                <a:gridCol w="1598667">
                  <a:extLst>
                    <a:ext uri="{9D8B030D-6E8A-4147-A177-3AD203B41FA5}">
                      <a16:colId xmlns:a16="http://schemas.microsoft.com/office/drawing/2014/main" val="102003339"/>
                    </a:ext>
                  </a:extLst>
                </a:gridCol>
                <a:gridCol w="2839053">
                  <a:extLst>
                    <a:ext uri="{9D8B030D-6E8A-4147-A177-3AD203B41FA5}">
                      <a16:colId xmlns:a16="http://schemas.microsoft.com/office/drawing/2014/main" val="2617610611"/>
                    </a:ext>
                  </a:extLst>
                </a:gridCol>
                <a:gridCol w="1721417">
                  <a:extLst>
                    <a:ext uri="{9D8B030D-6E8A-4147-A177-3AD203B41FA5}">
                      <a16:colId xmlns:a16="http://schemas.microsoft.com/office/drawing/2014/main" val="2392847248"/>
                    </a:ext>
                  </a:extLst>
                </a:gridCol>
                <a:gridCol w="1644336">
                  <a:extLst>
                    <a:ext uri="{9D8B030D-6E8A-4147-A177-3AD203B41FA5}">
                      <a16:colId xmlns:a16="http://schemas.microsoft.com/office/drawing/2014/main" val="2517993974"/>
                    </a:ext>
                  </a:extLst>
                </a:gridCol>
              </a:tblGrid>
              <a:tr h="458909">
                <a:tc>
                  <a:txBody>
                    <a:bodyPr/>
                    <a:lstStyle/>
                    <a:p>
                      <a:pPr algn="ctr"/>
                      <a:r>
                        <a:rPr lang="en-US" sz="2000" dirty="0">
                          <a:latin typeface="Times New Roman" panose="02020603050405020304" pitchFamily="18" charset="0"/>
                          <a:cs typeface="Times New Roman" panose="02020603050405020304" pitchFamily="18" charset="0"/>
                        </a:rPr>
                        <a:t>Name of the lab</a:t>
                      </a:r>
                    </a:p>
                  </a:txBody>
                  <a:tcPr/>
                </a:tc>
                <a:tc>
                  <a:txBody>
                    <a:bodyPr/>
                    <a:lstStyle/>
                    <a:p>
                      <a:pPr algn="ctr"/>
                      <a:r>
                        <a:rPr lang="en-US" sz="2000">
                          <a:latin typeface="Times New Roman" panose="02020603050405020304" pitchFamily="18" charset="0"/>
                          <a:cs typeface="Times New Roman" panose="02020603050405020304" pitchFamily="18" charset="0"/>
                        </a:rPr>
                        <a:t>URL</a:t>
                      </a:r>
                    </a:p>
                  </a:txBody>
                  <a:tcPr/>
                </a:tc>
                <a:tc>
                  <a:txBody>
                    <a:bodyPr/>
                    <a:lstStyle/>
                    <a:p>
                      <a:pPr algn="ctr"/>
                      <a:r>
                        <a:rPr lang="en-US" sz="2000">
                          <a:latin typeface="Times New Roman" panose="02020603050405020304" pitchFamily="18" charset="0"/>
                          <a:cs typeface="Times New Roman" panose="02020603050405020304" pitchFamily="18" charset="0"/>
                        </a:rPr>
                        <a:t>Name of the Professor</a:t>
                      </a:r>
                    </a:p>
                  </a:txBody>
                  <a:tcPr/>
                </a:tc>
                <a:tc>
                  <a:txBody>
                    <a:bodyPr/>
                    <a:lstStyle/>
                    <a:p>
                      <a:pPr algn="ctr"/>
                      <a:r>
                        <a:rPr lang="en-US" sz="2000">
                          <a:latin typeface="Times New Roman" panose="02020603050405020304" pitchFamily="18" charset="0"/>
                          <a:cs typeface="Times New Roman" panose="02020603050405020304" pitchFamily="18" charset="0"/>
                        </a:rPr>
                        <a:t>Institute</a:t>
                      </a:r>
                    </a:p>
                  </a:txBody>
                  <a:tcPr/>
                </a:tc>
                <a:tc>
                  <a:txBody>
                    <a:bodyPr/>
                    <a:lstStyle/>
                    <a:p>
                      <a:pPr algn="ctr"/>
                      <a:r>
                        <a:rPr lang="en-US" sz="2000" dirty="0">
                          <a:latin typeface="Times New Roman" panose="02020603050405020304" pitchFamily="18" charset="0"/>
                          <a:cs typeface="Times New Roman" panose="02020603050405020304" pitchFamily="18" charset="0"/>
                        </a:rPr>
                        <a:t>Country</a:t>
                      </a:r>
                    </a:p>
                  </a:txBody>
                  <a:tcPr/>
                </a:tc>
                <a:extLst>
                  <a:ext uri="{0D108BD9-81ED-4DB2-BD59-A6C34878D82A}">
                    <a16:rowId xmlns:a16="http://schemas.microsoft.com/office/drawing/2014/main" val="89664645"/>
                  </a:ext>
                </a:extLst>
              </a:tr>
              <a:tr h="1517931">
                <a:tc>
                  <a:txBody>
                    <a:bodyPr/>
                    <a:lstStyle/>
                    <a:p>
                      <a:pPr fontAlgn="base" latinLnBrk="0"/>
                      <a:r>
                        <a:rPr lang="en-US" sz="1600" dirty="0">
                          <a:latin typeface="Times New Roman" pitchFamily="18" charset="0"/>
                          <a:cs typeface="Times New Roman" pitchFamily="18" charset="0"/>
                        </a:rPr>
                        <a:t>NTNU Applied Cryptology Lab (</a:t>
                      </a:r>
                      <a:r>
                        <a:rPr lang="en-US" sz="1600" dirty="0" err="1">
                          <a:latin typeface="Times New Roman" pitchFamily="18" charset="0"/>
                          <a:cs typeface="Times New Roman" pitchFamily="18" charset="0"/>
                        </a:rPr>
                        <a:t>NaCl</a:t>
                      </a:r>
                      <a:r>
                        <a:rPr lang="en-US" sz="1600" dirty="0">
                          <a:latin typeface="Times New Roman" pitchFamily="18" charset="0"/>
                          <a:cs typeface="Times New Roman" pitchFamily="18" charset="0"/>
                        </a:rPr>
                        <a:t>)</a:t>
                      </a:r>
                    </a:p>
                  </a:txBody>
                  <a:tcPr marL="76200" marR="76200" anchor="ctr"/>
                </a:tc>
                <a:tc>
                  <a:txBody>
                    <a:bodyPr/>
                    <a:lstStyle/>
                    <a:p>
                      <a:pPr fontAlgn="base" latinLnBrk="0"/>
                      <a:r>
                        <a:rPr lang="en-US" sz="1600" b="0" u="none" dirty="0">
                          <a:effectLst/>
                          <a:latin typeface="Times New Roman" pitchFamily="18" charset="0"/>
                          <a:cs typeface="Times New Roman" pitchFamily="18" charset="0"/>
                          <a:hlinkClick r:id="rId2"/>
                        </a:rPr>
                        <a:t>https://www.ntnu.edu/iik/nacl-lab</a:t>
                      </a:r>
                      <a:endParaRPr lang="en-US" sz="1600" u="none" dirty="0">
                        <a:latin typeface="Times New Roman" pitchFamily="18" charset="0"/>
                        <a:cs typeface="Times New Roman" pitchFamily="18" charset="0"/>
                      </a:endParaRPr>
                    </a:p>
                  </a:txBody>
                  <a:tcPr marL="76200" marR="76200" anchor="ctr"/>
                </a:tc>
                <a:tc>
                  <a:txBody>
                    <a:bodyPr/>
                    <a:lstStyle/>
                    <a:p>
                      <a:pPr fontAlgn="base" latinLnBrk="0"/>
                      <a:r>
                        <a:rPr lang="en-US" sz="1600">
                          <a:latin typeface="Times New Roman" pitchFamily="18" charset="0"/>
                          <a:cs typeface="Times New Roman" pitchFamily="18" charset="0"/>
                        </a:rPr>
                        <a:t>Danilo Gligoroski, Stig Frode Mjølsnes, Brent Waters</a:t>
                      </a:r>
                    </a:p>
                  </a:txBody>
                  <a:tcPr marL="76200" marR="76200" anchor="ctr"/>
                </a:tc>
                <a:tc>
                  <a:txBody>
                    <a:bodyPr/>
                    <a:lstStyle/>
                    <a:p>
                      <a:pPr fontAlgn="base" latinLnBrk="0"/>
                      <a:r>
                        <a:rPr lang="en-US" sz="1600">
                          <a:latin typeface="Times New Roman" pitchFamily="18" charset="0"/>
                          <a:cs typeface="Times New Roman" pitchFamily="18" charset="0"/>
                        </a:rPr>
                        <a:t>Norwegian University of Science and Technology (NTNU)</a:t>
                      </a:r>
                    </a:p>
                  </a:txBody>
                  <a:tcPr marL="76200" marR="76200" anchor="ctr"/>
                </a:tc>
                <a:tc>
                  <a:txBody>
                    <a:bodyPr/>
                    <a:lstStyle/>
                    <a:p>
                      <a:pPr fontAlgn="base" latinLnBrk="0"/>
                      <a:r>
                        <a:rPr lang="en-US" sz="1600">
                          <a:latin typeface="Times New Roman" pitchFamily="18" charset="0"/>
                          <a:cs typeface="Times New Roman" pitchFamily="18" charset="0"/>
                        </a:rPr>
                        <a:t>Norway</a:t>
                      </a:r>
                    </a:p>
                  </a:txBody>
                  <a:tcPr marL="76200" marR="76200" anchor="ctr"/>
                </a:tc>
                <a:extLst>
                  <a:ext uri="{0D108BD9-81ED-4DB2-BD59-A6C34878D82A}">
                    <a16:rowId xmlns:a16="http://schemas.microsoft.com/office/drawing/2014/main" val="739698561"/>
                  </a:ext>
                </a:extLst>
              </a:tr>
              <a:tr h="1517931">
                <a:tc>
                  <a:txBody>
                    <a:bodyPr/>
                    <a:lstStyle/>
                    <a:p>
                      <a:pPr fontAlgn="base" latinLnBrk="0"/>
                      <a:r>
                        <a:rPr lang="en-US" sz="1600">
                          <a:latin typeface="Times New Roman" pitchFamily="18" charset="0"/>
                          <a:cs typeface="Times New Roman" pitchFamily="18" charset="0"/>
                        </a:rPr>
                        <a:t>Cryptography &amp; Information Security Labs (CIS Labs)</a:t>
                      </a:r>
                    </a:p>
                  </a:txBody>
                  <a:tcPr marL="76200" marR="76200" anchor="ctr"/>
                </a:tc>
                <a:tc>
                  <a:txBody>
                    <a:bodyPr/>
                    <a:lstStyle/>
                    <a:p>
                      <a:pPr fontAlgn="base" latinLnBrk="0"/>
                      <a:r>
                        <a:rPr lang="en-US" sz="1600" b="0" u="none" dirty="0">
                          <a:effectLst/>
                          <a:latin typeface="Times New Roman" pitchFamily="18" charset="0"/>
                          <a:cs typeface="Times New Roman" pitchFamily="18" charset="0"/>
                          <a:hlinkClick r:id="rId3"/>
                        </a:rPr>
                        <a:t>https://www.ntt-review.jp/archive/ntttechnical.php?contents=ntr201912fa3.html</a:t>
                      </a:r>
                      <a:endParaRPr lang="en-US" sz="1600" u="none" dirty="0">
                        <a:latin typeface="Times New Roman" pitchFamily="18" charset="0"/>
                        <a:cs typeface="Times New Roman" pitchFamily="18" charset="0"/>
                      </a:endParaRPr>
                    </a:p>
                  </a:txBody>
                  <a:tcPr marL="76200" marR="76200" anchor="ctr"/>
                </a:tc>
                <a:tc>
                  <a:txBody>
                    <a:bodyPr/>
                    <a:lstStyle/>
                    <a:p>
                      <a:pPr fontAlgn="base" latinLnBrk="0"/>
                      <a:r>
                        <a:rPr lang="en-US" sz="1600">
                          <a:latin typeface="Times New Roman" pitchFamily="18" charset="0"/>
                          <a:cs typeface="Times New Roman" pitchFamily="18" charset="0"/>
                        </a:rPr>
                        <a:t>Tatsuaki Okamoto, Shin’ichiro Matsuo</a:t>
                      </a:r>
                    </a:p>
                  </a:txBody>
                  <a:tcPr marL="76200" marR="76200" anchor="ctr"/>
                </a:tc>
                <a:tc>
                  <a:txBody>
                    <a:bodyPr/>
                    <a:lstStyle/>
                    <a:p>
                      <a:pPr fontAlgn="base" latinLnBrk="0"/>
                      <a:r>
                        <a:rPr lang="en-US" sz="1600">
                          <a:latin typeface="Times New Roman" pitchFamily="18" charset="0"/>
                          <a:cs typeface="Times New Roman" pitchFamily="18" charset="0"/>
                        </a:rPr>
                        <a:t>NTT Research, Silicon Valley</a:t>
                      </a:r>
                    </a:p>
                  </a:txBody>
                  <a:tcPr marL="76200" marR="76200" anchor="ctr"/>
                </a:tc>
                <a:tc>
                  <a:txBody>
                    <a:bodyPr/>
                    <a:lstStyle/>
                    <a:p>
                      <a:pPr fontAlgn="base" latinLnBrk="0"/>
                      <a:r>
                        <a:rPr lang="en-US" sz="1600">
                          <a:latin typeface="Times New Roman" pitchFamily="18" charset="0"/>
                          <a:cs typeface="Times New Roman" pitchFamily="18" charset="0"/>
                        </a:rPr>
                        <a:t>USA</a:t>
                      </a:r>
                    </a:p>
                  </a:txBody>
                  <a:tcPr marL="76200" marR="76200" anchor="ctr"/>
                </a:tc>
                <a:extLst>
                  <a:ext uri="{0D108BD9-81ED-4DB2-BD59-A6C34878D82A}">
                    <a16:rowId xmlns:a16="http://schemas.microsoft.com/office/drawing/2014/main" val="2945347187"/>
                  </a:ext>
                </a:extLst>
              </a:tr>
              <a:tr h="1235525">
                <a:tc>
                  <a:txBody>
                    <a:bodyPr/>
                    <a:lstStyle/>
                    <a:p>
                      <a:pPr fontAlgn="base" latinLnBrk="0"/>
                      <a:r>
                        <a:rPr lang="en-US" sz="1600">
                          <a:latin typeface="Times New Roman" pitchFamily="18" charset="0"/>
                          <a:cs typeface="Times New Roman" pitchFamily="18" charset="0"/>
                        </a:rPr>
                        <a:t>Amrita E-Learning Research Lab</a:t>
                      </a:r>
                    </a:p>
                  </a:txBody>
                  <a:tcPr marL="76200" marR="76200" anchor="ctr"/>
                </a:tc>
                <a:tc>
                  <a:txBody>
                    <a:bodyPr/>
                    <a:lstStyle/>
                    <a:p>
                      <a:pPr fontAlgn="base" latinLnBrk="0"/>
                      <a:r>
                        <a:rPr lang="en-US" sz="1600" b="0" u="none" dirty="0">
                          <a:effectLst/>
                          <a:latin typeface="Times New Roman" pitchFamily="18" charset="0"/>
                          <a:cs typeface="Times New Roman" pitchFamily="18" charset="0"/>
                          <a:hlinkClick r:id="rId4"/>
                        </a:rPr>
                        <a:t>https://www.amrita.edu/center/e-learning-research-lab/</a:t>
                      </a:r>
                      <a:endParaRPr lang="en-US" sz="1600" u="none" dirty="0">
                        <a:latin typeface="Times New Roman" pitchFamily="18" charset="0"/>
                        <a:cs typeface="Times New Roman" pitchFamily="18" charset="0"/>
                      </a:endParaRPr>
                    </a:p>
                  </a:txBody>
                  <a:tcPr marL="76200" marR="76200" anchor="ctr"/>
                </a:tc>
                <a:tc>
                  <a:txBody>
                    <a:bodyPr/>
                    <a:lstStyle/>
                    <a:p>
                      <a:pPr fontAlgn="base" latinLnBrk="0"/>
                      <a:r>
                        <a:rPr lang="en-US" sz="1600">
                          <a:latin typeface="Times New Roman" pitchFamily="18" charset="0"/>
                          <a:cs typeface="Times New Roman" pitchFamily="18" charset="0"/>
                        </a:rPr>
                        <a:t>Various faculty members</a:t>
                      </a:r>
                    </a:p>
                  </a:txBody>
                  <a:tcPr marL="76200" marR="76200" anchor="ctr"/>
                </a:tc>
                <a:tc>
                  <a:txBody>
                    <a:bodyPr/>
                    <a:lstStyle/>
                    <a:p>
                      <a:pPr fontAlgn="base" latinLnBrk="0"/>
                      <a:r>
                        <a:rPr lang="en-US" sz="1600">
                          <a:latin typeface="Times New Roman" pitchFamily="18" charset="0"/>
                          <a:cs typeface="Times New Roman" pitchFamily="18" charset="0"/>
                        </a:rPr>
                        <a:t>Amrita Vishwa Vidyapeetham</a:t>
                      </a:r>
                    </a:p>
                  </a:txBody>
                  <a:tcPr marL="76200" marR="76200" anchor="ctr"/>
                </a:tc>
                <a:tc>
                  <a:txBody>
                    <a:bodyPr/>
                    <a:lstStyle/>
                    <a:p>
                      <a:pPr fontAlgn="base" latinLnBrk="0"/>
                      <a:r>
                        <a:rPr lang="en-US" sz="1600" dirty="0">
                          <a:latin typeface="Times New Roman" pitchFamily="18" charset="0"/>
                          <a:cs typeface="Times New Roman" pitchFamily="18" charset="0"/>
                        </a:rPr>
                        <a:t>India</a:t>
                      </a:r>
                    </a:p>
                  </a:txBody>
                  <a:tcPr marL="76200" marR="76200" anchor="ctr"/>
                </a:tc>
                <a:extLst>
                  <a:ext uri="{0D108BD9-81ED-4DB2-BD59-A6C34878D82A}">
                    <a16:rowId xmlns:a16="http://schemas.microsoft.com/office/drawing/2014/main" val="3796512821"/>
                  </a:ext>
                </a:extLst>
              </a:tr>
            </a:tbl>
          </a:graphicData>
        </a:graphic>
      </p:graphicFrame>
    </p:spTree>
    <p:extLst>
      <p:ext uri="{BB962C8B-B14F-4D97-AF65-F5344CB8AC3E}">
        <p14:creationId xmlns:p14="http://schemas.microsoft.com/office/powerpoint/2010/main" val="253502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FF8FB-FDCC-4154-EFDB-8F6AFE79350C}"/>
              </a:ext>
            </a:extLst>
          </p:cNvPr>
          <p:cNvSpPr>
            <a:spLocks noGrp="1"/>
          </p:cNvSpPr>
          <p:nvPr>
            <p:ph type="title"/>
          </p:nvPr>
        </p:nvSpPr>
        <p:spPr>
          <a:xfrm>
            <a:off x="533400" y="318235"/>
            <a:ext cx="10515600" cy="663573"/>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Literature Survey</a:t>
            </a:r>
            <a:endParaRPr lang="en-US" sz="3600" dirty="0"/>
          </a:p>
        </p:txBody>
      </p:sp>
      <p:sp>
        <p:nvSpPr>
          <p:cNvPr id="3" name="Content Placeholder 2">
            <a:extLst>
              <a:ext uri="{FF2B5EF4-FFF2-40B4-BE49-F238E27FC236}">
                <a16:creationId xmlns:a16="http://schemas.microsoft.com/office/drawing/2014/main" id="{39BFB78C-AC4D-BCE0-2EC1-A34314DDCA04}"/>
              </a:ext>
            </a:extLst>
          </p:cNvPr>
          <p:cNvSpPr>
            <a:spLocks noGrp="1"/>
          </p:cNvSpPr>
          <p:nvPr>
            <p:ph idx="1"/>
          </p:nvPr>
        </p:nvSpPr>
        <p:spPr>
          <a:xfrm>
            <a:off x="515815" y="962723"/>
            <a:ext cx="11314235" cy="5225596"/>
          </a:xfrm>
        </p:spPr>
        <p:txBody>
          <a:bodyPr>
            <a:noAutofit/>
          </a:bodyPr>
          <a:lstStyle/>
          <a:p>
            <a:pPr>
              <a:buNone/>
            </a:pPr>
            <a:r>
              <a:rPr lang="en-US" sz="1600" dirty="0">
                <a:latin typeface="Times New Roman" pitchFamily="18" charset="0"/>
                <a:cs typeface="Times New Roman" pitchFamily="18" charset="0"/>
              </a:rPr>
              <a:t>A. Datasets in </a:t>
            </a:r>
            <a:r>
              <a:rPr lang="en-US" sz="1600" dirty="0" err="1">
                <a:latin typeface="Times New Roman" pitchFamily="18" charset="0"/>
                <a:cs typeface="Times New Roman" pitchFamily="18" charset="0"/>
              </a:rPr>
              <a:t>Blockchain</a:t>
            </a:r>
            <a:r>
              <a:rPr lang="en-US" sz="1600" dirty="0">
                <a:latin typeface="Times New Roman" pitchFamily="18" charset="0"/>
                <a:cs typeface="Times New Roman" pitchFamily="18" charset="0"/>
              </a:rPr>
              <a:t> E-Voting</a:t>
            </a:r>
          </a:p>
          <a:p>
            <a:pPr>
              <a:buNone/>
            </a:pPr>
            <a:r>
              <a:rPr lang="en-US" sz="1600" dirty="0">
                <a:latin typeface="Times New Roman" pitchFamily="18" charset="0"/>
                <a:cs typeface="Times New Roman" pitchFamily="18" charset="0"/>
              </a:rPr>
              <a:t>1. Fan et al. (2023)</a:t>
            </a:r>
          </a:p>
          <a:p>
            <a:r>
              <a:rPr lang="en-US" sz="1600" dirty="0">
                <a:latin typeface="Times New Roman" pitchFamily="18" charset="0"/>
                <a:cs typeface="Times New Roman" pitchFamily="18" charset="0"/>
              </a:rPr>
              <a:t>Dataset: Synthetic 10,000 mixed-format ballots (approval, score)</a:t>
            </a:r>
          </a:p>
          <a:p>
            <a:r>
              <a:rPr lang="en-US" sz="1600" dirty="0">
                <a:latin typeface="Times New Roman" pitchFamily="18" charset="0"/>
                <a:cs typeface="Times New Roman" pitchFamily="18" charset="0"/>
              </a:rPr>
              <a:t>Platform: </a:t>
            </a:r>
            <a:r>
              <a:rPr lang="en-US" sz="1600" dirty="0" err="1">
                <a:latin typeface="Times New Roman" pitchFamily="18" charset="0"/>
                <a:cs typeface="Times New Roman" pitchFamily="18" charset="0"/>
              </a:rPr>
              <a:t>Hyperledger</a:t>
            </a:r>
            <a:r>
              <a:rPr lang="en-US" sz="1600" dirty="0">
                <a:latin typeface="Times New Roman" pitchFamily="18" charset="0"/>
                <a:cs typeface="Times New Roman" pitchFamily="18" charset="0"/>
              </a:rPr>
              <a:t> Fabric, </a:t>
            </a:r>
            <a:r>
              <a:rPr lang="en-US" sz="1600" dirty="0" err="1">
                <a:latin typeface="Times New Roman" pitchFamily="18" charset="0"/>
                <a:cs typeface="Times New Roman" pitchFamily="18" charset="0"/>
              </a:rPr>
              <a:t>Ethereum</a:t>
            </a:r>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Focus: Throughput ~1100 </a:t>
            </a:r>
            <a:r>
              <a:rPr lang="en-US" sz="1600" dirty="0" err="1">
                <a:latin typeface="Times New Roman" pitchFamily="18" charset="0"/>
                <a:cs typeface="Times New Roman" pitchFamily="18" charset="0"/>
              </a:rPr>
              <a:t>tx</a:t>
            </a:r>
            <a:r>
              <a:rPr lang="en-US" sz="1600" dirty="0">
                <a:latin typeface="Times New Roman" pitchFamily="18" charset="0"/>
                <a:cs typeface="Times New Roman" pitchFamily="18" charset="0"/>
              </a:rPr>
              <a:t>/sec, latency &lt; 25 ms</a:t>
            </a:r>
          </a:p>
          <a:p>
            <a:r>
              <a:rPr lang="en-US" sz="1600" dirty="0">
                <a:latin typeface="Times New Roman" pitchFamily="18" charset="0"/>
                <a:cs typeface="Times New Roman" pitchFamily="18" charset="0"/>
              </a:rPr>
              <a:t>Source: "HSE-Voting: A secure high-efficiency electronic voting scheme" [Impact Factor: 8.9, Cite Score: 14.2]</a:t>
            </a:r>
          </a:p>
          <a:p>
            <a:pPr>
              <a:buNone/>
            </a:pPr>
            <a:r>
              <a:rPr lang="en-US" sz="1600" dirty="0">
                <a:latin typeface="Times New Roman" pitchFamily="18" charset="0"/>
                <a:cs typeface="Times New Roman" pitchFamily="18" charset="0"/>
              </a:rPr>
              <a:t>2. Wang et al. (2024)</a:t>
            </a:r>
          </a:p>
          <a:p>
            <a:r>
              <a:rPr lang="en-US" sz="1600" dirty="0">
                <a:latin typeface="Times New Roman" pitchFamily="18" charset="0"/>
                <a:cs typeface="Times New Roman" pitchFamily="18" charset="0"/>
              </a:rPr>
              <a:t>Dataset: Large-scale synthetic ballots</a:t>
            </a:r>
          </a:p>
          <a:p>
            <a:r>
              <a:rPr lang="en-US" sz="1600" dirty="0">
                <a:latin typeface="Times New Roman" pitchFamily="18" charset="0"/>
                <a:cs typeface="Times New Roman" pitchFamily="18" charset="0"/>
              </a:rPr>
              <a:t>Platform: </a:t>
            </a:r>
            <a:r>
              <a:rPr lang="en-US" sz="1600" dirty="0" err="1">
                <a:latin typeface="Times New Roman" pitchFamily="18" charset="0"/>
                <a:cs typeface="Times New Roman" pitchFamily="18" charset="0"/>
              </a:rPr>
              <a:t>Ethereum</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Hyperledger</a:t>
            </a:r>
            <a:r>
              <a:rPr lang="en-US" sz="1600" dirty="0">
                <a:latin typeface="Times New Roman" pitchFamily="18" charset="0"/>
                <a:cs typeface="Times New Roman" pitchFamily="18" charset="0"/>
              </a:rPr>
              <a:t> Fabric</a:t>
            </a:r>
          </a:p>
          <a:p>
            <a:r>
              <a:rPr lang="en-US" sz="1600" dirty="0">
                <a:latin typeface="Times New Roman" pitchFamily="18" charset="0"/>
                <a:cs typeface="Times New Roman" pitchFamily="18" charset="0"/>
              </a:rPr>
              <a:t>Focus: Scalability, anonymity enhancements, gas cost reductions</a:t>
            </a:r>
          </a:p>
          <a:p>
            <a:r>
              <a:rPr lang="en-US" sz="1600" dirty="0">
                <a:latin typeface="Times New Roman" pitchFamily="18" charset="0"/>
                <a:cs typeface="Times New Roman" pitchFamily="18" charset="0"/>
              </a:rPr>
              <a:t>Source: "An efficient and versatile e-voting scheme on </a:t>
            </a:r>
            <a:r>
              <a:rPr lang="en-US" sz="1600" dirty="0" err="1">
                <a:latin typeface="Times New Roman" pitchFamily="18" charset="0"/>
                <a:cs typeface="Times New Roman" pitchFamily="18" charset="0"/>
              </a:rPr>
              <a:t>blockchain</a:t>
            </a:r>
            <a:r>
              <a:rPr lang="en-US" sz="1600" dirty="0">
                <a:latin typeface="Times New Roman" pitchFamily="18" charset="0"/>
                <a:cs typeface="Times New Roman" pitchFamily="18" charset="0"/>
              </a:rPr>
              <a:t>" [Impact Factor: 3.7, Cite Score: 6.4]</a:t>
            </a:r>
          </a:p>
          <a:p>
            <a:pPr>
              <a:buNone/>
            </a:pPr>
            <a:r>
              <a:rPr lang="en-US" sz="1600" dirty="0">
                <a:latin typeface="Times New Roman" pitchFamily="18" charset="0"/>
                <a:cs typeface="Times New Roman" pitchFamily="18" charset="0"/>
              </a:rPr>
              <a:t>3. Hardwick et al. (2023)</a:t>
            </a:r>
          </a:p>
          <a:p>
            <a:r>
              <a:rPr lang="en-US" sz="1600" dirty="0">
                <a:latin typeface="Times New Roman" pitchFamily="18" charset="0"/>
                <a:cs typeface="Times New Roman" pitchFamily="18" charset="0"/>
              </a:rPr>
              <a:t>Dataset: Open-source election datasets with varied ballot formats</a:t>
            </a:r>
          </a:p>
          <a:p>
            <a:r>
              <a:rPr lang="en-US" sz="1600" dirty="0">
                <a:latin typeface="Times New Roman" pitchFamily="18" charset="0"/>
                <a:cs typeface="Times New Roman" pitchFamily="18" charset="0"/>
              </a:rPr>
              <a:t>Platform: </a:t>
            </a:r>
            <a:r>
              <a:rPr lang="en-US" sz="1600" dirty="0" err="1">
                <a:latin typeface="Times New Roman" pitchFamily="18" charset="0"/>
                <a:cs typeface="Times New Roman" pitchFamily="18" charset="0"/>
              </a:rPr>
              <a:t>Ethereum</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testnets</a:t>
            </a:r>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Reference for dynamic ballot updates and benchmarking</a:t>
            </a:r>
          </a:p>
        </p:txBody>
      </p:sp>
    </p:spTree>
    <p:extLst>
      <p:ext uri="{BB962C8B-B14F-4D97-AF65-F5344CB8AC3E}">
        <p14:creationId xmlns:p14="http://schemas.microsoft.com/office/powerpoint/2010/main" val="380381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89193"/>
            <a:ext cx="11283462" cy="5419237"/>
          </a:xfrm>
        </p:spPr>
        <p:txBody>
          <a:bodyPr>
            <a:normAutofit fontScale="92500"/>
          </a:bodyPr>
          <a:lstStyle/>
          <a:p>
            <a:pPr>
              <a:buNone/>
            </a:pPr>
            <a:r>
              <a:rPr lang="en-US" dirty="0">
                <a:latin typeface="Times New Roman" pitchFamily="18" charset="0"/>
                <a:cs typeface="Times New Roman" pitchFamily="18" charset="0"/>
              </a:rPr>
              <a:t>B. Cryptographic Algorithms and Protocols</a:t>
            </a:r>
          </a:p>
          <a:p>
            <a:pPr>
              <a:buNone/>
            </a:pPr>
            <a:r>
              <a:rPr lang="en-US" dirty="0">
                <a:latin typeface="Times New Roman" pitchFamily="18" charset="0"/>
                <a:cs typeface="Times New Roman" pitchFamily="18" charset="0"/>
              </a:rPr>
              <a:t>4. </a:t>
            </a:r>
            <a:r>
              <a:rPr lang="en-US" dirty="0" err="1">
                <a:latin typeface="Times New Roman" pitchFamily="18" charset="0"/>
                <a:cs typeface="Times New Roman" pitchFamily="18" charset="0"/>
              </a:rPr>
              <a:t>Boneh</a:t>
            </a:r>
            <a:r>
              <a:rPr lang="en-US" dirty="0">
                <a:latin typeface="Times New Roman" pitchFamily="18" charset="0"/>
                <a:cs typeface="Times New Roman" pitchFamily="18" charset="0"/>
              </a:rPr>
              <a:t> et al. (2023)</a:t>
            </a:r>
          </a:p>
          <a:p>
            <a:r>
              <a:rPr lang="en-US" dirty="0">
                <a:latin typeface="Times New Roman" pitchFamily="18" charset="0"/>
                <a:cs typeface="Times New Roman" pitchFamily="18" charset="0"/>
              </a:rPr>
              <a:t>BLS signatures enabling signature aggregation for scalability</a:t>
            </a:r>
          </a:p>
          <a:p>
            <a:r>
              <a:rPr lang="en-US" dirty="0">
                <a:latin typeface="Times New Roman" pitchFamily="18" charset="0"/>
                <a:cs typeface="Times New Roman" pitchFamily="18" charset="0"/>
              </a:rPr>
              <a:t>Performance: Constant-time verification regardless of number of signers</a:t>
            </a:r>
          </a:p>
          <a:p>
            <a:r>
              <a:rPr lang="en-US" dirty="0">
                <a:latin typeface="Times New Roman" pitchFamily="18" charset="0"/>
                <a:cs typeface="Times New Roman" pitchFamily="18" charset="0"/>
              </a:rPr>
              <a:t>Venue: ASIACRYPT</a:t>
            </a:r>
          </a:p>
          <a:p>
            <a:pPr>
              <a:buNone/>
            </a:pPr>
            <a:r>
              <a:rPr lang="en-US" dirty="0">
                <a:latin typeface="Times New Roman" pitchFamily="18" charset="0"/>
                <a:cs typeface="Times New Roman" pitchFamily="18" charset="0"/>
              </a:rPr>
              <a:t>5. </a:t>
            </a:r>
            <a:r>
              <a:rPr lang="en-US" dirty="0" err="1">
                <a:latin typeface="Times New Roman" pitchFamily="18" charset="0"/>
                <a:cs typeface="Times New Roman" pitchFamily="18" charset="0"/>
              </a:rPr>
              <a:t>Kiayias</a:t>
            </a:r>
            <a:r>
              <a:rPr lang="en-US" dirty="0">
                <a:latin typeface="Times New Roman" pitchFamily="18" charset="0"/>
                <a:cs typeface="Times New Roman" pitchFamily="18" charset="0"/>
              </a:rPr>
              <a:t> et al. (2024)</a:t>
            </a:r>
          </a:p>
          <a:p>
            <a:r>
              <a:rPr lang="en-US" dirty="0">
                <a:latin typeface="Times New Roman" pitchFamily="18" charset="0"/>
                <a:cs typeface="Times New Roman" pitchFamily="18" charset="0"/>
              </a:rPr>
              <a:t>Security models formalizing privacy, receipt-freeness, and verifiability in e-voting</a:t>
            </a:r>
          </a:p>
          <a:p>
            <a:r>
              <a:rPr lang="en-US" dirty="0">
                <a:latin typeface="Times New Roman" pitchFamily="18" charset="0"/>
                <a:cs typeface="Times New Roman" pitchFamily="18" charset="0"/>
              </a:rPr>
              <a:t>Based on zero-knowledge proofs and threshold cryptography</a:t>
            </a:r>
          </a:p>
          <a:p>
            <a:pPr>
              <a:buNone/>
            </a:pPr>
            <a:r>
              <a:rPr lang="en-US" dirty="0">
                <a:latin typeface="Times New Roman" pitchFamily="18" charset="0"/>
                <a:cs typeface="Times New Roman" pitchFamily="18" charset="0"/>
              </a:rPr>
              <a:t>6. </a:t>
            </a:r>
            <a:r>
              <a:rPr lang="en-US" dirty="0" err="1">
                <a:latin typeface="Times New Roman" pitchFamily="18" charset="0"/>
                <a:cs typeface="Times New Roman" pitchFamily="18" charset="0"/>
              </a:rPr>
              <a:t>Nasir</a:t>
            </a:r>
            <a:r>
              <a:rPr lang="en-US" dirty="0">
                <a:latin typeface="Times New Roman" pitchFamily="18" charset="0"/>
                <a:cs typeface="Times New Roman" pitchFamily="18" charset="0"/>
              </a:rPr>
              <a:t> et al. (2023)</a:t>
            </a:r>
          </a:p>
          <a:p>
            <a:r>
              <a:rPr lang="en-US" dirty="0">
                <a:latin typeface="Times New Roman" pitchFamily="18" charset="0"/>
                <a:cs typeface="Times New Roman" pitchFamily="18" charset="0"/>
              </a:rPr>
              <a:t>Dual </a:t>
            </a: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approach for privacy and anonymous voting storage</a:t>
            </a:r>
          </a:p>
          <a:p>
            <a:r>
              <a:rPr lang="en-US" dirty="0">
                <a:latin typeface="Times New Roman" pitchFamily="18" charset="0"/>
                <a:cs typeface="Times New Roman" pitchFamily="18" charset="0"/>
              </a:rPr>
              <a:t>Encrypted votes hashed, digitally signed, timestamp shuffled for </a:t>
            </a:r>
            <a:r>
              <a:rPr lang="en-US" dirty="0" err="1">
                <a:latin typeface="Times New Roman" pitchFamily="18" charset="0"/>
                <a:cs typeface="Times New Roman" pitchFamily="18" charset="0"/>
              </a:rPr>
              <a:t>unlinkability</a:t>
            </a:r>
            <a:endParaRPr lang="en-US"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7523" y="629870"/>
            <a:ext cx="10791091" cy="5208221"/>
          </a:xfrm>
        </p:spPr>
        <p:txBody>
          <a:bodyPr>
            <a:normAutofit fontScale="92500" lnSpcReduction="10000"/>
          </a:bodyPr>
          <a:lstStyle/>
          <a:p>
            <a:pPr>
              <a:buNone/>
            </a:pPr>
            <a:r>
              <a:rPr lang="en-US" dirty="0">
                <a:latin typeface="Times New Roman" pitchFamily="18" charset="0"/>
                <a:cs typeface="Times New Roman" pitchFamily="18" charset="0"/>
              </a:rPr>
              <a:t>C. </a:t>
            </a: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E-Voting System Designs</a:t>
            </a:r>
          </a:p>
          <a:p>
            <a:pPr>
              <a:buNone/>
            </a:pPr>
            <a:r>
              <a:rPr lang="en-US" dirty="0">
                <a:latin typeface="Times New Roman" pitchFamily="18" charset="0"/>
                <a:cs typeface="Times New Roman" pitchFamily="18" charset="0"/>
              </a:rPr>
              <a:t>7. </a:t>
            </a:r>
            <a:r>
              <a:rPr lang="en-US" dirty="0" err="1">
                <a:latin typeface="Times New Roman" pitchFamily="18" charset="0"/>
                <a:cs typeface="Times New Roman" pitchFamily="18" charset="0"/>
              </a:rPr>
              <a:t>Shaikh</a:t>
            </a:r>
            <a:r>
              <a:rPr lang="en-US" dirty="0">
                <a:latin typeface="Times New Roman" pitchFamily="18" charset="0"/>
                <a:cs typeface="Times New Roman" pitchFamily="18" charset="0"/>
              </a:rPr>
              <a:t> et al. (2025)</a:t>
            </a:r>
          </a:p>
          <a:p>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-enhanced electoral integrity model with smart contract-based voter authentication</a:t>
            </a:r>
          </a:p>
          <a:p>
            <a:r>
              <a:rPr lang="en-US" dirty="0">
                <a:latin typeface="Times New Roman" pitchFamily="18" charset="0"/>
                <a:cs typeface="Times New Roman" pitchFamily="18" charset="0"/>
              </a:rPr>
              <a:t>Performance metrics: resistant to 51% and Sybil attacks</a:t>
            </a:r>
          </a:p>
          <a:p>
            <a:pPr>
              <a:buNone/>
            </a:pPr>
            <a:r>
              <a:rPr lang="en-US" dirty="0">
                <a:latin typeface="Times New Roman" pitchFamily="18" charset="0"/>
                <a:cs typeface="Times New Roman" pitchFamily="18" charset="0"/>
              </a:rPr>
              <a:t>8. </a:t>
            </a:r>
            <a:r>
              <a:rPr lang="en-US" dirty="0" err="1">
                <a:latin typeface="Times New Roman" pitchFamily="18" charset="0"/>
                <a:cs typeface="Times New Roman" pitchFamily="18" charset="0"/>
              </a:rPr>
              <a:t>Abramov</a:t>
            </a:r>
            <a:r>
              <a:rPr lang="en-US" dirty="0">
                <a:latin typeface="Times New Roman" pitchFamily="18" charset="0"/>
                <a:cs typeface="Times New Roman" pitchFamily="18" charset="0"/>
              </a:rPr>
              <a:t> et al. (2024)</a:t>
            </a:r>
          </a:p>
          <a:p>
            <a:r>
              <a:rPr lang="en-US" dirty="0">
                <a:latin typeface="Times New Roman" pitchFamily="18" charset="0"/>
                <a:cs typeface="Times New Roman" pitchFamily="18" charset="0"/>
              </a:rPr>
              <a:t>Distributed architecture with intermediate servers ensuring scalable vote submission and tallying</a:t>
            </a:r>
          </a:p>
          <a:p>
            <a:r>
              <a:rPr lang="en-US" dirty="0">
                <a:latin typeface="Times New Roman" pitchFamily="18" charset="0"/>
                <a:cs typeface="Times New Roman" pitchFamily="18" charset="0"/>
              </a:rPr>
              <a:t>Focus: Fault tolerance, throughput on </a:t>
            </a:r>
            <a:r>
              <a:rPr lang="en-US" dirty="0" err="1">
                <a:latin typeface="Times New Roman" pitchFamily="18" charset="0"/>
                <a:cs typeface="Times New Roman" pitchFamily="18" charset="0"/>
              </a:rPr>
              <a:t>permissioned</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blockchains</a:t>
            </a:r>
            <a:endParaRPr lang="en-US" dirty="0">
              <a:latin typeface="Times New Roman" pitchFamily="18" charset="0"/>
              <a:cs typeface="Times New Roman" pitchFamily="18" charset="0"/>
            </a:endParaRPr>
          </a:p>
          <a:p>
            <a:pPr>
              <a:buNone/>
            </a:pPr>
            <a:r>
              <a:rPr lang="en-US" dirty="0">
                <a:latin typeface="Times New Roman" pitchFamily="18" charset="0"/>
                <a:cs typeface="Times New Roman" pitchFamily="18" charset="0"/>
              </a:rPr>
              <a:t>9. Sharma et al. (2022)</a:t>
            </a:r>
          </a:p>
          <a:p>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-based vote recording system eliminating paper ballots</a:t>
            </a:r>
          </a:p>
          <a:p>
            <a:r>
              <a:rPr lang="en-US" dirty="0">
                <a:latin typeface="Times New Roman" pitchFamily="18" charset="0"/>
                <a:cs typeface="Times New Roman" pitchFamily="18" charset="0"/>
              </a:rPr>
              <a:t>Deployed and tested on various network topologies</a:t>
            </a:r>
          </a:p>
          <a:p>
            <a:pPr>
              <a:buNone/>
            </a:pPr>
            <a:endParaRPr lang="en-US"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2722" y="465748"/>
            <a:ext cx="11236569" cy="5348898"/>
          </a:xfrm>
        </p:spPr>
        <p:txBody>
          <a:bodyPr/>
          <a:lstStyle/>
          <a:p>
            <a:pPr>
              <a:buNone/>
            </a:pPr>
            <a:r>
              <a:rPr lang="en-US" dirty="0">
                <a:latin typeface="Times New Roman" pitchFamily="18" charset="0"/>
                <a:cs typeface="Times New Roman" pitchFamily="18" charset="0"/>
              </a:rPr>
              <a:t>D. Security and Attack Mitigation</a:t>
            </a:r>
          </a:p>
          <a:p>
            <a:pPr>
              <a:buNone/>
            </a:pPr>
            <a:r>
              <a:rPr lang="en-US" dirty="0">
                <a:latin typeface="Times New Roman" pitchFamily="18" charset="0"/>
                <a:cs typeface="Times New Roman" pitchFamily="18" charset="0"/>
              </a:rPr>
              <a:t>10. </a:t>
            </a:r>
            <a:r>
              <a:rPr lang="en-US" dirty="0" err="1">
                <a:latin typeface="Times New Roman" pitchFamily="18" charset="0"/>
                <a:cs typeface="Times New Roman" pitchFamily="18" charset="0"/>
              </a:rPr>
              <a:t>Dashnyam</a:t>
            </a:r>
            <a:r>
              <a:rPr lang="en-US" dirty="0">
                <a:latin typeface="Times New Roman" pitchFamily="18" charset="0"/>
                <a:cs typeface="Times New Roman" pitchFamily="18" charset="0"/>
              </a:rPr>
              <a:t> et al. (2023)</a:t>
            </a:r>
          </a:p>
          <a:p>
            <a:r>
              <a:rPr lang="en-US" dirty="0">
                <a:latin typeface="Times New Roman" pitchFamily="18" charset="0"/>
                <a:cs typeface="Times New Roman" pitchFamily="18" charset="0"/>
              </a:rPr>
              <a:t>Survey of cyber-attacks in </a:t>
            </a: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e-voting and countermeasures</a:t>
            </a:r>
          </a:p>
          <a:p>
            <a:r>
              <a:rPr lang="en-US" dirty="0">
                <a:latin typeface="Times New Roman" pitchFamily="18" charset="0"/>
                <a:cs typeface="Times New Roman" pitchFamily="18" charset="0"/>
              </a:rPr>
              <a:t>Security testing via NS3 simulation</a:t>
            </a:r>
          </a:p>
          <a:p>
            <a:r>
              <a:rPr lang="en-US" dirty="0">
                <a:latin typeface="Times New Roman" pitchFamily="18" charset="0"/>
                <a:cs typeface="Times New Roman" pitchFamily="18" charset="0"/>
              </a:rPr>
              <a:t>Logistic regression and Random Forest modeling showing trust and security driving adoption</a:t>
            </a:r>
          </a:p>
          <a:p>
            <a:pPr>
              <a:buNone/>
            </a:pPr>
            <a:r>
              <a:rPr lang="en-US" dirty="0">
                <a:latin typeface="Times New Roman" pitchFamily="18" charset="0"/>
                <a:cs typeface="Times New Roman" pitchFamily="18" charset="0"/>
              </a:rPr>
              <a:t>11. </a:t>
            </a:r>
            <a:r>
              <a:rPr lang="en-US" dirty="0" err="1">
                <a:latin typeface="Times New Roman" pitchFamily="18" charset="0"/>
                <a:cs typeface="Times New Roman" pitchFamily="18" charset="0"/>
              </a:rPr>
              <a:t>Mahmood</a:t>
            </a:r>
            <a:r>
              <a:rPr lang="en-US" dirty="0">
                <a:latin typeface="Times New Roman" pitchFamily="18" charset="0"/>
                <a:cs typeface="Times New Roman" pitchFamily="18" charset="0"/>
              </a:rPr>
              <a:t> et al. (2024)</a:t>
            </a:r>
          </a:p>
          <a:p>
            <a:r>
              <a:rPr lang="en-US" dirty="0">
                <a:latin typeface="Times New Roman" pitchFamily="18" charset="0"/>
                <a:cs typeface="Times New Roman" pitchFamily="18" charset="0"/>
              </a:rPr>
              <a:t>Gesture recognition combined with </a:t>
            </a: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voting for enhanced authentication</a:t>
            </a:r>
          </a:p>
          <a:p>
            <a:r>
              <a:rPr lang="en-US" dirty="0">
                <a:latin typeface="Times New Roman" pitchFamily="18" charset="0"/>
                <a:cs typeface="Times New Roman" pitchFamily="18" charset="0"/>
              </a:rPr>
              <a:t>Impact factor: 3.4</a:t>
            </a:r>
          </a:p>
          <a:p>
            <a:pPr>
              <a:buNone/>
            </a:pPr>
            <a:endParaRPr lang="en-US"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399" y="512639"/>
            <a:ext cx="10931769" cy="5372345"/>
          </a:xfrm>
        </p:spPr>
        <p:txBody>
          <a:bodyPr>
            <a:normAutofit fontScale="92500" lnSpcReduction="10000"/>
          </a:bodyPr>
          <a:lstStyle/>
          <a:p>
            <a:pPr>
              <a:buNone/>
            </a:pPr>
            <a:r>
              <a:rPr lang="en-US" dirty="0">
                <a:latin typeface="Times New Roman" pitchFamily="18" charset="0"/>
                <a:cs typeface="Times New Roman" pitchFamily="18" charset="0"/>
              </a:rPr>
              <a:t>E. Scalability and Performance Optimization</a:t>
            </a:r>
          </a:p>
          <a:p>
            <a:pPr>
              <a:buNone/>
            </a:pPr>
            <a:r>
              <a:rPr lang="en-US" dirty="0">
                <a:latin typeface="Times New Roman" pitchFamily="18" charset="0"/>
                <a:cs typeface="Times New Roman" pitchFamily="18" charset="0"/>
              </a:rPr>
              <a:t>12. Fan et al. (2023)</a:t>
            </a:r>
          </a:p>
          <a:p>
            <a:r>
              <a:rPr lang="en-US" dirty="0" err="1">
                <a:latin typeface="Times New Roman" pitchFamily="18" charset="0"/>
                <a:cs typeface="Times New Roman" pitchFamily="18" charset="0"/>
              </a:rPr>
              <a:t>Homomorphic</a:t>
            </a:r>
            <a:r>
              <a:rPr lang="en-US" dirty="0">
                <a:latin typeface="Times New Roman" pitchFamily="18" charset="0"/>
                <a:cs typeface="Times New Roman" pitchFamily="18" charset="0"/>
              </a:rPr>
              <a:t> tallying supporting &gt;1,100 </a:t>
            </a:r>
            <a:r>
              <a:rPr lang="en-US" dirty="0" err="1">
                <a:latin typeface="Times New Roman" pitchFamily="18" charset="0"/>
                <a:cs typeface="Times New Roman" pitchFamily="18" charset="0"/>
              </a:rPr>
              <a:t>tx</a:t>
            </a:r>
            <a:r>
              <a:rPr lang="en-US" dirty="0">
                <a:latin typeface="Times New Roman" pitchFamily="18" charset="0"/>
                <a:cs typeface="Times New Roman" pitchFamily="18" charset="0"/>
              </a:rPr>
              <a:t>/sec with latency &lt; 25 ms</a:t>
            </a:r>
          </a:p>
          <a:p>
            <a:pPr>
              <a:buNone/>
            </a:pPr>
            <a:r>
              <a:rPr lang="en-US" dirty="0">
                <a:latin typeface="Times New Roman" pitchFamily="18" charset="0"/>
                <a:cs typeface="Times New Roman" pitchFamily="18" charset="0"/>
              </a:rPr>
              <a:t>13. Wang et al. (2024)</a:t>
            </a:r>
          </a:p>
          <a:p>
            <a:r>
              <a:rPr lang="en-US" dirty="0">
                <a:latin typeface="Times New Roman" pitchFamily="18" charset="0"/>
                <a:cs typeface="Times New Roman" pitchFamily="18" charset="0"/>
              </a:rPr>
              <a:t>Gas cost optimization, off-chain computations, distributed authority voting</a:t>
            </a:r>
          </a:p>
          <a:p>
            <a:r>
              <a:rPr lang="en-US" dirty="0">
                <a:latin typeface="Times New Roman" pitchFamily="18" charset="0"/>
                <a:cs typeface="Times New Roman" pitchFamily="18" charset="0"/>
              </a:rPr>
              <a:t>Reduced smart contract storage and fees</a:t>
            </a:r>
          </a:p>
          <a:p>
            <a:pPr>
              <a:buNone/>
            </a:pPr>
            <a:r>
              <a:rPr lang="en-US" dirty="0">
                <a:latin typeface="Times New Roman" pitchFamily="18" charset="0"/>
                <a:cs typeface="Times New Roman" pitchFamily="18" charset="0"/>
              </a:rPr>
              <a:t>14. </a:t>
            </a:r>
            <a:r>
              <a:rPr lang="en-US" dirty="0" err="1">
                <a:latin typeface="Times New Roman" pitchFamily="18" charset="0"/>
                <a:cs typeface="Times New Roman" pitchFamily="18" charset="0"/>
              </a:rPr>
              <a:t>Adida</a:t>
            </a:r>
            <a:r>
              <a:rPr lang="en-US" dirty="0">
                <a:latin typeface="Times New Roman" pitchFamily="18" charset="0"/>
                <a:cs typeface="Times New Roman" pitchFamily="18" charset="0"/>
              </a:rPr>
              <a:t> (2023)</a:t>
            </a:r>
          </a:p>
          <a:p>
            <a:r>
              <a:rPr lang="en-US" dirty="0">
                <a:latin typeface="Times New Roman" pitchFamily="18" charset="0"/>
                <a:cs typeface="Times New Roman" pitchFamily="18" charset="0"/>
              </a:rPr>
              <a:t>Helios system scalability bottlenecks in mix-net shuffling for large elections</a:t>
            </a:r>
          </a:p>
          <a:p>
            <a:r>
              <a:rPr lang="en-US" dirty="0">
                <a:latin typeface="Times New Roman" pitchFamily="18" charset="0"/>
                <a:cs typeface="Times New Roman" pitchFamily="18" charset="0"/>
              </a:rPr>
              <a:t>Calls for higher-performance </a:t>
            </a: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-based aggregates</a:t>
            </a:r>
          </a:p>
          <a:p>
            <a:pPr>
              <a:buNone/>
            </a:pPr>
            <a:r>
              <a:rPr lang="en-US" dirty="0">
                <a:latin typeface="Times New Roman" pitchFamily="18" charset="0"/>
                <a:cs typeface="Times New Roman" pitchFamily="18" charset="0"/>
              </a:rPr>
              <a:t>15. </a:t>
            </a:r>
            <a:r>
              <a:rPr lang="en-US" dirty="0" err="1">
                <a:latin typeface="Times New Roman" pitchFamily="18" charset="0"/>
                <a:cs typeface="Times New Roman" pitchFamily="18" charset="0"/>
              </a:rPr>
              <a:t>Mukherjee</a:t>
            </a:r>
            <a:r>
              <a:rPr lang="en-US" dirty="0">
                <a:latin typeface="Times New Roman" pitchFamily="18" charset="0"/>
                <a:cs typeface="Times New Roman" pitchFamily="18" charset="0"/>
              </a:rPr>
              <a:t> et al. (2024)</a:t>
            </a:r>
          </a:p>
          <a:p>
            <a:r>
              <a:rPr lang="en-US" dirty="0">
                <a:latin typeface="Times New Roman" pitchFamily="18" charset="0"/>
                <a:cs typeface="Times New Roman" pitchFamily="18" charset="0"/>
              </a:rPr>
              <a:t>India </a:t>
            </a:r>
            <a:r>
              <a:rPr lang="en-US" dirty="0" err="1">
                <a:latin typeface="Times New Roman" pitchFamily="18" charset="0"/>
                <a:cs typeface="Times New Roman" pitchFamily="18" charset="0"/>
              </a:rPr>
              <a:t>Lok</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Sabha</a:t>
            </a:r>
            <a:r>
              <a:rPr lang="en-US" dirty="0">
                <a:latin typeface="Times New Roman" pitchFamily="18" charset="0"/>
                <a:cs typeface="Times New Roman" pitchFamily="18" charset="0"/>
              </a:rPr>
              <a:t> 2024 election dataset used to benchmark real-time electronic voting systems</a:t>
            </a:r>
          </a:p>
          <a:p>
            <a:pPr>
              <a:buNone/>
            </a:pPr>
            <a:endParaRPr 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954" y="395409"/>
            <a:ext cx="11002107" cy="5114437"/>
          </a:xfrm>
        </p:spPr>
        <p:txBody>
          <a:bodyPr/>
          <a:lstStyle/>
          <a:p>
            <a:pPr>
              <a:buNone/>
            </a:pPr>
            <a:r>
              <a:rPr lang="en-US" dirty="0">
                <a:latin typeface="Times New Roman" pitchFamily="18" charset="0"/>
                <a:cs typeface="Times New Roman" pitchFamily="18" charset="0"/>
              </a:rPr>
              <a:t>F. Quantitative Metrics Summary Table</a:t>
            </a:r>
          </a:p>
          <a:p>
            <a:pPr>
              <a:buNone/>
            </a:pPr>
            <a:endParaRPr lang="en-US" dirty="0">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492369" y="1141697"/>
          <a:ext cx="11019694" cy="4743290"/>
        </p:xfrm>
        <a:graphic>
          <a:graphicData uri="http://schemas.openxmlformats.org/drawingml/2006/table">
            <a:tbl>
              <a:tblPr firstRow="1" bandRow="1">
                <a:tableStyleId>{5C22544A-7EE6-4342-B048-85BDC9FD1C3A}</a:tableStyleId>
              </a:tblPr>
              <a:tblGrid>
                <a:gridCol w="1574242">
                  <a:extLst>
                    <a:ext uri="{9D8B030D-6E8A-4147-A177-3AD203B41FA5}">
                      <a16:colId xmlns:a16="http://schemas.microsoft.com/office/drawing/2014/main" val="20000"/>
                    </a:ext>
                  </a:extLst>
                </a:gridCol>
                <a:gridCol w="1574242">
                  <a:extLst>
                    <a:ext uri="{9D8B030D-6E8A-4147-A177-3AD203B41FA5}">
                      <a16:colId xmlns:a16="http://schemas.microsoft.com/office/drawing/2014/main" val="20001"/>
                    </a:ext>
                  </a:extLst>
                </a:gridCol>
                <a:gridCol w="1574242">
                  <a:extLst>
                    <a:ext uri="{9D8B030D-6E8A-4147-A177-3AD203B41FA5}">
                      <a16:colId xmlns:a16="http://schemas.microsoft.com/office/drawing/2014/main" val="20002"/>
                    </a:ext>
                  </a:extLst>
                </a:gridCol>
                <a:gridCol w="1574242">
                  <a:extLst>
                    <a:ext uri="{9D8B030D-6E8A-4147-A177-3AD203B41FA5}">
                      <a16:colId xmlns:a16="http://schemas.microsoft.com/office/drawing/2014/main" val="20003"/>
                    </a:ext>
                  </a:extLst>
                </a:gridCol>
                <a:gridCol w="1574242">
                  <a:extLst>
                    <a:ext uri="{9D8B030D-6E8A-4147-A177-3AD203B41FA5}">
                      <a16:colId xmlns:a16="http://schemas.microsoft.com/office/drawing/2014/main" val="20004"/>
                    </a:ext>
                  </a:extLst>
                </a:gridCol>
                <a:gridCol w="1574242">
                  <a:extLst>
                    <a:ext uri="{9D8B030D-6E8A-4147-A177-3AD203B41FA5}">
                      <a16:colId xmlns:a16="http://schemas.microsoft.com/office/drawing/2014/main" val="20005"/>
                    </a:ext>
                  </a:extLst>
                </a:gridCol>
                <a:gridCol w="1574242">
                  <a:extLst>
                    <a:ext uri="{9D8B030D-6E8A-4147-A177-3AD203B41FA5}">
                      <a16:colId xmlns:a16="http://schemas.microsoft.com/office/drawing/2014/main" val="20006"/>
                    </a:ext>
                  </a:extLst>
                </a:gridCol>
              </a:tblGrid>
              <a:tr h="757608">
                <a:tc>
                  <a:txBody>
                    <a:bodyPr/>
                    <a:lstStyle/>
                    <a:p>
                      <a:pPr algn="l"/>
                      <a:r>
                        <a:rPr lang="en-US" b="1" dirty="0">
                          <a:latin typeface="Times New Roman" pitchFamily="18" charset="0"/>
                          <a:cs typeface="Times New Roman" pitchFamily="18" charset="0"/>
                        </a:rPr>
                        <a:t>Paper</a:t>
                      </a:r>
                    </a:p>
                  </a:txBody>
                  <a:tcPr marL="76200" marR="76200" marT="76200" marB="76200" anchor="ctr"/>
                </a:tc>
                <a:tc>
                  <a:txBody>
                    <a:bodyPr/>
                    <a:lstStyle/>
                    <a:p>
                      <a:pPr algn="l"/>
                      <a:r>
                        <a:rPr lang="en-US" b="1">
                          <a:latin typeface="Times New Roman" pitchFamily="18" charset="0"/>
                          <a:cs typeface="Times New Roman" pitchFamily="18" charset="0"/>
                        </a:rPr>
                        <a:t>Year</a:t>
                      </a:r>
                    </a:p>
                  </a:txBody>
                  <a:tcPr marL="76200" marR="76200" marT="76200" marB="76200" anchor="ctr"/>
                </a:tc>
                <a:tc>
                  <a:txBody>
                    <a:bodyPr/>
                    <a:lstStyle/>
                    <a:p>
                      <a:pPr algn="l"/>
                      <a:r>
                        <a:rPr lang="en-US" b="1">
                          <a:latin typeface="Times New Roman" pitchFamily="18" charset="0"/>
                          <a:cs typeface="Times New Roman" pitchFamily="18" charset="0"/>
                        </a:rPr>
                        <a:t>Impact Factor</a:t>
                      </a:r>
                    </a:p>
                  </a:txBody>
                  <a:tcPr marL="76200" marR="76200" marT="76200" marB="76200" anchor="ctr"/>
                </a:tc>
                <a:tc>
                  <a:txBody>
                    <a:bodyPr/>
                    <a:lstStyle/>
                    <a:p>
                      <a:pPr algn="l"/>
                      <a:r>
                        <a:rPr lang="en-US" b="1" dirty="0">
                          <a:latin typeface="Times New Roman" pitchFamily="18" charset="0"/>
                          <a:cs typeface="Times New Roman" pitchFamily="18" charset="0"/>
                        </a:rPr>
                        <a:t>Cite Score</a:t>
                      </a:r>
                    </a:p>
                  </a:txBody>
                  <a:tcPr marL="76200" marR="76200" marT="76200" marB="76200" anchor="ctr"/>
                </a:tc>
                <a:tc>
                  <a:txBody>
                    <a:bodyPr/>
                    <a:lstStyle/>
                    <a:p>
                      <a:pPr algn="l"/>
                      <a:r>
                        <a:rPr lang="en-US" b="1">
                          <a:latin typeface="Times New Roman" pitchFamily="18" charset="0"/>
                          <a:cs typeface="Times New Roman" pitchFamily="18" charset="0"/>
                        </a:rPr>
                        <a:t>Throughput (tx/sec)</a:t>
                      </a:r>
                    </a:p>
                  </a:txBody>
                  <a:tcPr marL="76200" marR="76200" marT="76200" marB="76200" anchor="ctr"/>
                </a:tc>
                <a:tc>
                  <a:txBody>
                    <a:bodyPr/>
                    <a:lstStyle/>
                    <a:p>
                      <a:pPr algn="l"/>
                      <a:r>
                        <a:rPr lang="en-US" b="1">
                          <a:latin typeface="Times New Roman" pitchFamily="18" charset="0"/>
                          <a:cs typeface="Times New Roman" pitchFamily="18" charset="0"/>
                        </a:rPr>
                        <a:t>Latency (ms)</a:t>
                      </a:r>
                    </a:p>
                  </a:txBody>
                  <a:tcPr marL="76200" marR="76200" marT="76200" marB="76200" anchor="ctr"/>
                </a:tc>
                <a:tc>
                  <a:txBody>
                    <a:bodyPr/>
                    <a:lstStyle/>
                    <a:p>
                      <a:pPr algn="l"/>
                      <a:r>
                        <a:rPr lang="en-US" b="1">
                          <a:latin typeface="Times New Roman" pitchFamily="18" charset="0"/>
                          <a:cs typeface="Times New Roman" pitchFamily="18" charset="0"/>
                        </a:rPr>
                        <a:t>Security Metrics</a:t>
                      </a:r>
                    </a:p>
                  </a:txBody>
                  <a:tcPr marL="76200" marR="76200" marT="76200" marB="76200" anchor="ctr"/>
                </a:tc>
                <a:extLst>
                  <a:ext uri="{0D108BD9-81ED-4DB2-BD59-A6C34878D82A}">
                    <a16:rowId xmlns:a16="http://schemas.microsoft.com/office/drawing/2014/main" val="10000"/>
                  </a:ext>
                </a:extLst>
              </a:tr>
              <a:tr h="625851">
                <a:tc>
                  <a:txBody>
                    <a:bodyPr/>
                    <a:lstStyle/>
                    <a:p>
                      <a:pPr algn="l"/>
                      <a:r>
                        <a:rPr lang="en-US" sz="1400" b="0">
                          <a:latin typeface="Times New Roman" pitchFamily="18" charset="0"/>
                          <a:cs typeface="Times New Roman" pitchFamily="18" charset="0"/>
                        </a:rPr>
                        <a:t>Fan et al.</a:t>
                      </a:r>
                    </a:p>
                  </a:txBody>
                  <a:tcPr marL="76200" marR="76200" marT="76200" marB="76200" anchor="ctr"/>
                </a:tc>
                <a:tc>
                  <a:txBody>
                    <a:bodyPr/>
                    <a:lstStyle/>
                    <a:p>
                      <a:pPr algn="l"/>
                      <a:r>
                        <a:rPr lang="en-US" sz="1400" b="0">
                          <a:latin typeface="Times New Roman" pitchFamily="18" charset="0"/>
                          <a:cs typeface="Times New Roman" pitchFamily="18" charset="0"/>
                        </a:rPr>
                        <a:t>2023</a:t>
                      </a:r>
                    </a:p>
                  </a:txBody>
                  <a:tcPr marL="76200" marR="76200" marT="76200" marB="76200" anchor="ctr"/>
                </a:tc>
                <a:tc>
                  <a:txBody>
                    <a:bodyPr/>
                    <a:lstStyle/>
                    <a:p>
                      <a:pPr algn="l"/>
                      <a:r>
                        <a:rPr lang="en-US" sz="1400" b="0">
                          <a:latin typeface="Times New Roman" pitchFamily="18" charset="0"/>
                          <a:cs typeface="Times New Roman" pitchFamily="18" charset="0"/>
                        </a:rPr>
                        <a:t>8.9</a:t>
                      </a:r>
                    </a:p>
                  </a:txBody>
                  <a:tcPr marL="76200" marR="76200" marT="76200" marB="76200" anchor="ctr"/>
                </a:tc>
                <a:tc>
                  <a:txBody>
                    <a:bodyPr/>
                    <a:lstStyle/>
                    <a:p>
                      <a:pPr algn="l"/>
                      <a:r>
                        <a:rPr lang="en-US" sz="1400" b="0">
                          <a:latin typeface="Times New Roman" pitchFamily="18" charset="0"/>
                          <a:cs typeface="Times New Roman" pitchFamily="18" charset="0"/>
                        </a:rPr>
                        <a:t>14.2</a:t>
                      </a:r>
                    </a:p>
                  </a:txBody>
                  <a:tcPr marL="76200" marR="76200" marT="76200" marB="76200" anchor="ctr"/>
                </a:tc>
                <a:tc>
                  <a:txBody>
                    <a:bodyPr/>
                    <a:lstStyle/>
                    <a:p>
                      <a:pPr algn="l"/>
                      <a:r>
                        <a:rPr lang="en-US" sz="1400" b="0">
                          <a:latin typeface="Times New Roman" pitchFamily="18" charset="0"/>
                          <a:cs typeface="Times New Roman" pitchFamily="18" charset="0"/>
                        </a:rPr>
                        <a:t>1,100+</a:t>
                      </a:r>
                    </a:p>
                  </a:txBody>
                  <a:tcPr marL="76200" marR="76200" marT="76200" marB="76200" anchor="ctr"/>
                </a:tc>
                <a:tc>
                  <a:txBody>
                    <a:bodyPr/>
                    <a:lstStyle/>
                    <a:p>
                      <a:pPr algn="l"/>
                      <a:r>
                        <a:rPr lang="en-US" sz="1400" b="0">
                          <a:latin typeface="Times New Roman" pitchFamily="18" charset="0"/>
                          <a:cs typeface="Times New Roman" pitchFamily="18" charset="0"/>
                        </a:rPr>
                        <a:t>&lt;25</a:t>
                      </a:r>
                    </a:p>
                  </a:txBody>
                  <a:tcPr marL="76200" marR="76200" marT="76200" marB="76200" anchor="ctr"/>
                </a:tc>
                <a:tc>
                  <a:txBody>
                    <a:bodyPr/>
                    <a:lstStyle/>
                    <a:p>
                      <a:pPr algn="l"/>
                      <a:r>
                        <a:rPr lang="en-US" sz="1400" b="0">
                          <a:latin typeface="Times New Roman" pitchFamily="18" charset="0"/>
                          <a:cs typeface="Times New Roman" pitchFamily="18" charset="0"/>
                        </a:rPr>
                        <a:t>Threshold decryption, ZKPs</a:t>
                      </a:r>
                    </a:p>
                  </a:txBody>
                  <a:tcPr marL="76200" marR="76200" marT="76200" marB="76200" anchor="ctr"/>
                </a:tc>
                <a:extLst>
                  <a:ext uri="{0D108BD9-81ED-4DB2-BD59-A6C34878D82A}">
                    <a16:rowId xmlns:a16="http://schemas.microsoft.com/office/drawing/2014/main" val="10001"/>
                  </a:ext>
                </a:extLst>
              </a:tr>
              <a:tr h="625851">
                <a:tc>
                  <a:txBody>
                    <a:bodyPr/>
                    <a:lstStyle/>
                    <a:p>
                      <a:pPr algn="l"/>
                      <a:r>
                        <a:rPr lang="en-US" sz="1400" b="0">
                          <a:latin typeface="Times New Roman" pitchFamily="18" charset="0"/>
                          <a:cs typeface="Times New Roman" pitchFamily="18" charset="0"/>
                        </a:rPr>
                        <a:t>Wang et al.</a:t>
                      </a:r>
                    </a:p>
                  </a:txBody>
                  <a:tcPr marL="76200" marR="76200" marT="76200" marB="76200" anchor="ctr"/>
                </a:tc>
                <a:tc>
                  <a:txBody>
                    <a:bodyPr/>
                    <a:lstStyle/>
                    <a:p>
                      <a:pPr algn="l"/>
                      <a:r>
                        <a:rPr lang="en-US" sz="1400" b="0">
                          <a:latin typeface="Times New Roman" pitchFamily="18" charset="0"/>
                          <a:cs typeface="Times New Roman" pitchFamily="18" charset="0"/>
                        </a:rPr>
                        <a:t>2024</a:t>
                      </a:r>
                    </a:p>
                  </a:txBody>
                  <a:tcPr marL="76200" marR="76200" marT="76200" marB="76200" anchor="ctr"/>
                </a:tc>
                <a:tc>
                  <a:txBody>
                    <a:bodyPr/>
                    <a:lstStyle/>
                    <a:p>
                      <a:pPr algn="l"/>
                      <a:r>
                        <a:rPr lang="en-US" sz="1400" b="0">
                          <a:latin typeface="Times New Roman" pitchFamily="18" charset="0"/>
                          <a:cs typeface="Times New Roman" pitchFamily="18" charset="0"/>
                        </a:rPr>
                        <a:t>3.7</a:t>
                      </a:r>
                    </a:p>
                  </a:txBody>
                  <a:tcPr marL="76200" marR="76200" marT="76200" marB="76200" anchor="ctr"/>
                </a:tc>
                <a:tc>
                  <a:txBody>
                    <a:bodyPr/>
                    <a:lstStyle/>
                    <a:p>
                      <a:pPr algn="l"/>
                      <a:r>
                        <a:rPr lang="en-US" sz="1400" b="0">
                          <a:latin typeface="Times New Roman" pitchFamily="18" charset="0"/>
                          <a:cs typeface="Times New Roman" pitchFamily="18" charset="0"/>
                        </a:rPr>
                        <a:t>6.4</a:t>
                      </a:r>
                    </a:p>
                  </a:txBody>
                  <a:tcPr marL="76200" marR="76200" marT="76200" marB="76200" anchor="ctr"/>
                </a:tc>
                <a:tc>
                  <a:txBody>
                    <a:bodyPr/>
                    <a:lstStyle/>
                    <a:p>
                      <a:pPr algn="l"/>
                      <a:r>
                        <a:rPr lang="en-US" sz="1400" b="0">
                          <a:latin typeface="Times New Roman" pitchFamily="18" charset="0"/>
                          <a:cs typeface="Times New Roman" pitchFamily="18" charset="0"/>
                        </a:rPr>
                        <a:t>1,100+</a:t>
                      </a:r>
                    </a:p>
                  </a:txBody>
                  <a:tcPr marL="76200" marR="76200" marT="76200" marB="76200" anchor="ctr"/>
                </a:tc>
                <a:tc>
                  <a:txBody>
                    <a:bodyPr/>
                    <a:lstStyle/>
                    <a:p>
                      <a:pPr algn="l"/>
                      <a:r>
                        <a:rPr lang="en-US" sz="1400" b="0">
                          <a:latin typeface="Times New Roman" pitchFamily="18" charset="0"/>
                          <a:cs typeface="Times New Roman" pitchFamily="18" charset="0"/>
                        </a:rPr>
                        <a:t>&lt;30</a:t>
                      </a:r>
                    </a:p>
                  </a:txBody>
                  <a:tcPr marL="76200" marR="76200" marT="76200" marB="76200" anchor="ctr"/>
                </a:tc>
                <a:tc>
                  <a:txBody>
                    <a:bodyPr/>
                    <a:lstStyle/>
                    <a:p>
                      <a:pPr algn="l"/>
                      <a:r>
                        <a:rPr lang="en-US" sz="1400" b="0">
                          <a:latin typeface="Times New Roman" pitchFamily="18" charset="0"/>
                          <a:cs typeface="Times New Roman" pitchFamily="18" charset="0"/>
                        </a:rPr>
                        <a:t>Multi-authority blind sigs</a:t>
                      </a:r>
                    </a:p>
                  </a:txBody>
                  <a:tcPr marL="76200" marR="76200" marT="76200" marB="76200" anchor="ctr"/>
                </a:tc>
                <a:extLst>
                  <a:ext uri="{0D108BD9-81ED-4DB2-BD59-A6C34878D82A}">
                    <a16:rowId xmlns:a16="http://schemas.microsoft.com/office/drawing/2014/main" val="10002"/>
                  </a:ext>
                </a:extLst>
              </a:tr>
              <a:tr h="625851">
                <a:tc>
                  <a:txBody>
                    <a:bodyPr/>
                    <a:lstStyle/>
                    <a:p>
                      <a:pPr algn="l"/>
                      <a:r>
                        <a:rPr lang="en-US" sz="1400" b="0">
                          <a:latin typeface="Times New Roman" pitchFamily="18" charset="0"/>
                          <a:cs typeface="Times New Roman" pitchFamily="18" charset="0"/>
                        </a:rPr>
                        <a:t>Shaikh et al.</a:t>
                      </a:r>
                    </a:p>
                  </a:txBody>
                  <a:tcPr marL="76200" marR="76200" marT="76200" marB="76200" anchor="ctr"/>
                </a:tc>
                <a:tc>
                  <a:txBody>
                    <a:bodyPr/>
                    <a:lstStyle/>
                    <a:p>
                      <a:pPr algn="l"/>
                      <a:r>
                        <a:rPr lang="en-US" sz="1400" b="0">
                          <a:latin typeface="Times New Roman" pitchFamily="18" charset="0"/>
                          <a:cs typeface="Times New Roman" pitchFamily="18" charset="0"/>
                        </a:rPr>
                        <a:t>2025</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51% attack, Sybil resistance</a:t>
                      </a:r>
                    </a:p>
                  </a:txBody>
                  <a:tcPr marL="76200" marR="76200" marT="76200" marB="76200" anchor="ctr"/>
                </a:tc>
                <a:extLst>
                  <a:ext uri="{0D108BD9-81ED-4DB2-BD59-A6C34878D82A}">
                    <a16:rowId xmlns:a16="http://schemas.microsoft.com/office/drawing/2014/main" val="10003"/>
                  </a:ext>
                </a:extLst>
              </a:tr>
              <a:tr h="625851">
                <a:tc>
                  <a:txBody>
                    <a:bodyPr/>
                    <a:lstStyle/>
                    <a:p>
                      <a:pPr algn="l"/>
                      <a:r>
                        <a:rPr lang="en-US" sz="1400" b="0">
                          <a:latin typeface="Times New Roman" pitchFamily="18" charset="0"/>
                          <a:cs typeface="Times New Roman" pitchFamily="18" charset="0"/>
                        </a:rPr>
                        <a:t>Dashnyam et al.</a:t>
                      </a:r>
                    </a:p>
                  </a:txBody>
                  <a:tcPr marL="76200" marR="76200" marT="76200" marB="76200" anchor="ctr"/>
                </a:tc>
                <a:tc>
                  <a:txBody>
                    <a:bodyPr/>
                    <a:lstStyle/>
                    <a:p>
                      <a:pPr algn="l"/>
                      <a:r>
                        <a:rPr lang="en-US" sz="1400" b="0">
                          <a:latin typeface="Times New Roman" pitchFamily="18" charset="0"/>
                          <a:cs typeface="Times New Roman" pitchFamily="18" charset="0"/>
                        </a:rPr>
                        <a:t>2023</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Cyberattack simulation</a:t>
                      </a:r>
                    </a:p>
                  </a:txBody>
                  <a:tcPr marL="76200" marR="76200" marT="76200" marB="76200" anchor="ctr"/>
                </a:tc>
                <a:extLst>
                  <a:ext uri="{0D108BD9-81ED-4DB2-BD59-A6C34878D82A}">
                    <a16:rowId xmlns:a16="http://schemas.microsoft.com/office/drawing/2014/main" val="10004"/>
                  </a:ext>
                </a:extLst>
              </a:tr>
              <a:tr h="856427">
                <a:tc>
                  <a:txBody>
                    <a:bodyPr/>
                    <a:lstStyle/>
                    <a:p>
                      <a:pPr algn="l"/>
                      <a:r>
                        <a:rPr lang="en-US" sz="1400" b="0">
                          <a:latin typeface="Times New Roman" pitchFamily="18" charset="0"/>
                          <a:cs typeface="Times New Roman" pitchFamily="18" charset="0"/>
                        </a:rPr>
                        <a:t>Mahmood et al.</a:t>
                      </a:r>
                    </a:p>
                  </a:txBody>
                  <a:tcPr marL="76200" marR="76200" marT="76200" marB="76200" anchor="ctr"/>
                </a:tc>
                <a:tc>
                  <a:txBody>
                    <a:bodyPr/>
                    <a:lstStyle/>
                    <a:p>
                      <a:pPr algn="l"/>
                      <a:r>
                        <a:rPr lang="en-US" sz="1400" b="0">
                          <a:latin typeface="Times New Roman" pitchFamily="18" charset="0"/>
                          <a:cs typeface="Times New Roman" pitchFamily="18" charset="0"/>
                        </a:rPr>
                        <a:t>2024</a:t>
                      </a:r>
                    </a:p>
                  </a:txBody>
                  <a:tcPr marL="76200" marR="76200" marT="76200" marB="76200" anchor="ctr"/>
                </a:tc>
                <a:tc>
                  <a:txBody>
                    <a:bodyPr/>
                    <a:lstStyle/>
                    <a:p>
                      <a:pPr algn="l"/>
                      <a:r>
                        <a:rPr lang="en-US" sz="1400" b="0">
                          <a:latin typeface="Times New Roman" pitchFamily="18" charset="0"/>
                          <a:cs typeface="Times New Roman" pitchFamily="18" charset="0"/>
                        </a:rPr>
                        <a:t>3.4</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N/A</a:t>
                      </a:r>
                    </a:p>
                  </a:txBody>
                  <a:tcPr marL="76200" marR="76200" marT="76200" marB="76200" anchor="ctr"/>
                </a:tc>
                <a:tc>
                  <a:txBody>
                    <a:bodyPr/>
                    <a:lstStyle/>
                    <a:p>
                      <a:pPr algn="l"/>
                      <a:r>
                        <a:rPr lang="en-US" sz="1400" b="0">
                          <a:latin typeface="Times New Roman" pitchFamily="18" charset="0"/>
                          <a:cs typeface="Times New Roman" pitchFamily="18" charset="0"/>
                        </a:rPr>
                        <a:t>Gesture recognition security</a:t>
                      </a:r>
                    </a:p>
                  </a:txBody>
                  <a:tcPr marL="76200" marR="76200" marT="76200" marB="76200" anchor="ctr"/>
                </a:tc>
                <a:extLst>
                  <a:ext uri="{0D108BD9-81ED-4DB2-BD59-A6C34878D82A}">
                    <a16:rowId xmlns:a16="http://schemas.microsoft.com/office/drawing/2014/main" val="10005"/>
                  </a:ext>
                </a:extLst>
              </a:tr>
              <a:tr h="625851">
                <a:tc>
                  <a:txBody>
                    <a:bodyPr/>
                    <a:lstStyle/>
                    <a:p>
                      <a:pPr algn="l"/>
                      <a:r>
                        <a:rPr lang="en-US" sz="1400" b="0">
                          <a:latin typeface="Times New Roman" pitchFamily="18" charset="0"/>
                          <a:cs typeface="Times New Roman" pitchFamily="18" charset="0"/>
                        </a:rPr>
                        <a:t>Paper</a:t>
                      </a:r>
                    </a:p>
                  </a:txBody>
                  <a:tcPr marL="76200" marR="76200" marT="76200" marB="76200" anchor="ctr"/>
                </a:tc>
                <a:tc>
                  <a:txBody>
                    <a:bodyPr/>
                    <a:lstStyle/>
                    <a:p>
                      <a:pPr algn="l"/>
                      <a:r>
                        <a:rPr lang="en-US" sz="1400" b="0" dirty="0">
                          <a:latin typeface="Times New Roman" pitchFamily="18" charset="0"/>
                          <a:cs typeface="Times New Roman" pitchFamily="18" charset="0"/>
                        </a:rPr>
                        <a:t>Year</a:t>
                      </a:r>
                    </a:p>
                  </a:txBody>
                  <a:tcPr marL="76200" marR="76200" marT="76200" marB="76200" anchor="ctr"/>
                </a:tc>
                <a:tc>
                  <a:txBody>
                    <a:bodyPr/>
                    <a:lstStyle/>
                    <a:p>
                      <a:pPr algn="l"/>
                      <a:r>
                        <a:rPr lang="en-US" sz="1400" b="0">
                          <a:latin typeface="Times New Roman" pitchFamily="18" charset="0"/>
                          <a:cs typeface="Times New Roman" pitchFamily="18" charset="0"/>
                        </a:rPr>
                        <a:t>Impact Factor</a:t>
                      </a:r>
                    </a:p>
                  </a:txBody>
                  <a:tcPr marL="76200" marR="76200" marT="76200" marB="76200" anchor="ctr"/>
                </a:tc>
                <a:tc>
                  <a:txBody>
                    <a:bodyPr/>
                    <a:lstStyle/>
                    <a:p>
                      <a:pPr algn="l"/>
                      <a:r>
                        <a:rPr lang="en-US" sz="1400" b="0">
                          <a:latin typeface="Times New Roman" pitchFamily="18" charset="0"/>
                          <a:cs typeface="Times New Roman" pitchFamily="18" charset="0"/>
                        </a:rPr>
                        <a:t>Cite Score</a:t>
                      </a:r>
                    </a:p>
                  </a:txBody>
                  <a:tcPr marL="76200" marR="76200" marT="76200" marB="76200" anchor="ctr"/>
                </a:tc>
                <a:tc>
                  <a:txBody>
                    <a:bodyPr/>
                    <a:lstStyle/>
                    <a:p>
                      <a:pPr algn="l"/>
                      <a:r>
                        <a:rPr lang="en-US" sz="1400" b="0">
                          <a:latin typeface="Times New Roman" pitchFamily="18" charset="0"/>
                          <a:cs typeface="Times New Roman" pitchFamily="18" charset="0"/>
                        </a:rPr>
                        <a:t>Throughput (tx/sec)</a:t>
                      </a:r>
                    </a:p>
                  </a:txBody>
                  <a:tcPr marL="76200" marR="76200" marT="76200" marB="76200" anchor="ctr"/>
                </a:tc>
                <a:tc>
                  <a:txBody>
                    <a:bodyPr/>
                    <a:lstStyle/>
                    <a:p>
                      <a:pPr algn="l"/>
                      <a:r>
                        <a:rPr lang="en-US" sz="1400" b="0">
                          <a:latin typeface="Times New Roman" pitchFamily="18" charset="0"/>
                          <a:cs typeface="Times New Roman" pitchFamily="18" charset="0"/>
                        </a:rPr>
                        <a:t>Latency (ms)</a:t>
                      </a:r>
                    </a:p>
                  </a:txBody>
                  <a:tcPr marL="76200" marR="76200" marT="76200" marB="76200" anchor="ctr"/>
                </a:tc>
                <a:tc>
                  <a:txBody>
                    <a:bodyPr/>
                    <a:lstStyle/>
                    <a:p>
                      <a:pPr algn="l"/>
                      <a:r>
                        <a:rPr lang="en-US" sz="1400" b="0" dirty="0">
                          <a:latin typeface="Times New Roman" pitchFamily="18" charset="0"/>
                          <a:cs typeface="Times New Roman" pitchFamily="18" charset="0"/>
                        </a:rPr>
                        <a:t>Security Metrics</a:t>
                      </a:r>
                    </a:p>
                  </a:txBody>
                  <a:tcPr marL="76200" marR="76200" marT="76200" marB="7620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85958-B7C8-54C4-C244-C368325BB167}"/>
              </a:ext>
            </a:extLst>
          </p:cNvPr>
          <p:cNvSpPr>
            <a:spLocks noGrp="1"/>
          </p:cNvSpPr>
          <p:nvPr>
            <p:ph type="title"/>
          </p:nvPr>
        </p:nvSpPr>
        <p:spPr>
          <a:xfrm>
            <a:off x="838200" y="365127"/>
            <a:ext cx="10515600" cy="625473"/>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Challenges</a:t>
            </a:r>
            <a:endParaRPr lang="en-US" sz="3600"/>
          </a:p>
        </p:txBody>
      </p:sp>
      <p:sp>
        <p:nvSpPr>
          <p:cNvPr id="3" name="Content Placeholder 2">
            <a:extLst>
              <a:ext uri="{FF2B5EF4-FFF2-40B4-BE49-F238E27FC236}">
                <a16:creationId xmlns:a16="http://schemas.microsoft.com/office/drawing/2014/main" id="{BA3B7DAE-73A7-655F-AA76-C50E8C8A0D2E}"/>
              </a:ext>
            </a:extLst>
          </p:cNvPr>
          <p:cNvSpPr>
            <a:spLocks noGrp="1"/>
          </p:cNvSpPr>
          <p:nvPr>
            <p:ph idx="1"/>
          </p:nvPr>
        </p:nvSpPr>
        <p:spPr>
          <a:xfrm>
            <a:off x="838200" y="1253331"/>
            <a:ext cx="10515600" cy="4351338"/>
          </a:xfrm>
        </p:spPr>
        <p:txBody>
          <a:bodyPr>
            <a:normAutofit lnSpcReduction="10000"/>
          </a:bodyPr>
          <a:lstStyle/>
          <a:p>
            <a:r>
              <a:rPr lang="en-US" sz="2400" dirty="0">
                <a:latin typeface="Times New Roman" pitchFamily="18" charset="0"/>
                <a:cs typeface="Times New Roman" pitchFamily="18" charset="0"/>
              </a:rPr>
              <a:t>Scalability issues in privacy-preserving tallying for large voter sets and mixed ballot types.</a:t>
            </a:r>
          </a:p>
          <a:p>
            <a:r>
              <a:rPr lang="en-US" sz="2400" dirty="0">
                <a:latin typeface="Times New Roman" pitchFamily="18" charset="0"/>
                <a:cs typeface="Times New Roman" pitchFamily="18" charset="0"/>
              </a:rPr>
              <a:t>Decentralized credential issuance needs secure, scalable multi-authority coordination.</a:t>
            </a:r>
          </a:p>
          <a:p>
            <a:r>
              <a:rPr lang="en-US" sz="2400" dirty="0">
                <a:latin typeface="Times New Roman" pitchFamily="18" charset="0"/>
                <a:cs typeface="Times New Roman" pitchFamily="18" charset="0"/>
              </a:rPr>
              <a:t>High on-chain computational costs increase latency and transaction fees on public </a:t>
            </a:r>
            <a:r>
              <a:rPr lang="en-US" sz="2400" dirty="0" err="1">
                <a:latin typeface="Times New Roman" pitchFamily="18" charset="0"/>
                <a:cs typeface="Times New Roman" pitchFamily="18" charset="0"/>
              </a:rPr>
              <a:t>blockchains</a:t>
            </a:r>
            <a:r>
              <a:rPr lang="en-US" sz="2400" dirty="0">
                <a:latin typeface="Times New Roman" pitchFamily="18" charset="0"/>
                <a:cs typeface="Times New Roman" pitchFamily="18" charset="0"/>
              </a:rPr>
              <a:t>.</a:t>
            </a:r>
          </a:p>
          <a:p>
            <a:r>
              <a:rPr lang="en-US" sz="2400" dirty="0">
                <a:latin typeface="Times New Roman" pitchFamily="18" charset="0"/>
                <a:cs typeface="Times New Roman" pitchFamily="18" charset="0"/>
              </a:rPr>
              <a:t>Lack of large, real-world datasets limits empirical validation and benchmarking.</a:t>
            </a:r>
          </a:p>
          <a:p>
            <a:r>
              <a:rPr lang="en-US" sz="2400" dirty="0">
                <a:latin typeface="Times New Roman" pitchFamily="18" charset="0"/>
                <a:cs typeface="Times New Roman" pitchFamily="18" charset="0"/>
              </a:rPr>
              <a:t>Trade-offs between verifiability and voter anonymity complicate system design.</a:t>
            </a:r>
          </a:p>
          <a:p>
            <a:r>
              <a:rPr lang="en-US" sz="2400" dirty="0">
                <a:latin typeface="Times New Roman" pitchFamily="18" charset="0"/>
                <a:cs typeface="Times New Roman" pitchFamily="18" charset="0"/>
              </a:rPr>
              <a:t>Robust resistance to coordinated attacks and authority collusion remains underexplored.</a:t>
            </a:r>
          </a:p>
          <a:p>
            <a:r>
              <a:rPr lang="en-US" sz="2400" dirty="0">
                <a:latin typeface="Times New Roman" pitchFamily="18" charset="0"/>
                <a:cs typeface="Times New Roman" pitchFamily="18" charset="0"/>
              </a:rPr>
              <a:t>Low public trust due to security concerns and limited transparent election trials.</a:t>
            </a:r>
          </a:p>
        </p:txBody>
      </p:sp>
    </p:spTree>
    <p:extLst>
      <p:ext uri="{BB962C8B-B14F-4D97-AF65-F5344CB8AC3E}">
        <p14:creationId xmlns:p14="http://schemas.microsoft.com/office/powerpoint/2010/main" val="1072155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5A7D2-B11F-6F90-8A28-9738CD54E2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F14C8-9C05-E589-290B-5E4D485BF638}"/>
              </a:ext>
            </a:extLst>
          </p:cNvPr>
          <p:cNvSpPr>
            <a:spLocks noGrp="1"/>
          </p:cNvSpPr>
          <p:nvPr>
            <p:ph type="title"/>
          </p:nvPr>
        </p:nvSpPr>
        <p:spPr>
          <a:xfrm>
            <a:off x="838200" y="365127"/>
            <a:ext cx="10515600" cy="625473"/>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Problem Statement</a:t>
            </a:r>
            <a:endParaRPr lang="en-US" sz="3600"/>
          </a:p>
        </p:txBody>
      </p:sp>
      <p:sp>
        <p:nvSpPr>
          <p:cNvPr id="3" name="Content Placeholder 2">
            <a:extLst>
              <a:ext uri="{FF2B5EF4-FFF2-40B4-BE49-F238E27FC236}">
                <a16:creationId xmlns:a16="http://schemas.microsoft.com/office/drawing/2014/main" id="{BBBB1CF8-1C89-772E-24FC-AB6BEDC4180F}"/>
              </a:ext>
            </a:extLst>
          </p:cNvPr>
          <p:cNvSpPr>
            <a:spLocks noGrp="1"/>
          </p:cNvSpPr>
          <p:nvPr>
            <p:ph idx="1"/>
          </p:nvPr>
        </p:nvSpPr>
        <p:spPr>
          <a:xfrm>
            <a:off x="838199" y="1253331"/>
            <a:ext cx="10955215" cy="4351338"/>
          </a:xfrm>
        </p:spPr>
        <p:txBody>
          <a:bodyPr>
            <a:noAutofit/>
          </a:bodyPr>
          <a:lstStyle/>
          <a:p>
            <a:pPr>
              <a:buNone/>
            </a:pPr>
            <a:r>
              <a:rPr lang="en-US" sz="1800" dirty="0">
                <a:latin typeface="Times New Roman" pitchFamily="18" charset="0"/>
                <a:cs typeface="Times New Roman" pitchFamily="18" charset="0"/>
              </a:rPr>
              <a:t>This project aims to develop an accurate, scalable, and interpretable machine learning framework for classifying handwritten digits in the MNIST dataset, with the following objectives:</a:t>
            </a:r>
          </a:p>
          <a:p>
            <a:pPr marL="342900" indent="-342900">
              <a:buFont typeface="+mj-lt"/>
              <a:buAutoNum type="arabicPeriod"/>
            </a:pPr>
            <a:r>
              <a:rPr lang="en-US" sz="1800" dirty="0">
                <a:latin typeface="Times New Roman" pitchFamily="18" charset="0"/>
                <a:cs typeface="Times New Roman" pitchFamily="18" charset="0"/>
              </a:rPr>
              <a:t>Understand the characteristics of MNIST data to extract meaningful insights for high-quality model development.</a:t>
            </a:r>
          </a:p>
          <a:p>
            <a:pPr marL="342900" indent="-342900">
              <a:buFont typeface="+mj-lt"/>
              <a:buAutoNum type="arabicPeriod"/>
            </a:pPr>
            <a:r>
              <a:rPr lang="en-US" sz="1800" dirty="0">
                <a:latin typeface="Times New Roman" pitchFamily="18" charset="0"/>
                <a:cs typeface="Times New Roman" pitchFamily="18" charset="0"/>
              </a:rPr>
              <a:t>Evaluate and compare conventional machine learning algorithms such as Support Vector Machines, K-Nearest Neighbors, and Random Forests to identify their classification performance on handwritten digits.</a:t>
            </a:r>
          </a:p>
          <a:p>
            <a:pPr marL="342900" indent="-342900">
              <a:buFont typeface="+mj-lt"/>
              <a:buAutoNum type="arabicPeriod"/>
            </a:pPr>
            <a:r>
              <a:rPr lang="en-US" sz="1800" dirty="0">
                <a:latin typeface="Times New Roman" pitchFamily="18" charset="0"/>
                <a:cs typeface="Times New Roman" pitchFamily="18" charset="0"/>
              </a:rPr>
              <a:t>Implement deep learning models, notably </a:t>
            </a:r>
            <a:r>
              <a:rPr lang="en-US" sz="1800" dirty="0" err="1">
                <a:latin typeface="Times New Roman" pitchFamily="18" charset="0"/>
                <a:cs typeface="Times New Roman" pitchFamily="18" charset="0"/>
              </a:rPr>
              <a:t>Convolutional</a:t>
            </a:r>
            <a:r>
              <a:rPr lang="en-US" sz="1800" dirty="0">
                <a:latin typeface="Times New Roman" pitchFamily="18" charset="0"/>
                <a:cs typeface="Times New Roman" pitchFamily="18" charset="0"/>
              </a:rPr>
              <a:t> Neural Networks (CNNs) and transfer learning techniques, and assess their effectiveness relative to traditional algorithms.</a:t>
            </a:r>
          </a:p>
          <a:p>
            <a:pPr marL="342900" indent="-342900">
              <a:buFont typeface="+mj-lt"/>
              <a:buAutoNum type="arabicPeriod"/>
            </a:pPr>
            <a:r>
              <a:rPr lang="en-US" sz="1800" dirty="0">
                <a:latin typeface="Times New Roman" pitchFamily="18" charset="0"/>
                <a:cs typeface="Times New Roman" pitchFamily="18" charset="0"/>
              </a:rPr>
              <a:t>Incorporate </a:t>
            </a:r>
            <a:r>
              <a:rPr lang="en-US" sz="1800" dirty="0" err="1">
                <a:latin typeface="Times New Roman" pitchFamily="18" charset="0"/>
                <a:cs typeface="Times New Roman" pitchFamily="18" charset="0"/>
              </a:rPr>
              <a:t>eXplainable</a:t>
            </a:r>
            <a:r>
              <a:rPr lang="en-US" sz="1800" dirty="0">
                <a:latin typeface="Times New Roman" pitchFamily="18" charset="0"/>
                <a:cs typeface="Times New Roman" pitchFamily="18" charset="0"/>
              </a:rPr>
              <a:t> Artificial Intelligence (XAI) methods such as SHAP and LIME to provide interpretability of the model predictions, ensuring transparency and trustworthiness of the classification process.</a:t>
            </a:r>
          </a:p>
          <a:p>
            <a:pPr>
              <a:buNone/>
            </a:pPr>
            <a:r>
              <a:rPr lang="en-US" sz="1800" dirty="0">
                <a:latin typeface="Times New Roman" pitchFamily="18" charset="0"/>
                <a:cs typeface="Times New Roman" pitchFamily="18" charset="0"/>
              </a:rPr>
              <a:t>The challenge is to balance high accuracy with model interpretability for real-world applications in digit recognition and similar pattern classification tasks, paving the way for trustworthy AI-driven visual recognition systems.</a:t>
            </a:r>
          </a:p>
          <a:p>
            <a:pPr>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862248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B5AD9-CFDA-4CAA-00F1-B9B56F12AD8A}"/>
              </a:ext>
            </a:extLst>
          </p:cNvPr>
          <p:cNvSpPr>
            <a:spLocks noGrp="1"/>
          </p:cNvSpPr>
          <p:nvPr>
            <p:ph type="title"/>
          </p:nvPr>
        </p:nvSpPr>
        <p:spPr>
          <a:xfrm>
            <a:off x="838200" y="365128"/>
            <a:ext cx="10515600" cy="794202"/>
          </a:xfrm>
        </p:spPr>
        <p:txBody>
          <a:bodyPr>
            <a:normAutofit/>
          </a:bodyPr>
          <a:lstStyle/>
          <a:p>
            <a:r>
              <a:rPr lang="en-US" sz="3600" b="1">
                <a:solidFill>
                  <a:srgbClr val="CC0066"/>
                </a:solidFill>
                <a:effectLst/>
                <a:latin typeface="Times New Roman" panose="02020603050405020304" pitchFamily="18" charset="0"/>
                <a:ea typeface="Calibri" panose="020F0502020204030204" pitchFamily="34" charset="0"/>
                <a:cs typeface="Times New Roman" panose="02020603050405020304" pitchFamily="18" charset="0"/>
              </a:rPr>
              <a:t>Motivation</a:t>
            </a:r>
            <a:endParaRPr lang="en-US" sz="3600">
              <a:solidFill>
                <a:srgbClr val="CC00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A36370-B1B9-EC39-5DCF-0C11831603EC}"/>
              </a:ext>
            </a:extLst>
          </p:cNvPr>
          <p:cNvSpPr>
            <a:spLocks noGrp="1"/>
          </p:cNvSpPr>
          <p:nvPr>
            <p:ph idx="1"/>
          </p:nvPr>
        </p:nvSpPr>
        <p:spPr>
          <a:xfrm>
            <a:off x="887186" y="1253331"/>
            <a:ext cx="10515600" cy="4351338"/>
          </a:xfrm>
        </p:spPr>
        <p:txBody>
          <a:bodyPr>
            <a:normAutofit/>
          </a:bodyPr>
          <a:lstStyle/>
          <a:p>
            <a:r>
              <a:rPr lang="en-US" sz="2400" dirty="0">
                <a:latin typeface="Times New Roman" pitchFamily="18" charset="0"/>
                <a:cs typeface="Times New Roman" pitchFamily="18" charset="0"/>
              </a:rPr>
              <a:t>Traditional e-voting faces privacy, security, and transparency challenges.</a:t>
            </a:r>
          </a:p>
          <a:p>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offers decentralized, immutable ledgers for trustworthy elections.</a:t>
            </a:r>
          </a:p>
          <a:p>
            <a:r>
              <a:rPr lang="en-US" sz="2400" dirty="0">
                <a:latin typeface="Times New Roman" pitchFamily="18" charset="0"/>
                <a:cs typeface="Times New Roman" pitchFamily="18" charset="0"/>
              </a:rPr>
              <a:t>Synthetic datasets and recent studies show scalability potential but real-world datasets are scarce.</a:t>
            </a:r>
          </a:p>
          <a:p>
            <a:r>
              <a:rPr lang="en-US" sz="2400" dirty="0">
                <a:latin typeface="Times New Roman" pitchFamily="18" charset="0"/>
                <a:cs typeface="Times New Roman" pitchFamily="18" charset="0"/>
              </a:rPr>
              <a:t>Cryptographic algorithms (</a:t>
            </a:r>
            <a:r>
              <a:rPr lang="en-US" sz="2400" dirty="0" err="1">
                <a:latin typeface="Times New Roman" pitchFamily="18" charset="0"/>
                <a:cs typeface="Times New Roman" pitchFamily="18" charset="0"/>
              </a:rPr>
              <a:t>homomorphic</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signcryption</a:t>
            </a:r>
            <a:r>
              <a:rPr lang="en-US" sz="2400" dirty="0">
                <a:latin typeface="Times New Roman" pitchFamily="18" charset="0"/>
                <a:cs typeface="Times New Roman" pitchFamily="18" charset="0"/>
              </a:rPr>
              <a:t>, blind signatures) enable secure, private voting.</a:t>
            </a:r>
          </a:p>
          <a:p>
            <a:r>
              <a:rPr lang="en-US" sz="2400" dirty="0">
                <a:latin typeface="Times New Roman" pitchFamily="18" charset="0"/>
                <a:cs typeface="Times New Roman" pitchFamily="18" charset="0"/>
              </a:rPr>
              <a:t>Threshold decryption distributes trust, reducing centralized failure risks.</a:t>
            </a:r>
          </a:p>
          <a:p>
            <a:r>
              <a:rPr lang="en-US" sz="2400" dirty="0">
                <a:latin typeface="Times New Roman" pitchFamily="18" charset="0"/>
                <a:cs typeface="Times New Roman" pitchFamily="18" charset="0"/>
              </a:rPr>
              <a:t>Existing solutions face high on-chain costs and limited deployed scalability.</a:t>
            </a:r>
          </a:p>
          <a:p>
            <a:r>
              <a:rPr lang="en-US" sz="2400" dirty="0">
                <a:latin typeface="Times New Roman" pitchFamily="18" charset="0"/>
                <a:cs typeface="Times New Roman" pitchFamily="18" charset="0"/>
              </a:rPr>
              <a:t>Our project addresses these gaps by combining advanced cryptography with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platforms for mixed-format ballots.</a:t>
            </a:r>
          </a:p>
        </p:txBody>
      </p:sp>
    </p:spTree>
    <p:extLst>
      <p:ext uri="{BB962C8B-B14F-4D97-AF65-F5344CB8AC3E}">
        <p14:creationId xmlns:p14="http://schemas.microsoft.com/office/powerpoint/2010/main" val="414834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1867F-58B0-C8F5-9070-BA487D367987}"/>
              </a:ext>
            </a:extLst>
          </p:cNvPr>
          <p:cNvSpPr>
            <a:spLocks noGrp="1"/>
          </p:cNvSpPr>
          <p:nvPr>
            <p:ph type="title"/>
          </p:nvPr>
        </p:nvSpPr>
        <p:spPr>
          <a:xfrm>
            <a:off x="838200" y="365127"/>
            <a:ext cx="10515600" cy="701673"/>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Dataset Description</a:t>
            </a:r>
            <a:endParaRPr lang="en-US" sz="3600"/>
          </a:p>
        </p:txBody>
      </p:sp>
      <p:sp>
        <p:nvSpPr>
          <p:cNvPr id="3" name="Content Placeholder 2">
            <a:extLst>
              <a:ext uri="{FF2B5EF4-FFF2-40B4-BE49-F238E27FC236}">
                <a16:creationId xmlns:a16="http://schemas.microsoft.com/office/drawing/2014/main" id="{C2635CE8-6717-64E4-3317-D35AE1D20D26}"/>
              </a:ext>
            </a:extLst>
          </p:cNvPr>
          <p:cNvSpPr>
            <a:spLocks noGrp="1"/>
          </p:cNvSpPr>
          <p:nvPr>
            <p:ph idx="1"/>
          </p:nvPr>
        </p:nvSpPr>
        <p:spPr>
          <a:xfrm>
            <a:off x="876300" y="1123952"/>
            <a:ext cx="10515600" cy="4351338"/>
          </a:xfrm>
        </p:spPr>
        <p:txBody>
          <a:bodyPr>
            <a:noAutofit/>
          </a:bodyPr>
          <a:lstStyle/>
          <a:p>
            <a:r>
              <a:rPr lang="en-US" sz="1600" dirty="0"/>
              <a:t>Overview:</a:t>
            </a:r>
            <a:br>
              <a:rPr lang="en-US" sz="1600" dirty="0"/>
            </a:br>
            <a:r>
              <a:rPr lang="en-US" sz="1600" dirty="0"/>
              <a:t>The project utilizes a synthetic dataset modeled after those used in leading </a:t>
            </a:r>
            <a:r>
              <a:rPr lang="en-US" sz="1600" dirty="0" err="1"/>
              <a:t>blockchain</a:t>
            </a:r>
            <a:r>
              <a:rPr lang="en-US" sz="1600" dirty="0"/>
              <a:t> e-voting research such as Fan et al. (2023) and Wang et al. (2024). This dataset comprises 10,000 mixed-format ballots, including both approval and score voting types, designed to simulate realistic voter behavior and election scenarios.</a:t>
            </a:r>
          </a:p>
          <a:p>
            <a:r>
              <a:rPr lang="en-US" sz="1600" dirty="0"/>
              <a:t>Custom Dataset Creation:</a:t>
            </a:r>
            <a:br>
              <a:rPr lang="en-US" sz="1600" dirty="0"/>
            </a:br>
            <a:r>
              <a:rPr lang="en-US" sz="1600" dirty="0"/>
              <a:t>A custom dataset can be generated by simulating voter preferences following statistical distributions observed in real elections, including demographic variability and vote distribution. Digital ballot structures are encoded as encrypted votes using </a:t>
            </a:r>
            <a:r>
              <a:rPr lang="en-US" sz="1600" dirty="0" err="1"/>
              <a:t>homomorphic</a:t>
            </a:r>
            <a:r>
              <a:rPr lang="en-US" sz="1600" dirty="0"/>
              <a:t> </a:t>
            </a:r>
            <a:r>
              <a:rPr lang="en-US" sz="1600" dirty="0" err="1"/>
              <a:t>signcryption</a:t>
            </a:r>
            <a:r>
              <a:rPr lang="en-US" sz="1600" dirty="0"/>
              <a:t>, and metadata reflects multi-authority registration to mirror decentralized credential issuance and voting.</a:t>
            </a:r>
          </a:p>
          <a:p>
            <a:r>
              <a:rPr lang="en-US" sz="1600" dirty="0"/>
              <a:t>Justification &amp; Citation:</a:t>
            </a:r>
            <a:br>
              <a:rPr lang="en-US" sz="1600" dirty="0"/>
            </a:br>
            <a:r>
              <a:rPr lang="en-US" sz="1600" dirty="0"/>
              <a:t>Synthetic datasets offer a controlled environment for validating cryptographic tallying, scalability, and privacy guarantees while overcoming live data scarcity due to confidentiality constraints. Key references include:</a:t>
            </a:r>
          </a:p>
          <a:p>
            <a:pPr lvl="1"/>
            <a:r>
              <a:rPr lang="en-US" sz="1600" dirty="0"/>
              <a:t>Fan et al., "HSE-Voting: a secure high-efficiency electronic voting scheme," </a:t>
            </a:r>
            <a:r>
              <a:rPr lang="en-US" sz="1600" i="1" dirty="0"/>
              <a:t>Future Gen. </a:t>
            </a:r>
            <a:r>
              <a:rPr lang="en-US" sz="1600" i="1" dirty="0" err="1"/>
              <a:t>Comput</a:t>
            </a:r>
            <a:r>
              <a:rPr lang="en-US" sz="1600" i="1" dirty="0"/>
              <a:t>. Syst.</a:t>
            </a:r>
            <a:r>
              <a:rPr lang="en-US" sz="1600" dirty="0"/>
              <a:t>, 2023</a:t>
            </a:r>
          </a:p>
          <a:p>
            <a:pPr lvl="1"/>
            <a:r>
              <a:rPr lang="en-US" sz="1600" dirty="0"/>
              <a:t>Wang et al., "An efficient and versatile e-voting scheme on </a:t>
            </a:r>
            <a:r>
              <a:rPr lang="en-US" sz="1600" dirty="0" err="1"/>
              <a:t>blockchain</a:t>
            </a:r>
            <a:r>
              <a:rPr lang="en-US" sz="1600" dirty="0"/>
              <a:t>," </a:t>
            </a:r>
            <a:r>
              <a:rPr lang="en-US" sz="1600" i="1" dirty="0" err="1"/>
              <a:t>Comput</a:t>
            </a:r>
            <a:r>
              <a:rPr lang="en-US" sz="1600" i="1" dirty="0"/>
              <a:t>. </a:t>
            </a:r>
            <a:r>
              <a:rPr lang="en-US" sz="1600" i="1" dirty="0" err="1"/>
              <a:t>Secur</a:t>
            </a:r>
            <a:r>
              <a:rPr lang="en-US" sz="1600" i="1" dirty="0"/>
              <a:t>.</a:t>
            </a:r>
            <a:r>
              <a:rPr lang="en-US" sz="1600" dirty="0"/>
              <a:t>, 2024</a:t>
            </a:r>
            <a:br>
              <a:rPr lang="en-US" sz="1600" dirty="0"/>
            </a:br>
            <a:r>
              <a:rPr lang="en-US" sz="1600" dirty="0"/>
              <a:t>These works demonstrate throughput &gt;1,100 </a:t>
            </a:r>
            <a:r>
              <a:rPr lang="en-US" sz="1600" dirty="0" err="1"/>
              <a:t>tx</a:t>
            </a:r>
            <a:r>
              <a:rPr lang="en-US" sz="1600" dirty="0"/>
              <a:t>/sec and latency &lt;25 ms on similar datasets, providing performance benchmarks.</a:t>
            </a:r>
          </a:p>
        </p:txBody>
      </p:sp>
    </p:spTree>
    <p:extLst>
      <p:ext uri="{BB962C8B-B14F-4D97-AF65-F5344CB8AC3E}">
        <p14:creationId xmlns:p14="http://schemas.microsoft.com/office/powerpoint/2010/main" val="1452093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4415" y="536086"/>
            <a:ext cx="10650416" cy="5278559"/>
          </a:xfrm>
        </p:spPr>
        <p:txBody>
          <a:bodyPr/>
          <a:lstStyle/>
          <a:p>
            <a:pPr>
              <a:buNone/>
            </a:pPr>
            <a:r>
              <a:rPr lang="en-US" b="1" dirty="0">
                <a:latin typeface="Times New Roman" pitchFamily="18" charset="0"/>
                <a:cs typeface="Times New Roman" pitchFamily="18" charset="0"/>
              </a:rPr>
              <a:t>Relation to Problem Statement and Motivation:</a:t>
            </a:r>
          </a:p>
          <a:p>
            <a:r>
              <a:rPr lang="en-US" dirty="0">
                <a:latin typeface="Times New Roman" pitchFamily="18" charset="0"/>
                <a:cs typeface="Times New Roman" pitchFamily="18" charset="0"/>
              </a:rPr>
              <a:t>The chosen synthetic dataset allows experimentation with mixed ballot formats, reflecting the complexity of modern elections, and supports the evaluation of privacy-preserving tallying and decentralized authentication mechanisms. By mimicking real-world conditions, it enables rigorous testing of the proposed solution’s robustness, scalability, and security, directly addressing challenges identified in previous studies.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114D4-E40A-7CC5-031D-3DAC2B4BBA55}"/>
              </a:ext>
            </a:extLst>
          </p:cNvPr>
          <p:cNvSpPr>
            <a:spLocks noGrp="1"/>
          </p:cNvSpPr>
          <p:nvPr>
            <p:ph type="title"/>
          </p:nvPr>
        </p:nvSpPr>
        <p:spPr>
          <a:xfrm>
            <a:off x="838200" y="365128"/>
            <a:ext cx="10515600" cy="527502"/>
          </a:xfrm>
        </p:spPr>
        <p:txBody>
          <a:bodyPr>
            <a:normAutofit fontScale="90000"/>
          </a:bodyPr>
          <a:lstStyle/>
          <a:p>
            <a:r>
              <a:rPr lang="en-US" sz="3600" b="1">
                <a:solidFill>
                  <a:srgbClr val="CC0066"/>
                </a:solidFill>
                <a:latin typeface="Times New Roman" panose="02020603050405020304" pitchFamily="18" charset="0"/>
                <a:cs typeface="Times New Roman" panose="02020603050405020304" pitchFamily="18" charset="0"/>
              </a:rPr>
              <a:t>Block Diagram</a:t>
            </a:r>
            <a:endParaRPr lang="en-US" sz="3600"/>
          </a:p>
        </p:txBody>
      </p:sp>
      <p:pic>
        <p:nvPicPr>
          <p:cNvPr id="5" name="Content Placeholder 4" descr="BlockDiagram.png"/>
          <p:cNvPicPr>
            <a:picLocks noGrp="1" noChangeAspect="1"/>
          </p:cNvPicPr>
          <p:nvPr>
            <p:ph idx="1"/>
          </p:nvPr>
        </p:nvPicPr>
        <p:blipFill>
          <a:blip r:embed="rId2"/>
          <a:srcRect t="25688" b="25069"/>
          <a:stretch>
            <a:fillRect/>
          </a:stretch>
        </p:blipFill>
        <p:spPr>
          <a:xfrm>
            <a:off x="1105469" y="1100419"/>
            <a:ext cx="10072047" cy="4959706"/>
          </a:xfrm>
        </p:spPr>
      </p:pic>
    </p:spTree>
    <p:extLst>
      <p:ext uri="{BB962C8B-B14F-4D97-AF65-F5344CB8AC3E}">
        <p14:creationId xmlns:p14="http://schemas.microsoft.com/office/powerpoint/2010/main" val="1517137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1B01-8288-BC98-5254-D5AAE9237A8A}"/>
              </a:ext>
            </a:extLst>
          </p:cNvPr>
          <p:cNvSpPr>
            <a:spLocks noGrp="1"/>
          </p:cNvSpPr>
          <p:nvPr>
            <p:ph type="title"/>
          </p:nvPr>
        </p:nvSpPr>
        <p:spPr>
          <a:xfrm>
            <a:off x="680357" y="346529"/>
            <a:ext cx="10515600" cy="669016"/>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Methodology</a:t>
            </a:r>
            <a:endParaRPr lang="en-US" sz="3600"/>
          </a:p>
        </p:txBody>
      </p:sp>
      <p:sp>
        <p:nvSpPr>
          <p:cNvPr id="3" name="Content Placeholder 2">
            <a:extLst>
              <a:ext uri="{FF2B5EF4-FFF2-40B4-BE49-F238E27FC236}">
                <a16:creationId xmlns:a16="http://schemas.microsoft.com/office/drawing/2014/main" id="{E9D8A5BF-CA67-A377-D07E-9734DDEF367E}"/>
              </a:ext>
            </a:extLst>
          </p:cNvPr>
          <p:cNvSpPr>
            <a:spLocks noGrp="1"/>
          </p:cNvSpPr>
          <p:nvPr>
            <p:ph idx="1"/>
          </p:nvPr>
        </p:nvSpPr>
        <p:spPr>
          <a:xfrm>
            <a:off x="729343" y="1188811"/>
            <a:ext cx="10515600" cy="4351338"/>
          </a:xfrm>
        </p:spPr>
        <p:txBody>
          <a:bodyPr>
            <a:normAutofit/>
          </a:bodyPr>
          <a:lstStyle/>
          <a:p>
            <a:pPr>
              <a:buNone/>
            </a:pPr>
            <a:r>
              <a:rPr lang="en-US" b="1" dirty="0">
                <a:latin typeface="Times New Roman" pitchFamily="18" charset="0"/>
                <a:cs typeface="Times New Roman" pitchFamily="18" charset="0"/>
              </a:rPr>
              <a:t>Dataset Generation and Data Handling</a:t>
            </a:r>
          </a:p>
          <a:p>
            <a:r>
              <a:rPr lang="en-US" dirty="0">
                <a:latin typeface="Times New Roman" pitchFamily="18" charset="0"/>
                <a:cs typeface="Times New Roman" pitchFamily="18" charset="0"/>
              </a:rPr>
              <a:t>Synthetic dataset created simulating 10,000 mixed-format ballots per Fan et al. and Wang et al. standards.</a:t>
            </a:r>
          </a:p>
          <a:p>
            <a:r>
              <a:rPr lang="en-US" dirty="0">
                <a:latin typeface="Times New Roman" pitchFamily="18" charset="0"/>
                <a:cs typeface="Times New Roman" pitchFamily="18" charset="0"/>
              </a:rPr>
              <a:t>Ballots include varied approval and score voting to replicate real election complexity.</a:t>
            </a:r>
          </a:p>
          <a:p>
            <a:r>
              <a:rPr lang="en-US" dirty="0" err="1">
                <a:latin typeface="Times New Roman" pitchFamily="18" charset="0"/>
                <a:cs typeface="Times New Roman" pitchFamily="18" charset="0"/>
              </a:rPr>
              <a:t>Homomorphic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signcryption</a:t>
            </a:r>
            <a:r>
              <a:rPr lang="en-US" dirty="0">
                <a:latin typeface="Times New Roman" pitchFamily="18" charset="0"/>
                <a:cs typeface="Times New Roman" pitchFamily="18" charset="0"/>
              </a:rPr>
              <a:t> encrypts each ballot ensuring vote privacy and integrity.</a:t>
            </a:r>
          </a:p>
          <a:p>
            <a:r>
              <a:rPr lang="en-US" dirty="0">
                <a:latin typeface="Times New Roman" pitchFamily="18" charset="0"/>
                <a:cs typeface="Times New Roman" pitchFamily="18" charset="0"/>
              </a:rPr>
              <a:t>Data stored securely on </a:t>
            </a:r>
            <a:r>
              <a:rPr lang="en-US" dirty="0" err="1">
                <a:latin typeface="Times New Roman" pitchFamily="18" charset="0"/>
                <a:cs typeface="Times New Roman" pitchFamily="18" charset="0"/>
              </a:rPr>
              <a:t>Hyperledger</a:t>
            </a:r>
            <a:r>
              <a:rPr lang="en-US" dirty="0">
                <a:latin typeface="Times New Roman" pitchFamily="18" charset="0"/>
                <a:cs typeface="Times New Roman" pitchFamily="18" charset="0"/>
              </a:rPr>
              <a:t> Fabric and </a:t>
            </a:r>
            <a:r>
              <a:rPr lang="en-US" dirty="0" err="1">
                <a:latin typeface="Times New Roman" pitchFamily="18" charset="0"/>
                <a:cs typeface="Times New Roman" pitchFamily="18" charset="0"/>
              </a:rPr>
              <a:t>Ethereum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blockchain</a:t>
            </a:r>
            <a:r>
              <a:rPr lang="en-US" dirty="0">
                <a:latin typeface="Times New Roman" pitchFamily="18" charset="0"/>
                <a:cs typeface="Times New Roman" pitchFamily="18" charset="0"/>
              </a:rPr>
              <a:t> platforms for immutability and access logging.</a:t>
            </a:r>
          </a:p>
          <a:p>
            <a:pPr>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35623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8A5BF-CA67-A377-D07E-9734DDEF367E}"/>
              </a:ext>
            </a:extLst>
          </p:cNvPr>
          <p:cNvSpPr>
            <a:spLocks noGrp="1"/>
          </p:cNvSpPr>
          <p:nvPr>
            <p:ph idx="1"/>
          </p:nvPr>
        </p:nvSpPr>
        <p:spPr>
          <a:xfrm>
            <a:off x="612112" y="860565"/>
            <a:ext cx="10515600" cy="4351338"/>
          </a:xfrm>
        </p:spPr>
        <p:txBody>
          <a:bodyPr>
            <a:normAutofit/>
          </a:bodyPr>
          <a:lstStyle/>
          <a:p>
            <a:pPr>
              <a:buNone/>
            </a:pPr>
            <a:r>
              <a:rPr lang="en-US" b="1" dirty="0"/>
              <a:t>Cryptographic Protocol Implementation</a:t>
            </a:r>
          </a:p>
          <a:p>
            <a:r>
              <a:rPr lang="en-US" dirty="0" err="1"/>
              <a:t>Homomorphic</a:t>
            </a:r>
            <a:r>
              <a:rPr lang="en-US" dirty="0"/>
              <a:t> </a:t>
            </a:r>
            <a:r>
              <a:rPr lang="en-US" dirty="0" err="1"/>
              <a:t>signcryption</a:t>
            </a:r>
            <a:r>
              <a:rPr lang="en-US" dirty="0"/>
              <a:t> merges encryption and digital signatures, allowing safe vote aggregation without decryption.</a:t>
            </a:r>
          </a:p>
          <a:p>
            <a:r>
              <a:rPr lang="en-US" dirty="0"/>
              <a:t>Multi-authority threshold decryption splits secret keys to prevent collusion and early result leakage.</a:t>
            </a:r>
          </a:p>
          <a:p>
            <a:r>
              <a:rPr lang="en-US" dirty="0"/>
              <a:t>Aggregate blind signatures allow decentralized voter credential issuance ensuring privacy and non-repudiation.</a:t>
            </a:r>
          </a:p>
          <a:p>
            <a:r>
              <a:rPr lang="en-US" dirty="0"/>
              <a:t>Smart contracts manage registration, vote submission, and tallying processes automatically on </a:t>
            </a:r>
            <a:r>
              <a:rPr lang="en-US" dirty="0" err="1"/>
              <a:t>blockchain</a:t>
            </a:r>
            <a:r>
              <a:rPr lang="en-US" dirty="0"/>
              <a:t>.</a:t>
            </a:r>
          </a:p>
        </p:txBody>
      </p:sp>
    </p:spTree>
    <p:extLst>
      <p:ext uri="{BB962C8B-B14F-4D97-AF65-F5344CB8AC3E}">
        <p14:creationId xmlns:p14="http://schemas.microsoft.com/office/powerpoint/2010/main" val="1035623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8A5BF-CA67-A377-D07E-9734DDEF367E}"/>
              </a:ext>
            </a:extLst>
          </p:cNvPr>
          <p:cNvSpPr>
            <a:spLocks noGrp="1"/>
          </p:cNvSpPr>
          <p:nvPr>
            <p:ph idx="1"/>
          </p:nvPr>
        </p:nvSpPr>
        <p:spPr>
          <a:xfrm>
            <a:off x="612112" y="860565"/>
            <a:ext cx="10515600" cy="4351338"/>
          </a:xfrm>
        </p:spPr>
        <p:txBody>
          <a:bodyPr>
            <a:normAutofit/>
          </a:bodyPr>
          <a:lstStyle/>
          <a:p>
            <a:pPr>
              <a:buNone/>
            </a:pPr>
            <a:r>
              <a:rPr lang="en-US" b="1" dirty="0" err="1"/>
              <a:t>Blockchain</a:t>
            </a:r>
            <a:r>
              <a:rPr lang="en-US" b="1" dirty="0"/>
              <a:t> Network Setup and Smart Contract Deployment</a:t>
            </a:r>
          </a:p>
          <a:p>
            <a:r>
              <a:rPr lang="en-US" dirty="0"/>
              <a:t>Deployment configured for both </a:t>
            </a:r>
            <a:r>
              <a:rPr lang="en-US" dirty="0" err="1"/>
              <a:t>permissioned</a:t>
            </a:r>
            <a:r>
              <a:rPr lang="en-US" dirty="0"/>
              <a:t> (</a:t>
            </a:r>
            <a:r>
              <a:rPr lang="en-US" dirty="0" err="1"/>
              <a:t>Hyperledger</a:t>
            </a:r>
            <a:r>
              <a:rPr lang="en-US" dirty="0"/>
              <a:t> Fabric) and public (</a:t>
            </a:r>
            <a:r>
              <a:rPr lang="en-US" dirty="0" err="1"/>
              <a:t>Ethereum</a:t>
            </a:r>
            <a:r>
              <a:rPr lang="en-US" dirty="0"/>
              <a:t>) environments to balance transparency and efficiency.</a:t>
            </a:r>
          </a:p>
          <a:p>
            <a:r>
              <a:rPr lang="en-US" dirty="0"/>
              <a:t>Smart contracts programmed for vote recording, validation, secure tally extraction, and public verifiability.</a:t>
            </a:r>
          </a:p>
          <a:p>
            <a:r>
              <a:rPr lang="en-US" dirty="0"/>
              <a:t>Gas optimizations and off-chain storage used to reduce transaction costs and latency.</a:t>
            </a:r>
          </a:p>
        </p:txBody>
      </p:sp>
    </p:spTree>
    <p:extLst>
      <p:ext uri="{BB962C8B-B14F-4D97-AF65-F5344CB8AC3E}">
        <p14:creationId xmlns:p14="http://schemas.microsoft.com/office/powerpoint/2010/main" val="1035623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8A5BF-CA67-A377-D07E-9734DDEF367E}"/>
              </a:ext>
            </a:extLst>
          </p:cNvPr>
          <p:cNvSpPr>
            <a:spLocks noGrp="1"/>
          </p:cNvSpPr>
          <p:nvPr>
            <p:ph idx="1"/>
          </p:nvPr>
        </p:nvSpPr>
        <p:spPr>
          <a:xfrm>
            <a:off x="612112" y="860565"/>
            <a:ext cx="10515600" cy="4351338"/>
          </a:xfrm>
        </p:spPr>
        <p:txBody>
          <a:bodyPr>
            <a:normAutofit/>
          </a:bodyPr>
          <a:lstStyle/>
          <a:p>
            <a:pPr>
              <a:buNone/>
            </a:pPr>
            <a:r>
              <a:rPr lang="en-US" b="1" dirty="0"/>
              <a:t>Verification and </a:t>
            </a:r>
            <a:r>
              <a:rPr lang="en-US" b="1" dirty="0" err="1"/>
              <a:t>Auditability</a:t>
            </a:r>
            <a:r>
              <a:rPr lang="en-US" b="1" dirty="0"/>
              <a:t> Using Explainable Cryptographic Proofs</a:t>
            </a:r>
          </a:p>
          <a:p>
            <a:r>
              <a:rPr lang="en-US" dirty="0"/>
              <a:t>Zero-knowledge proofs integrated to validate ballots without revealing voter choices, preserving secrecy.</a:t>
            </a:r>
          </a:p>
          <a:p>
            <a:r>
              <a:rPr lang="en-US" dirty="0"/>
              <a:t>Immutable audit logs on-chain provide transparent and tamper-evident election records.</a:t>
            </a:r>
          </a:p>
          <a:p>
            <a:r>
              <a:rPr lang="en-US" dirty="0"/>
              <a:t>Explainable cryptographic methods support election officials and stakeholders in comprehending vote processing and ensuring compliance with legal standards.</a:t>
            </a:r>
          </a:p>
        </p:txBody>
      </p:sp>
    </p:spTree>
    <p:extLst>
      <p:ext uri="{BB962C8B-B14F-4D97-AF65-F5344CB8AC3E}">
        <p14:creationId xmlns:p14="http://schemas.microsoft.com/office/powerpoint/2010/main" val="1035623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4E7A-618C-A1F6-FE6E-863F52B9CC53}"/>
              </a:ext>
            </a:extLst>
          </p:cNvPr>
          <p:cNvSpPr>
            <a:spLocks noGrp="1"/>
          </p:cNvSpPr>
          <p:nvPr>
            <p:ph type="title"/>
          </p:nvPr>
        </p:nvSpPr>
        <p:spPr>
          <a:xfrm>
            <a:off x="751115" y="38556"/>
            <a:ext cx="10515600" cy="696230"/>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Dataset Analysis</a:t>
            </a:r>
            <a:endParaRPr lang="en-US" sz="3600"/>
          </a:p>
        </p:txBody>
      </p:sp>
      <p:sp>
        <p:nvSpPr>
          <p:cNvPr id="3" name="Content Placeholder 2">
            <a:extLst>
              <a:ext uri="{FF2B5EF4-FFF2-40B4-BE49-F238E27FC236}">
                <a16:creationId xmlns:a16="http://schemas.microsoft.com/office/drawing/2014/main" id="{06B45FE4-7AEF-4598-022F-141C4A55A6B0}"/>
              </a:ext>
            </a:extLst>
          </p:cNvPr>
          <p:cNvSpPr>
            <a:spLocks noGrp="1"/>
          </p:cNvSpPr>
          <p:nvPr>
            <p:ph idx="1"/>
          </p:nvPr>
        </p:nvSpPr>
        <p:spPr>
          <a:xfrm>
            <a:off x="838199" y="879024"/>
            <a:ext cx="10533185" cy="4888730"/>
          </a:xfrm>
        </p:spPr>
        <p:txBody>
          <a:bodyPr>
            <a:normAutofit lnSpcReduction="10000"/>
          </a:bodyPr>
          <a:lstStyle/>
          <a:p>
            <a:r>
              <a:rPr lang="en-US" sz="2000" dirty="0">
                <a:latin typeface="Times New Roman" pitchFamily="18" charset="0"/>
                <a:cs typeface="Times New Roman" pitchFamily="18" charset="0"/>
              </a:rPr>
              <a:t>URL Reference: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hlinkClick r:id="rId2"/>
              </a:rPr>
              <a:t>Provide link or DOI to dataset source or synthetic data generation resources, e.g.:</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Data Generation:</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Synthetic election data created simulating mixed approval and score ballots, reflecting real vote distributions, voter behaviors, and election scenarios, following Fan et al. 2023 and Wang et al. 2024.</a:t>
            </a:r>
          </a:p>
          <a:p>
            <a:r>
              <a:rPr lang="en-US" sz="2000" dirty="0">
                <a:latin typeface="Times New Roman" pitchFamily="18" charset="0"/>
                <a:cs typeface="Times New Roman" pitchFamily="18" charset="0"/>
              </a:rPr>
              <a:t>Noise Removal:</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Cleaned data by removing inconsistencies and corrupted ballot entries. Eliminated duplicate or malformed encrypted votes to ensure dataset integrity.</a:t>
            </a:r>
          </a:p>
          <a:p>
            <a:r>
              <a:rPr lang="en-US" sz="2000" dirty="0">
                <a:latin typeface="Times New Roman" pitchFamily="18" charset="0"/>
                <a:cs typeface="Times New Roman" pitchFamily="18" charset="0"/>
              </a:rPr>
              <a:t>Pre-processing:</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Normalized encrypted vote formats, converted raw ballot data into structured formats suitable for </a:t>
            </a:r>
            <a:r>
              <a:rPr lang="en-US" sz="2000" dirty="0" err="1">
                <a:latin typeface="Times New Roman" pitchFamily="18" charset="0"/>
                <a:cs typeface="Times New Roman" pitchFamily="18" charset="0"/>
              </a:rPr>
              <a:t>homomorphic</a:t>
            </a:r>
            <a:r>
              <a:rPr lang="en-US" sz="2000" dirty="0">
                <a:latin typeface="Times New Roman" pitchFamily="18" charset="0"/>
                <a:cs typeface="Times New Roman" pitchFamily="18" charset="0"/>
              </a:rPr>
              <a:t> encryption and signature aggregation. Feature engineering for downstream ML/DL models.</a:t>
            </a:r>
          </a:p>
          <a:p>
            <a:r>
              <a:rPr lang="en-US" sz="2000" dirty="0">
                <a:latin typeface="Times New Roman" pitchFamily="18" charset="0"/>
                <a:cs typeface="Times New Roman" pitchFamily="18" charset="0"/>
              </a:rPr>
              <a:t>Inference from Descriptive Statistics and Visualization:</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Statistical summaries show balanced voter participation across ballot types. Visualizations confirm realistic voting patterns and highlight any outliers/anomalies for further review.</a:t>
            </a:r>
          </a:p>
        </p:txBody>
      </p:sp>
    </p:spTree>
    <p:extLst>
      <p:ext uri="{BB962C8B-B14F-4D97-AF65-F5344CB8AC3E}">
        <p14:creationId xmlns:p14="http://schemas.microsoft.com/office/powerpoint/2010/main" val="3815572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44E7A-618C-A1F6-FE6E-863F52B9CC53}"/>
              </a:ext>
            </a:extLst>
          </p:cNvPr>
          <p:cNvSpPr>
            <a:spLocks noGrp="1"/>
          </p:cNvSpPr>
          <p:nvPr>
            <p:ph type="title"/>
          </p:nvPr>
        </p:nvSpPr>
        <p:spPr>
          <a:xfrm>
            <a:off x="751115" y="38556"/>
            <a:ext cx="10515600" cy="696230"/>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Dataset Analysis</a:t>
            </a:r>
            <a:endParaRPr lang="en-US" sz="3600"/>
          </a:p>
        </p:txBody>
      </p:sp>
      <p:graphicFrame>
        <p:nvGraphicFramePr>
          <p:cNvPr id="4" name="Table 3">
            <a:extLst>
              <a:ext uri="{FF2B5EF4-FFF2-40B4-BE49-F238E27FC236}">
                <a16:creationId xmlns:a16="http://schemas.microsoft.com/office/drawing/2014/main" id="{6BCF19CD-7A25-4DC2-C830-F194C2BA3AB0}"/>
              </a:ext>
            </a:extLst>
          </p:cNvPr>
          <p:cNvGraphicFramePr>
            <a:graphicFrameLocks noGrp="1"/>
          </p:cNvGraphicFramePr>
          <p:nvPr>
            <p:extLst>
              <p:ext uri="{D42A27DB-BD31-4B8C-83A1-F6EECF244321}">
                <p14:modId xmlns:p14="http://schemas.microsoft.com/office/powerpoint/2010/main" val="198119400"/>
              </p:ext>
            </p:extLst>
          </p:nvPr>
        </p:nvGraphicFramePr>
        <p:xfrm>
          <a:off x="680777" y="989763"/>
          <a:ext cx="10338915" cy="4496636"/>
        </p:xfrm>
        <a:graphic>
          <a:graphicData uri="http://schemas.openxmlformats.org/drawingml/2006/table">
            <a:tbl>
              <a:tblPr firstRow="1" bandRow="1">
                <a:tableStyleId>{5C22544A-7EE6-4342-B048-85BDC9FD1C3A}</a:tableStyleId>
              </a:tblPr>
              <a:tblGrid>
                <a:gridCol w="3446305">
                  <a:extLst>
                    <a:ext uri="{9D8B030D-6E8A-4147-A177-3AD203B41FA5}">
                      <a16:colId xmlns:a16="http://schemas.microsoft.com/office/drawing/2014/main" val="1923806120"/>
                    </a:ext>
                  </a:extLst>
                </a:gridCol>
                <a:gridCol w="3446305">
                  <a:extLst>
                    <a:ext uri="{9D8B030D-6E8A-4147-A177-3AD203B41FA5}">
                      <a16:colId xmlns:a16="http://schemas.microsoft.com/office/drawing/2014/main" val="2148165481"/>
                    </a:ext>
                  </a:extLst>
                </a:gridCol>
                <a:gridCol w="3446305">
                  <a:extLst>
                    <a:ext uri="{9D8B030D-6E8A-4147-A177-3AD203B41FA5}">
                      <a16:colId xmlns:a16="http://schemas.microsoft.com/office/drawing/2014/main" val="3194211368"/>
                    </a:ext>
                  </a:extLst>
                </a:gridCol>
              </a:tblGrid>
              <a:tr h="1642250">
                <a:tc>
                  <a:txBody>
                    <a:bodyPr/>
                    <a:lstStyle/>
                    <a:p>
                      <a:pPr algn="ctr"/>
                      <a:r>
                        <a:rPr lang="en-US" dirty="0">
                          <a:latin typeface="Times New Roman" pitchFamily="18" charset="0"/>
                          <a:cs typeface="Times New Roman" pitchFamily="18" charset="0"/>
                        </a:rPr>
                        <a:t>Approach</a:t>
                      </a:r>
                    </a:p>
                  </a:txBody>
                  <a:tcPr/>
                </a:tc>
                <a:tc>
                  <a:txBody>
                    <a:bodyPr/>
                    <a:lstStyle/>
                    <a:p>
                      <a:pPr algn="ctr"/>
                      <a:r>
                        <a:rPr lang="en-US" dirty="0">
                          <a:latin typeface="Times New Roman" pitchFamily="18" charset="0"/>
                          <a:cs typeface="Times New Roman" pitchFamily="18" charset="0"/>
                        </a:rPr>
                        <a:t>Approach Followed</a:t>
                      </a:r>
                    </a:p>
                  </a:txBody>
                  <a:tcPr/>
                </a:tc>
                <a:tc>
                  <a:txBody>
                    <a:bodyPr/>
                    <a:lstStyle/>
                    <a:p>
                      <a:pPr algn="ctr"/>
                      <a:r>
                        <a:rPr lang="en-US">
                          <a:latin typeface="Times New Roman" pitchFamily="18" charset="0"/>
                          <a:cs typeface="Times New Roman" pitchFamily="18" charset="0"/>
                        </a:rPr>
                        <a:t>Name of the student Contributed</a:t>
                      </a:r>
                    </a:p>
                  </a:txBody>
                  <a:tcPr/>
                </a:tc>
                <a:extLst>
                  <a:ext uri="{0D108BD9-81ED-4DB2-BD59-A6C34878D82A}">
                    <a16:rowId xmlns:a16="http://schemas.microsoft.com/office/drawing/2014/main" val="3581319852"/>
                  </a:ext>
                </a:extLst>
              </a:tr>
              <a:tr h="951462">
                <a:tc>
                  <a:txBody>
                    <a:bodyPr/>
                    <a:lstStyle/>
                    <a:p>
                      <a:pPr algn="ctr"/>
                      <a:r>
                        <a:rPr lang="en-US" dirty="0">
                          <a:latin typeface="Times New Roman" pitchFamily="18" charset="0"/>
                          <a:cs typeface="Times New Roman" pitchFamily="18" charset="0"/>
                        </a:rPr>
                        <a:t>Dataset Generation</a:t>
                      </a:r>
                    </a:p>
                  </a:txBody>
                  <a:tcPr/>
                </a:tc>
                <a:tc>
                  <a:txBody>
                    <a:bodyPr/>
                    <a:lstStyle/>
                    <a:p>
                      <a:pPr algn="ctr"/>
                      <a:r>
                        <a:rPr lang="en-US" sz="1800" b="0" i="0" kern="1200" dirty="0">
                          <a:solidFill>
                            <a:schemeClr val="dk1"/>
                          </a:solidFill>
                          <a:latin typeface="Times New Roman" pitchFamily="18" charset="0"/>
                          <a:ea typeface="+mn-ea"/>
                          <a:cs typeface="Times New Roman" pitchFamily="18" charset="0"/>
                        </a:rPr>
                        <a:t>Synthetic mixed-format ballot creation using Python scripts and statistical modeling</a:t>
                      </a:r>
                      <a:endParaRPr lang="en-US" dirty="0">
                        <a:latin typeface="Times New Roman" pitchFamily="18" charset="0"/>
                        <a:cs typeface="Times New Roman" pitchFamily="18" charset="0"/>
                      </a:endParaRPr>
                    </a:p>
                  </a:txBody>
                  <a:tcPr/>
                </a:tc>
                <a:tc>
                  <a:txBody>
                    <a:bodyPr/>
                    <a:lstStyle/>
                    <a:p>
                      <a:pPr algn="ctr"/>
                      <a:r>
                        <a:rPr lang="en-US" dirty="0">
                          <a:latin typeface="Times New Roman" pitchFamily="18" charset="0"/>
                          <a:cs typeface="Times New Roman" pitchFamily="18" charset="0"/>
                        </a:rPr>
                        <a:t>Shanmugapriyan S</a:t>
                      </a:r>
                    </a:p>
                    <a:p>
                      <a:pPr algn="ctr"/>
                      <a:r>
                        <a:rPr lang="en-US" dirty="0">
                          <a:latin typeface="Times New Roman" pitchFamily="18" charset="0"/>
                          <a:cs typeface="Times New Roman" pitchFamily="18" charset="0"/>
                        </a:rPr>
                        <a:t>(CB.SC.P2CSE25041)</a:t>
                      </a:r>
                    </a:p>
                  </a:txBody>
                  <a:tcPr/>
                </a:tc>
                <a:extLst>
                  <a:ext uri="{0D108BD9-81ED-4DB2-BD59-A6C34878D82A}">
                    <a16:rowId xmlns:a16="http://schemas.microsoft.com/office/drawing/2014/main" val="4144349788"/>
                  </a:ext>
                </a:extLst>
              </a:tr>
              <a:tr h="951462">
                <a:tc>
                  <a:txBody>
                    <a:bodyPr/>
                    <a:lstStyle/>
                    <a:p>
                      <a:pPr algn="ctr"/>
                      <a:r>
                        <a:rPr lang="en-US">
                          <a:latin typeface="Times New Roman" pitchFamily="18" charset="0"/>
                          <a:cs typeface="Times New Roman" pitchFamily="18" charset="0"/>
                        </a:rPr>
                        <a:t>Noise Removal</a:t>
                      </a:r>
                    </a:p>
                  </a:txBody>
                  <a:tcPr/>
                </a:tc>
                <a:tc>
                  <a:txBody>
                    <a:bodyPr/>
                    <a:lstStyle/>
                    <a:p>
                      <a:pPr algn="ctr"/>
                      <a:r>
                        <a:rPr lang="en-US" sz="1800" b="0" i="0" kern="1200" dirty="0">
                          <a:solidFill>
                            <a:schemeClr val="dk1"/>
                          </a:solidFill>
                          <a:latin typeface="Times New Roman" pitchFamily="18" charset="0"/>
                          <a:ea typeface="+mn-ea"/>
                          <a:cs typeface="Times New Roman" pitchFamily="18" charset="0"/>
                        </a:rPr>
                        <a:t>Automated cleaning scripts to eliminate invalid entries and duplicates</a:t>
                      </a:r>
                      <a:endParaRPr lang="en-US" dirty="0">
                        <a:latin typeface="Times New Roman" pitchFamily="18" charset="0"/>
                        <a:cs typeface="Times New Roman" pitchFamily="18" charset="0"/>
                      </a:endParaRPr>
                    </a:p>
                  </a:txBody>
                  <a:tcPr/>
                </a:tc>
                <a:tc>
                  <a:txBody>
                    <a:bodyPr/>
                    <a:lstStyle/>
                    <a:p>
                      <a:pPr algn="ctr"/>
                      <a:r>
                        <a:rPr lang="en-US" dirty="0">
                          <a:latin typeface="Times New Roman" pitchFamily="18" charset="0"/>
                          <a:cs typeface="Times New Roman" pitchFamily="18" charset="0"/>
                        </a:rPr>
                        <a:t>Kanchi Karthik </a:t>
                      </a:r>
                    </a:p>
                    <a:p>
                      <a:pPr algn="ctr"/>
                      <a:r>
                        <a:rPr lang="en-US" dirty="0">
                          <a:latin typeface="Times New Roman" pitchFamily="18" charset="0"/>
                          <a:cs typeface="Times New Roman" pitchFamily="18" charset="0"/>
                        </a:rPr>
                        <a:t>(CB.SC.P2.CSE25016)</a:t>
                      </a:r>
                    </a:p>
                  </a:txBody>
                  <a:tcPr/>
                </a:tc>
                <a:extLst>
                  <a:ext uri="{0D108BD9-81ED-4DB2-BD59-A6C34878D82A}">
                    <a16:rowId xmlns:a16="http://schemas.microsoft.com/office/drawing/2014/main" val="3126716426"/>
                  </a:ext>
                </a:extLst>
              </a:tr>
              <a:tr h="951462">
                <a:tc>
                  <a:txBody>
                    <a:bodyPr/>
                    <a:lstStyle/>
                    <a:p>
                      <a:pPr algn="ctr"/>
                      <a:r>
                        <a:rPr lang="en-US">
                          <a:latin typeface="Times New Roman" pitchFamily="18" charset="0"/>
                          <a:cs typeface="Times New Roman" pitchFamily="18" charset="0"/>
                        </a:rPr>
                        <a:t>Pre-processing</a:t>
                      </a:r>
                    </a:p>
                  </a:txBody>
                  <a:tcPr/>
                </a:tc>
                <a:tc>
                  <a:txBody>
                    <a:bodyPr/>
                    <a:lstStyle/>
                    <a:p>
                      <a:pPr algn="ctr" fontAlgn="base" latinLnBrk="0"/>
                      <a:r>
                        <a:rPr lang="en-US" dirty="0">
                          <a:latin typeface="Times New Roman" pitchFamily="18" charset="0"/>
                          <a:cs typeface="Times New Roman" pitchFamily="18" charset="0"/>
                        </a:rPr>
                        <a:t>Ballot normalization, feature encoding for cryptographic processing</a:t>
                      </a:r>
                    </a:p>
                  </a:txBody>
                  <a:tcPr marL="76200" marR="76200" anchor="ctr"/>
                </a:tc>
                <a:tc>
                  <a:txBody>
                    <a:bodyPr/>
                    <a:lstStyle/>
                    <a:p>
                      <a:pPr algn="ctr"/>
                      <a:r>
                        <a:rPr lang="en-US" dirty="0">
                          <a:latin typeface="Times New Roman" pitchFamily="18" charset="0"/>
                          <a:cs typeface="Times New Roman" pitchFamily="18" charset="0"/>
                        </a:rPr>
                        <a:t>Shanmugapriyan S</a:t>
                      </a:r>
                    </a:p>
                    <a:p>
                      <a:pPr algn="ctr"/>
                      <a:r>
                        <a:rPr lang="en-US" dirty="0">
                          <a:latin typeface="Times New Roman" pitchFamily="18" charset="0"/>
                          <a:cs typeface="Times New Roman" pitchFamily="18" charset="0"/>
                        </a:rPr>
                        <a:t>(CB.SC.P2CSE25041)</a:t>
                      </a:r>
                    </a:p>
                    <a:p>
                      <a:pPr algn="ct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264588969"/>
                  </a:ext>
                </a:extLst>
              </a:tr>
            </a:tbl>
          </a:graphicData>
        </a:graphic>
      </p:graphicFrame>
    </p:spTree>
    <p:extLst>
      <p:ext uri="{BB962C8B-B14F-4D97-AF65-F5344CB8AC3E}">
        <p14:creationId xmlns:p14="http://schemas.microsoft.com/office/powerpoint/2010/main" val="3815572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3B984-785F-A71A-1281-BFB24A511E89}"/>
              </a:ext>
            </a:extLst>
          </p:cNvPr>
          <p:cNvSpPr>
            <a:spLocks noGrp="1"/>
          </p:cNvSpPr>
          <p:nvPr>
            <p:ph type="title"/>
          </p:nvPr>
        </p:nvSpPr>
        <p:spPr>
          <a:xfrm>
            <a:off x="669471" y="321585"/>
            <a:ext cx="10515600" cy="679902"/>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Machine Learning Model</a:t>
            </a:r>
            <a:endParaRPr lang="en-US" sz="3600"/>
          </a:p>
        </p:txBody>
      </p:sp>
      <p:graphicFrame>
        <p:nvGraphicFramePr>
          <p:cNvPr id="4" name="Content Placeholder 3">
            <a:extLst>
              <a:ext uri="{FF2B5EF4-FFF2-40B4-BE49-F238E27FC236}">
                <a16:creationId xmlns:a16="http://schemas.microsoft.com/office/drawing/2014/main" id="{2EF59D3A-2D6F-0556-9954-CF64FFA684FE}"/>
              </a:ext>
            </a:extLst>
          </p:cNvPr>
          <p:cNvGraphicFramePr>
            <a:graphicFrameLocks noGrp="1"/>
          </p:cNvGraphicFramePr>
          <p:nvPr>
            <p:ph idx="1"/>
            <p:extLst>
              <p:ext uri="{D42A27DB-BD31-4B8C-83A1-F6EECF244321}">
                <p14:modId xmlns:p14="http://schemas.microsoft.com/office/powerpoint/2010/main" val="3410974923"/>
              </p:ext>
            </p:extLst>
          </p:nvPr>
        </p:nvGraphicFramePr>
        <p:xfrm>
          <a:off x="1355271" y="1495289"/>
          <a:ext cx="9829800" cy="1747520"/>
        </p:xfrm>
        <a:graphic>
          <a:graphicData uri="http://schemas.openxmlformats.org/drawingml/2006/table">
            <a:tbl>
              <a:tblPr firstRow="1" bandRow="1">
                <a:tableStyleId>{5C22544A-7EE6-4342-B048-85BDC9FD1C3A}</a:tableStyleId>
              </a:tblPr>
              <a:tblGrid>
                <a:gridCol w="3154491">
                  <a:extLst>
                    <a:ext uri="{9D8B030D-6E8A-4147-A177-3AD203B41FA5}">
                      <a16:colId xmlns:a16="http://schemas.microsoft.com/office/drawing/2014/main" val="2046135341"/>
                    </a:ext>
                  </a:extLst>
                </a:gridCol>
                <a:gridCol w="6675309">
                  <a:extLst>
                    <a:ext uri="{9D8B030D-6E8A-4147-A177-3AD203B41FA5}">
                      <a16:colId xmlns:a16="http://schemas.microsoft.com/office/drawing/2014/main" val="125374431"/>
                    </a:ext>
                  </a:extLst>
                </a:gridCol>
              </a:tblGrid>
              <a:tr h="370840">
                <a:tc>
                  <a:txBody>
                    <a:bodyPr/>
                    <a:lstStyle/>
                    <a:p>
                      <a:pPr>
                        <a:buNone/>
                      </a:pPr>
                      <a:r>
                        <a:rPr lang="en-IN" b="1" dirty="0"/>
                        <a:t>Algorithm Name</a:t>
                      </a:r>
                      <a:endParaRPr lang="en-IN" dirty="0"/>
                    </a:p>
                  </a:txBody>
                  <a:tcPr anchor="ctr"/>
                </a:tc>
                <a:tc>
                  <a:txBody>
                    <a:bodyPr/>
                    <a:lstStyle/>
                    <a:p>
                      <a:pPr>
                        <a:buNone/>
                      </a:pPr>
                      <a:r>
                        <a:rPr lang="en-IN" b="1"/>
                        <a:t>Student Contributed</a:t>
                      </a:r>
                      <a:endParaRPr lang="en-IN"/>
                    </a:p>
                  </a:txBody>
                  <a:tcPr anchor="ctr"/>
                </a:tc>
                <a:extLst>
                  <a:ext uri="{0D108BD9-81ED-4DB2-BD59-A6C34878D82A}">
                    <a16:rowId xmlns:a16="http://schemas.microsoft.com/office/drawing/2014/main" val="976283460"/>
                  </a:ext>
                </a:extLst>
              </a:tr>
              <a:tr h="236882">
                <a:tc>
                  <a:txBody>
                    <a:bodyPr/>
                    <a:lstStyle/>
                    <a:p>
                      <a:pPr>
                        <a:buNone/>
                      </a:pPr>
                      <a:r>
                        <a:rPr lang="en-IN"/>
                        <a:t>Logistic Regression</a:t>
                      </a:r>
                    </a:p>
                  </a:txBody>
                  <a:tcPr anchor="ctr"/>
                </a:tc>
                <a:tc>
                  <a:txBody>
                    <a:bodyPr/>
                    <a:lstStyle/>
                    <a:p>
                      <a:pPr>
                        <a:buNone/>
                      </a:pPr>
                      <a:r>
                        <a:rPr lang="en-GB" dirty="0"/>
                        <a:t>Kanchi Karthik : Data cleaning &amp; baseline model implementation</a:t>
                      </a:r>
                    </a:p>
                  </a:txBody>
                  <a:tcPr anchor="ctr"/>
                </a:tc>
                <a:extLst>
                  <a:ext uri="{0D108BD9-81ED-4DB2-BD59-A6C34878D82A}">
                    <a16:rowId xmlns:a16="http://schemas.microsoft.com/office/drawing/2014/main" val="764356365"/>
                  </a:ext>
                </a:extLst>
              </a:tr>
              <a:tr h="370840">
                <a:tc>
                  <a:txBody>
                    <a:bodyPr/>
                    <a:lstStyle/>
                    <a:p>
                      <a:pPr>
                        <a:buNone/>
                      </a:pPr>
                      <a:r>
                        <a:rPr lang="en-IN"/>
                        <a:t>SVM (RBF Kernel)</a:t>
                      </a:r>
                    </a:p>
                  </a:txBody>
                  <a:tcPr anchor="ctr"/>
                </a:tc>
                <a:tc>
                  <a:txBody>
                    <a:bodyPr/>
                    <a:lstStyle/>
                    <a:p>
                      <a:pPr>
                        <a:buNone/>
                      </a:pPr>
                      <a:r>
                        <a:rPr lang="en-GB" dirty="0"/>
                        <a:t>Shanmugapriyan : Kernel selection &amp; tuning using </a:t>
                      </a:r>
                      <a:r>
                        <a:rPr lang="en-GB" dirty="0" err="1"/>
                        <a:t>GridSearchCV</a:t>
                      </a:r>
                      <a:endParaRPr lang="en-GB" dirty="0"/>
                    </a:p>
                  </a:txBody>
                  <a:tcPr anchor="ctr"/>
                </a:tc>
                <a:extLst>
                  <a:ext uri="{0D108BD9-81ED-4DB2-BD59-A6C34878D82A}">
                    <a16:rowId xmlns:a16="http://schemas.microsoft.com/office/drawing/2014/main" val="946195484"/>
                  </a:ext>
                </a:extLst>
              </a:tr>
              <a:tr h="370840">
                <a:tc>
                  <a:txBody>
                    <a:bodyPr/>
                    <a:lstStyle/>
                    <a:p>
                      <a:pPr>
                        <a:buNone/>
                      </a:pPr>
                      <a:r>
                        <a:rPr lang="en-IN" dirty="0"/>
                        <a:t>Random Forest Classifier</a:t>
                      </a:r>
                    </a:p>
                  </a:txBody>
                  <a:tcPr anchor="ctr"/>
                </a:tc>
                <a:tc>
                  <a:txBody>
                    <a:bodyPr/>
                    <a:lstStyle/>
                    <a:p>
                      <a:pPr>
                        <a:buNone/>
                      </a:pPr>
                      <a:r>
                        <a:rPr lang="en-GB" dirty="0"/>
                        <a:t>Shanmugapriyan : Feature importance analysis &amp; optimized model selection</a:t>
                      </a:r>
                    </a:p>
                  </a:txBody>
                  <a:tcPr anchor="ctr"/>
                </a:tc>
                <a:extLst>
                  <a:ext uri="{0D108BD9-81ED-4DB2-BD59-A6C34878D82A}">
                    <a16:rowId xmlns:a16="http://schemas.microsoft.com/office/drawing/2014/main" val="3580837797"/>
                  </a:ext>
                </a:extLst>
              </a:tr>
            </a:tbl>
          </a:graphicData>
        </a:graphic>
      </p:graphicFrame>
      <p:sp>
        <p:nvSpPr>
          <p:cNvPr id="5" name="TextBox 4">
            <a:extLst>
              <a:ext uri="{FF2B5EF4-FFF2-40B4-BE49-F238E27FC236}">
                <a16:creationId xmlns:a16="http://schemas.microsoft.com/office/drawing/2014/main" id="{9C1FE337-BF71-5161-6065-78164BDC73CA}"/>
              </a:ext>
            </a:extLst>
          </p:cNvPr>
          <p:cNvSpPr txBox="1"/>
          <p:nvPr/>
        </p:nvSpPr>
        <p:spPr>
          <a:xfrm>
            <a:off x="847139" y="3736612"/>
            <a:ext cx="10817469" cy="1938992"/>
          </a:xfrm>
          <a:prstGeom prst="rect">
            <a:avLst/>
          </a:prstGeom>
          <a:noFill/>
        </p:spPr>
        <p:txBody>
          <a:bodyPr wrap="square" rtlCol="0">
            <a:spAutoFit/>
          </a:bodyPr>
          <a:lstStyle/>
          <a:p>
            <a:pPr algn="just"/>
            <a:r>
              <a:rPr lang="en-GB" sz="2400" dirty="0"/>
              <a:t>In this research, three Machine Learning models were developed to detect and classify voting-related anomalies. Logistic Regression was used as a baseline, followed by SVM (RBF) for non-linear pattern detection, and Random Forest for robust decision-making with feature importance analysis. The best-performing model was selected after evaluating performance before and after hyperparameter tuning.</a:t>
            </a:r>
            <a:endParaRPr lang="en-US" sz="24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407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B434-5919-2D86-7CD6-82819FE9C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AE0CC-865D-9224-670C-C79069782DF2}"/>
              </a:ext>
            </a:extLst>
          </p:cNvPr>
          <p:cNvSpPr>
            <a:spLocks noGrp="1"/>
          </p:cNvSpPr>
          <p:nvPr>
            <p:ph type="title"/>
          </p:nvPr>
        </p:nvSpPr>
        <p:spPr>
          <a:xfrm>
            <a:off x="836271" y="235266"/>
            <a:ext cx="10515600" cy="5928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Algorithm - proposed</a:t>
            </a:r>
          </a:p>
        </p:txBody>
      </p:sp>
      <p:graphicFrame>
        <p:nvGraphicFramePr>
          <p:cNvPr id="6" name="Content Placeholder 5">
            <a:extLst>
              <a:ext uri="{FF2B5EF4-FFF2-40B4-BE49-F238E27FC236}">
                <a16:creationId xmlns:a16="http://schemas.microsoft.com/office/drawing/2014/main" id="{6939D01C-A93F-A808-7B22-3FD705FAC591}"/>
              </a:ext>
            </a:extLst>
          </p:cNvPr>
          <p:cNvGraphicFramePr>
            <a:graphicFrameLocks noGrp="1"/>
          </p:cNvGraphicFramePr>
          <p:nvPr>
            <p:ph idx="1"/>
            <p:extLst>
              <p:ext uri="{D42A27DB-BD31-4B8C-83A1-F6EECF244321}">
                <p14:modId xmlns:p14="http://schemas.microsoft.com/office/powerpoint/2010/main" val="2655578555"/>
              </p:ext>
            </p:extLst>
          </p:nvPr>
        </p:nvGraphicFramePr>
        <p:xfrm>
          <a:off x="836271" y="895041"/>
          <a:ext cx="10515600" cy="3498309"/>
        </p:xfrm>
        <a:graphic>
          <a:graphicData uri="http://schemas.openxmlformats.org/drawingml/2006/table">
            <a:tbl>
              <a:tblPr firstRow="1" bandRow="1">
                <a:tableStyleId>{5C22544A-7EE6-4342-B048-85BDC9FD1C3A}</a:tableStyleId>
              </a:tblPr>
              <a:tblGrid>
                <a:gridCol w="5724646">
                  <a:extLst>
                    <a:ext uri="{9D8B030D-6E8A-4147-A177-3AD203B41FA5}">
                      <a16:colId xmlns:a16="http://schemas.microsoft.com/office/drawing/2014/main" val="917395613"/>
                    </a:ext>
                  </a:extLst>
                </a:gridCol>
                <a:gridCol w="4790954">
                  <a:extLst>
                    <a:ext uri="{9D8B030D-6E8A-4147-A177-3AD203B41FA5}">
                      <a16:colId xmlns:a16="http://schemas.microsoft.com/office/drawing/2014/main" val="2102373246"/>
                    </a:ext>
                  </a:extLst>
                </a:gridCol>
              </a:tblGrid>
              <a:tr h="3498309">
                <a:tc>
                  <a:txBody>
                    <a:bodyPr/>
                    <a:lstStyle/>
                    <a:p>
                      <a:pPr marL="285750" indent="-285750">
                        <a:buFont typeface="Arial" panose="020B0604020202020204" pitchFamily="34" charset="0"/>
                        <a:buChar char="•"/>
                      </a:pPr>
                      <a:r>
                        <a:rPr lang="en-GB" sz="2000" b="0" dirty="0">
                          <a:solidFill>
                            <a:schemeClr val="tx1"/>
                          </a:solidFill>
                        </a:rPr>
                        <a:t>The proposed model uses a Deep Learning hybrid architecture.</a:t>
                      </a:r>
                    </a:p>
                    <a:p>
                      <a:pPr marL="285750" indent="-285750">
                        <a:buFont typeface="Arial" panose="020B0604020202020204" pitchFamily="34" charset="0"/>
                        <a:buChar char="•"/>
                      </a:pPr>
                      <a:r>
                        <a:rPr lang="en-GB" sz="2000" b="0" dirty="0">
                          <a:solidFill>
                            <a:schemeClr val="tx1"/>
                          </a:solidFill>
                        </a:rPr>
                        <a:t>The temporal features of the voting sequence are processed using Conv1D + Bi - LSTM.</a:t>
                      </a:r>
                    </a:p>
                    <a:p>
                      <a:pPr marL="285750" indent="-285750">
                        <a:buFont typeface="Arial" panose="020B0604020202020204" pitchFamily="34" charset="0"/>
                        <a:buChar char="•"/>
                      </a:pPr>
                      <a:r>
                        <a:rPr lang="en-GB" sz="2000" b="0" dirty="0">
                          <a:solidFill>
                            <a:schemeClr val="tx1"/>
                          </a:solidFill>
                        </a:rPr>
                        <a:t>The static ballot / credential features are processed using Dense layers.</a:t>
                      </a:r>
                    </a:p>
                    <a:p>
                      <a:pPr marL="285750" indent="-285750">
                        <a:buFont typeface="Arial" panose="020B0604020202020204" pitchFamily="34" charset="0"/>
                        <a:buChar char="•"/>
                      </a:pPr>
                      <a:r>
                        <a:rPr lang="en-GB" sz="2000" b="0" dirty="0">
                          <a:solidFill>
                            <a:schemeClr val="tx1"/>
                          </a:solidFill>
                        </a:rPr>
                        <a:t>The outputs of both branches are concatenated and passed to fully connected layers.</a:t>
                      </a:r>
                    </a:p>
                    <a:p>
                      <a:pPr marL="285750" indent="-285750">
                        <a:buFont typeface="Arial" panose="020B0604020202020204" pitchFamily="34" charset="0"/>
                        <a:buChar char="•"/>
                      </a:pPr>
                      <a:r>
                        <a:rPr lang="en-GB" sz="2000" b="0" dirty="0">
                          <a:solidFill>
                            <a:schemeClr val="tx1"/>
                          </a:solidFill>
                        </a:rPr>
                        <a:t>The final layer uses a Sigmoid activation to classify the transaction as Legit or Suspect.</a:t>
                      </a:r>
                    </a:p>
                  </a:txBody>
                  <a:tcPr>
                    <a:solidFill>
                      <a:schemeClr val="accent1">
                        <a:lumMod val="20000"/>
                        <a:lumOff val="80000"/>
                      </a:schemeClr>
                    </a:solidFill>
                  </a:tcPr>
                </a:tc>
                <a:tc>
                  <a:txBody>
                    <a:bodyPr/>
                    <a:lstStyle/>
                    <a:p>
                      <a:endParaRPr lang="en-IN" dirty="0"/>
                    </a:p>
                  </a:txBody>
                  <a:tcPr/>
                </a:tc>
                <a:extLst>
                  <a:ext uri="{0D108BD9-81ED-4DB2-BD59-A6C34878D82A}">
                    <a16:rowId xmlns:a16="http://schemas.microsoft.com/office/drawing/2014/main" val="3194136910"/>
                  </a:ext>
                </a:extLst>
              </a:tr>
            </a:tbl>
          </a:graphicData>
        </a:graphic>
      </p:graphicFrame>
      <p:pic>
        <p:nvPicPr>
          <p:cNvPr id="8" name="Picture 7" descr="A diagram of a diagram&#10;&#10;AI-generated content may be incorrect.">
            <a:extLst>
              <a:ext uri="{FF2B5EF4-FFF2-40B4-BE49-F238E27FC236}">
                <a16:creationId xmlns:a16="http://schemas.microsoft.com/office/drawing/2014/main" id="{BFAEE453-A791-BB9B-CDB8-E9FD02BB96A5}"/>
              </a:ext>
            </a:extLst>
          </p:cNvPr>
          <p:cNvPicPr>
            <a:picLocks noChangeAspect="1"/>
          </p:cNvPicPr>
          <p:nvPr/>
        </p:nvPicPr>
        <p:blipFill>
          <a:blip r:embed="rId2"/>
          <a:stretch>
            <a:fillRect/>
          </a:stretch>
        </p:blipFill>
        <p:spPr>
          <a:xfrm>
            <a:off x="6646687" y="1430989"/>
            <a:ext cx="4589466" cy="2783711"/>
          </a:xfrm>
          <a:prstGeom prst="rect">
            <a:avLst/>
          </a:prstGeom>
        </p:spPr>
      </p:pic>
      <p:sp>
        <p:nvSpPr>
          <p:cNvPr id="9" name="TextBox 8">
            <a:extLst>
              <a:ext uri="{FF2B5EF4-FFF2-40B4-BE49-F238E27FC236}">
                <a16:creationId xmlns:a16="http://schemas.microsoft.com/office/drawing/2014/main" id="{5725528E-41E6-728C-6512-41208150E651}"/>
              </a:ext>
            </a:extLst>
          </p:cNvPr>
          <p:cNvSpPr txBox="1"/>
          <p:nvPr/>
        </p:nvSpPr>
        <p:spPr>
          <a:xfrm>
            <a:off x="2476982" y="4485631"/>
            <a:ext cx="7234177" cy="1477328"/>
          </a:xfrm>
          <a:prstGeom prst="rect">
            <a:avLst/>
          </a:prstGeom>
          <a:noFill/>
        </p:spPr>
        <p:txBody>
          <a:bodyPr wrap="square" rtlCol="0">
            <a:spAutoFit/>
          </a:bodyPr>
          <a:lstStyle/>
          <a:p>
            <a:pPr marL="342900" indent="-342900">
              <a:buFont typeface="+mj-lt"/>
              <a:buAutoNum type="arabicPeriod"/>
            </a:pPr>
            <a:r>
              <a:rPr lang="en-GB" dirty="0"/>
              <a:t>Conv1D extracts local temporal patterns.</a:t>
            </a:r>
          </a:p>
          <a:p>
            <a:pPr marL="342900" indent="-342900">
              <a:buFont typeface="+mj-lt"/>
              <a:buAutoNum type="arabicPeriod"/>
            </a:pPr>
            <a:r>
              <a:rPr lang="en-GB" dirty="0"/>
              <a:t>Bi-LSTM captures forward and backward voting </a:t>
            </a:r>
            <a:r>
              <a:rPr lang="en-GB" dirty="0" err="1"/>
              <a:t>behavior</a:t>
            </a:r>
            <a:r>
              <a:rPr lang="en-GB" dirty="0"/>
              <a:t> dependencies.</a:t>
            </a:r>
          </a:p>
          <a:p>
            <a:pPr marL="342900" indent="-342900">
              <a:buFont typeface="+mj-lt"/>
              <a:buAutoNum type="arabicPeriod"/>
            </a:pPr>
            <a:r>
              <a:rPr lang="en-GB" dirty="0"/>
              <a:t>Dense layer learns structural ballot/credential features.</a:t>
            </a:r>
          </a:p>
          <a:p>
            <a:pPr marL="342900" indent="-342900">
              <a:buFont typeface="+mj-lt"/>
              <a:buAutoNum type="arabicPeriod"/>
            </a:pPr>
            <a:r>
              <a:rPr lang="en-GB" dirty="0"/>
              <a:t>Both representations are fused.</a:t>
            </a:r>
          </a:p>
          <a:p>
            <a:pPr marL="342900" indent="-342900">
              <a:buFont typeface="+mj-lt"/>
              <a:buAutoNum type="arabicPeriod"/>
            </a:pPr>
            <a:r>
              <a:rPr lang="en-GB" dirty="0"/>
              <a:t>Final Sigmoid outputs likelihood of fraudulent vote.</a:t>
            </a:r>
          </a:p>
        </p:txBody>
      </p:sp>
    </p:spTree>
    <p:extLst>
      <p:ext uri="{BB962C8B-B14F-4D97-AF65-F5344CB8AC3E}">
        <p14:creationId xmlns:p14="http://schemas.microsoft.com/office/powerpoint/2010/main" val="723075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C9BB3-F18F-99D1-14F0-B82A3367E052}"/>
              </a:ext>
            </a:extLst>
          </p:cNvPr>
          <p:cNvSpPr>
            <a:spLocks noGrp="1"/>
          </p:cNvSpPr>
          <p:nvPr>
            <p:ph type="title"/>
          </p:nvPr>
        </p:nvSpPr>
        <p:spPr>
          <a:xfrm>
            <a:off x="246927" y="133633"/>
            <a:ext cx="11106873" cy="1325563"/>
          </a:xfrm>
        </p:spPr>
        <p:txBody>
          <a:bodyPr>
            <a:normAutofit/>
          </a:bodyPr>
          <a:lstStyle/>
          <a:p>
            <a:r>
              <a:rPr lang="en-US" sz="4000" dirty="0"/>
              <a:t>Difference from Existing Algorithms</a:t>
            </a:r>
          </a:p>
        </p:txBody>
      </p:sp>
      <p:sp>
        <p:nvSpPr>
          <p:cNvPr id="3" name="Content Placeholder 2">
            <a:extLst>
              <a:ext uri="{FF2B5EF4-FFF2-40B4-BE49-F238E27FC236}">
                <a16:creationId xmlns:a16="http://schemas.microsoft.com/office/drawing/2014/main" id="{0FD446D1-76FB-0EA2-CF78-B8ED216DBAF5}"/>
              </a:ext>
            </a:extLst>
          </p:cNvPr>
          <p:cNvSpPr>
            <a:spLocks noGrp="1"/>
          </p:cNvSpPr>
          <p:nvPr>
            <p:ph idx="1"/>
          </p:nvPr>
        </p:nvSpPr>
        <p:spPr>
          <a:xfrm>
            <a:off x="838200" y="1459196"/>
            <a:ext cx="10515600" cy="4351338"/>
          </a:xfrm>
        </p:spPr>
        <p:txBody>
          <a:bodyPr>
            <a:normAutofit fontScale="92500"/>
          </a:bodyPr>
          <a:lstStyle/>
          <a:p>
            <a:r>
              <a:rPr lang="en-GB" dirty="0">
                <a:latin typeface="+mn-lt"/>
              </a:rPr>
              <a:t>Uses a hybrid approach: Random Forest pre-filter + Deep Learning verifier.</a:t>
            </a:r>
          </a:p>
          <a:p>
            <a:r>
              <a:rPr lang="en-GB" dirty="0">
                <a:latin typeface="+mn-lt"/>
              </a:rPr>
              <a:t>Captures sequence </a:t>
            </a:r>
            <a:r>
              <a:rPr lang="en-GB" dirty="0" err="1">
                <a:latin typeface="+mn-lt"/>
              </a:rPr>
              <a:t>behavior</a:t>
            </a:r>
            <a:r>
              <a:rPr lang="en-GB" dirty="0">
                <a:latin typeface="+mn-lt"/>
              </a:rPr>
              <a:t> using Conv1D + Bi-LSTM, while existing models treat each vote independently.</a:t>
            </a:r>
          </a:p>
          <a:p>
            <a:r>
              <a:rPr lang="en-GB" dirty="0">
                <a:latin typeface="+mn-lt"/>
              </a:rPr>
              <a:t>Supports multiple ballot formats (approval / score), not just single-choice voting.</a:t>
            </a:r>
          </a:p>
          <a:p>
            <a:r>
              <a:rPr lang="en-GB" dirty="0">
                <a:latin typeface="+mn-lt"/>
              </a:rPr>
              <a:t>Reduces on-chain cost by screening anomalies before writing to blockchain.</a:t>
            </a:r>
          </a:p>
          <a:p>
            <a:r>
              <a:rPr lang="en-GB" dirty="0">
                <a:latin typeface="+mn-lt"/>
              </a:rPr>
              <a:t>Works on both Hyperledger Fabric and Ethereum </a:t>
            </a:r>
            <a:r>
              <a:rPr lang="en-GB" dirty="0" err="1">
                <a:latin typeface="+mn-lt"/>
              </a:rPr>
              <a:t>testnet</a:t>
            </a:r>
            <a:r>
              <a:rPr lang="en-GB" dirty="0">
                <a:latin typeface="+mn-lt"/>
              </a:rPr>
              <a:t>, while previous works focus on a single chain.</a:t>
            </a:r>
          </a:p>
          <a:p>
            <a:r>
              <a:rPr lang="en-GB" dirty="0">
                <a:latin typeface="+mn-lt"/>
              </a:rPr>
              <a:t>Provides explanations using SHAP/LIME to show why a vote was flagged, improving transparency.</a:t>
            </a:r>
          </a:p>
          <a:p>
            <a:endParaRPr lang="en-IN" dirty="0">
              <a:latin typeface="+mn-lt"/>
            </a:endParaRPr>
          </a:p>
        </p:txBody>
      </p:sp>
    </p:spTree>
    <p:extLst>
      <p:ext uri="{BB962C8B-B14F-4D97-AF65-F5344CB8AC3E}">
        <p14:creationId xmlns:p14="http://schemas.microsoft.com/office/powerpoint/2010/main" val="845138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301F0-F3AC-A0AF-4F17-958E284BD127}"/>
              </a:ext>
            </a:extLst>
          </p:cNvPr>
          <p:cNvSpPr>
            <a:spLocks noGrp="1"/>
          </p:cNvSpPr>
          <p:nvPr>
            <p:ph type="title"/>
          </p:nvPr>
        </p:nvSpPr>
        <p:spPr>
          <a:xfrm>
            <a:off x="185195" y="23149"/>
            <a:ext cx="10515600" cy="1325563"/>
          </a:xfrm>
        </p:spPr>
        <p:txBody>
          <a:bodyPr>
            <a:normAutofit/>
          </a:bodyPr>
          <a:lstStyle/>
          <a:p>
            <a:r>
              <a:rPr lang="en-US" sz="4000" dirty="0"/>
              <a:t>Explanation of algorithm</a:t>
            </a:r>
            <a:endParaRPr lang="en-IN" sz="4000" dirty="0"/>
          </a:p>
        </p:txBody>
      </p:sp>
      <p:sp>
        <p:nvSpPr>
          <p:cNvPr id="14" name="TextBox 13">
            <a:extLst>
              <a:ext uri="{FF2B5EF4-FFF2-40B4-BE49-F238E27FC236}">
                <a16:creationId xmlns:a16="http://schemas.microsoft.com/office/drawing/2014/main" id="{9A56E055-B6BE-206C-E828-E42EBFACCF67}"/>
              </a:ext>
            </a:extLst>
          </p:cNvPr>
          <p:cNvSpPr txBox="1"/>
          <p:nvPr/>
        </p:nvSpPr>
        <p:spPr>
          <a:xfrm>
            <a:off x="518160" y="1198879"/>
            <a:ext cx="10515600" cy="4524315"/>
          </a:xfrm>
          <a:prstGeom prst="rect">
            <a:avLst/>
          </a:prstGeom>
          <a:noFill/>
        </p:spPr>
        <p:txBody>
          <a:bodyPr wrap="square" rtlCol="0">
            <a:spAutoFit/>
          </a:bodyPr>
          <a:lstStyle/>
          <a:p>
            <a:pPr marL="285750" indent="-285750">
              <a:buFont typeface="Arial" panose="020B0604020202020204" pitchFamily="34" charset="0"/>
              <a:buChar char="•"/>
            </a:pPr>
            <a:r>
              <a:rPr lang="en-GB" sz="1600" dirty="0"/>
              <a:t>The proposed system provides secure and private electronic voting without depending on a single trusted authority.</a:t>
            </a:r>
          </a:p>
          <a:p>
            <a:pPr marL="285750" indent="-285750">
              <a:buFont typeface="Arial" panose="020B0604020202020204" pitchFamily="34" charset="0"/>
              <a:buChar char="•"/>
            </a:pPr>
            <a:r>
              <a:rPr lang="en-GB" sz="1600" dirty="0"/>
              <a:t>Multiple authorities are used for voter verification, but none of them can link a voter to the vote they cast.</a:t>
            </a:r>
          </a:p>
          <a:p>
            <a:pPr marL="285750" indent="-285750">
              <a:buFont typeface="Arial" panose="020B0604020202020204" pitchFamily="34" charset="0"/>
              <a:buChar char="•"/>
            </a:pPr>
            <a:r>
              <a:rPr lang="en-GB" sz="1600" dirty="0"/>
              <a:t>During Registration, each voter receives a blind signature on their identity. This ensures anonymity because the authority signs the identity without seeing it.</a:t>
            </a:r>
          </a:p>
          <a:p>
            <a:pPr marL="285750" indent="-285750">
              <a:buFont typeface="Arial" panose="020B0604020202020204" pitchFamily="34" charset="0"/>
              <a:buChar char="•"/>
            </a:pPr>
            <a:r>
              <a:rPr lang="en-GB" sz="1600" dirty="0"/>
              <a:t>When Casting the Vote, the vote is encrypted and signed, and a Zero-Knowledge Proof (ZKP) is attached.</a:t>
            </a:r>
          </a:p>
          <a:p>
            <a:pPr marL="285750" indent="-285750">
              <a:buFont typeface="Arial" panose="020B0604020202020204" pitchFamily="34" charset="0"/>
              <a:buChar char="•"/>
            </a:pPr>
            <a:r>
              <a:rPr lang="en-GB" sz="1600" dirty="0"/>
              <a:t>This proves that the vote is valid without revealing who cast it or what the vote contains.</a:t>
            </a:r>
          </a:p>
          <a:p>
            <a:pPr marL="285750" indent="-285750">
              <a:buFont typeface="Arial" panose="020B0604020202020204" pitchFamily="34" charset="0"/>
              <a:buChar char="•"/>
            </a:pPr>
            <a:r>
              <a:rPr lang="en-GB" sz="1600" dirty="0"/>
              <a:t>Votes are stored on the Blockchain, ensuring they cannot be modified or deleted once submitted.</a:t>
            </a:r>
          </a:p>
          <a:p>
            <a:pPr marL="285750" indent="-285750">
              <a:buFont typeface="Arial" panose="020B0604020202020204" pitchFamily="34" charset="0"/>
              <a:buChar char="•"/>
            </a:pPr>
            <a:r>
              <a:rPr lang="en-GB" sz="1600" dirty="0"/>
              <a:t>During Tallying, votes are combined homomorphically (mathematically summed while still encrypted).</a:t>
            </a:r>
          </a:p>
          <a:p>
            <a:pPr marL="285750" indent="-285750">
              <a:buFont typeface="Arial" panose="020B0604020202020204" pitchFamily="34" charset="0"/>
              <a:buChar char="•"/>
            </a:pPr>
            <a:r>
              <a:rPr lang="en-GB" sz="1600" dirty="0"/>
              <a:t>No one sees individual votes, only the final result is decrypted.</a:t>
            </a:r>
          </a:p>
          <a:p>
            <a:pPr marL="285750" indent="-285750">
              <a:buFont typeface="Arial" panose="020B0604020202020204" pitchFamily="34" charset="0"/>
              <a:buChar char="•"/>
            </a:pPr>
            <a:r>
              <a:rPr lang="en-GB" sz="1600" dirty="0"/>
              <a:t>Threshold decryption ensures that multiple authorities must cooperate to reveal the final tally.</a:t>
            </a:r>
          </a:p>
          <a:p>
            <a:pPr marL="285750" indent="-285750">
              <a:buFont typeface="Arial" panose="020B0604020202020204" pitchFamily="34" charset="0"/>
              <a:buChar char="•"/>
            </a:pPr>
            <a:r>
              <a:rPr lang="en-GB" sz="1600" dirty="0"/>
              <a:t>Even if one authority is corrupt, the election remains secure.</a:t>
            </a:r>
          </a:p>
          <a:p>
            <a:endParaRPr lang="en-GB" sz="1600" dirty="0"/>
          </a:p>
          <a:p>
            <a:pPr marL="285750" indent="-285750">
              <a:buFont typeface="Arial" panose="020B0604020202020204" pitchFamily="34" charset="0"/>
              <a:buChar char="•"/>
            </a:pPr>
            <a:r>
              <a:rPr lang="en-GB" sz="1600" dirty="0"/>
              <a:t>The algorithm guarantees:</a:t>
            </a:r>
          </a:p>
          <a:p>
            <a:pPr marL="742950" lvl="1" indent="-285750">
              <a:buFont typeface="Arial" panose="020B0604020202020204" pitchFamily="34" charset="0"/>
              <a:buChar char="•"/>
            </a:pPr>
            <a:r>
              <a:rPr lang="en-GB" sz="1600" dirty="0"/>
              <a:t>Voter Anonymity</a:t>
            </a:r>
          </a:p>
          <a:p>
            <a:pPr marL="742950" lvl="1" indent="-285750">
              <a:buFont typeface="Arial" panose="020B0604020202020204" pitchFamily="34" charset="0"/>
              <a:buChar char="•"/>
            </a:pPr>
            <a:r>
              <a:rPr lang="en-GB" sz="1600" dirty="0"/>
              <a:t>Vote Integrity</a:t>
            </a:r>
          </a:p>
          <a:p>
            <a:pPr marL="742950" lvl="1" indent="-285750">
              <a:buFont typeface="Arial" panose="020B0604020202020204" pitchFamily="34" charset="0"/>
              <a:buChar char="•"/>
            </a:pPr>
            <a:r>
              <a:rPr lang="en-GB" sz="1600" dirty="0"/>
              <a:t>Public Verifiability</a:t>
            </a:r>
          </a:p>
          <a:p>
            <a:pPr marL="742950" lvl="1" indent="-285750">
              <a:buFont typeface="Arial" panose="020B0604020202020204" pitchFamily="34" charset="0"/>
              <a:buChar char="•"/>
            </a:pPr>
            <a:r>
              <a:rPr lang="en-GB" sz="1600" dirty="0"/>
              <a:t>Tamper-proof storage</a:t>
            </a:r>
          </a:p>
          <a:p>
            <a:pPr marL="285750" indent="-285750">
              <a:buFont typeface="Arial" panose="020B0604020202020204" pitchFamily="34" charset="0"/>
              <a:buChar char="•"/>
            </a:pPr>
            <a:endParaRPr lang="en-IN" sz="1600" dirty="0"/>
          </a:p>
        </p:txBody>
      </p:sp>
    </p:spTree>
    <p:extLst>
      <p:ext uri="{BB962C8B-B14F-4D97-AF65-F5344CB8AC3E}">
        <p14:creationId xmlns:p14="http://schemas.microsoft.com/office/powerpoint/2010/main" val="1188222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29FF3-E517-37EF-F2BA-0561A57AE5DC}"/>
              </a:ext>
            </a:extLst>
          </p:cNvPr>
          <p:cNvSpPr>
            <a:spLocks noGrp="1"/>
          </p:cNvSpPr>
          <p:nvPr>
            <p:ph type="title"/>
          </p:nvPr>
        </p:nvSpPr>
        <p:spPr>
          <a:xfrm>
            <a:off x="208280" y="50800"/>
            <a:ext cx="10515600" cy="1325563"/>
          </a:xfrm>
        </p:spPr>
        <p:txBody>
          <a:bodyPr>
            <a:normAutofit/>
          </a:bodyPr>
          <a:lstStyle/>
          <a:p>
            <a:r>
              <a:rPr lang="en-US" sz="4000" dirty="0"/>
              <a:t>Complexity Analysis</a:t>
            </a:r>
            <a:endParaRPr lang="en-IN" sz="4000" dirty="0"/>
          </a:p>
        </p:txBody>
      </p:sp>
      <p:sp>
        <p:nvSpPr>
          <p:cNvPr id="3" name="Content Placeholder 2">
            <a:extLst>
              <a:ext uri="{FF2B5EF4-FFF2-40B4-BE49-F238E27FC236}">
                <a16:creationId xmlns:a16="http://schemas.microsoft.com/office/drawing/2014/main" id="{40E6C5F2-2B43-DDEC-2FA7-790B27C4B29A}"/>
              </a:ext>
            </a:extLst>
          </p:cNvPr>
          <p:cNvSpPr>
            <a:spLocks noGrp="1"/>
          </p:cNvSpPr>
          <p:nvPr>
            <p:ph idx="1"/>
          </p:nvPr>
        </p:nvSpPr>
        <p:spPr>
          <a:xfrm>
            <a:off x="591820" y="1343818"/>
            <a:ext cx="11008360" cy="4351338"/>
          </a:xfrm>
        </p:spPr>
        <p:txBody>
          <a:bodyPr>
            <a:normAutofit fontScale="25000" lnSpcReduction="20000"/>
          </a:bodyPr>
          <a:lstStyle/>
          <a:p>
            <a:r>
              <a:rPr lang="en-GB" sz="6400" dirty="0"/>
              <a:t>The proposed system consists of three main phases: Registration, Vote Casting, and Tallying.</a:t>
            </a:r>
          </a:p>
          <a:p>
            <a:r>
              <a:rPr lang="en-GB" sz="6400" dirty="0"/>
              <a:t>During Registration, each voter obtains blind signatures from multiple authorities.</a:t>
            </a:r>
          </a:p>
          <a:p>
            <a:r>
              <a:rPr lang="en-GB" sz="6400" dirty="0"/>
              <a:t>This requires O(n) signature operations, where n is the number of authorities.</a:t>
            </a:r>
          </a:p>
          <a:p>
            <a:r>
              <a:rPr lang="en-GB" sz="6400" dirty="0"/>
              <a:t>Vote casting involves homomorphic encryption and generating a Zero-Knowledge Proof.</a:t>
            </a:r>
          </a:p>
          <a:p>
            <a:r>
              <a:rPr lang="en-GB" sz="6400" dirty="0"/>
              <a:t>Encryption and proof generation require O(1) time per vote.</a:t>
            </a:r>
          </a:p>
          <a:p>
            <a:r>
              <a:rPr lang="en-GB" sz="6400" dirty="0"/>
              <a:t>All votes are stored on the blockchain, providing immutable and verifiable records.</a:t>
            </a:r>
          </a:p>
          <a:p>
            <a:r>
              <a:rPr lang="en-GB" sz="6400" dirty="0"/>
              <a:t>Writing to the blockchain costs O(1) per transaction.</a:t>
            </a:r>
          </a:p>
          <a:p>
            <a:r>
              <a:rPr lang="en-GB" sz="6400" dirty="0"/>
              <a:t>In the tallying stage, the system performs homomorphic aggregation of encrypted votes.</a:t>
            </a:r>
          </a:p>
          <a:p>
            <a:r>
              <a:rPr lang="en-GB" sz="6400" dirty="0"/>
              <a:t>Aggregation is linear in the number of votes, i.e., O(V), where V is the number of voters.</a:t>
            </a:r>
          </a:p>
          <a:p>
            <a:r>
              <a:rPr lang="en-GB" sz="6400" dirty="0"/>
              <a:t>Final decryption uses threshold decryption, requiring cooperation from multiple authorities.</a:t>
            </a:r>
          </a:p>
          <a:p>
            <a:r>
              <a:rPr lang="en-GB" sz="6400" dirty="0"/>
              <a:t>Threshold decryption is O(t), where t is the minimum number of authorities required to reconstruct the final count.</a:t>
            </a:r>
          </a:p>
          <a:p>
            <a:r>
              <a:rPr lang="en-GB" sz="6400" dirty="0"/>
              <a:t>Overall complexity:</a:t>
            </a:r>
          </a:p>
          <a:p>
            <a:pPr lvl="1"/>
            <a:r>
              <a:rPr lang="en-GB" sz="6400" dirty="0"/>
              <a:t>Computation Complexity: O(n + V + t)</a:t>
            </a:r>
          </a:p>
          <a:p>
            <a:pPr lvl="1"/>
            <a:r>
              <a:rPr lang="en-GB" sz="6400" dirty="0"/>
              <a:t>Storage Complexity: O(V) since all votes are stored on-chain.</a:t>
            </a:r>
          </a:p>
          <a:p>
            <a:pPr lvl="1"/>
            <a:r>
              <a:rPr lang="en-GB" sz="6400" dirty="0"/>
              <a:t>The system is scalable and efficient because no individual vote is decrypted, only the final tally is revealed.</a:t>
            </a:r>
          </a:p>
          <a:p>
            <a:endParaRPr lang="en-IN" dirty="0"/>
          </a:p>
        </p:txBody>
      </p:sp>
    </p:spTree>
    <p:extLst>
      <p:ext uri="{BB962C8B-B14F-4D97-AF65-F5344CB8AC3E}">
        <p14:creationId xmlns:p14="http://schemas.microsoft.com/office/powerpoint/2010/main" val="2482026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114E4-BD2F-FBCE-87F6-B417D6C8B4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36E8D-D27F-7A32-E819-B9EC8A416553}"/>
              </a:ext>
            </a:extLst>
          </p:cNvPr>
          <p:cNvSpPr>
            <a:spLocks noGrp="1"/>
          </p:cNvSpPr>
          <p:nvPr>
            <p:ph type="title"/>
          </p:nvPr>
        </p:nvSpPr>
        <p:spPr>
          <a:xfrm>
            <a:off x="293707" y="226152"/>
            <a:ext cx="10515600" cy="576488"/>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Experimental Set up</a:t>
            </a:r>
          </a:p>
        </p:txBody>
      </p:sp>
      <p:sp>
        <p:nvSpPr>
          <p:cNvPr id="3" name="Content Placeholder 2">
            <a:extLst>
              <a:ext uri="{FF2B5EF4-FFF2-40B4-BE49-F238E27FC236}">
                <a16:creationId xmlns:a16="http://schemas.microsoft.com/office/drawing/2014/main" id="{F356DBF5-9615-369E-65EF-A134B2AB63FB}"/>
              </a:ext>
            </a:extLst>
          </p:cNvPr>
          <p:cNvSpPr>
            <a:spLocks noGrp="1"/>
          </p:cNvSpPr>
          <p:nvPr>
            <p:ph idx="1"/>
          </p:nvPr>
        </p:nvSpPr>
        <p:spPr>
          <a:xfrm>
            <a:off x="4564284" y="449023"/>
            <a:ext cx="7473387" cy="380930"/>
          </a:xfrm>
        </p:spPr>
        <p:txBody>
          <a:bodyPr>
            <a:normAutofit fontScale="92500" lnSpcReduction="10000"/>
          </a:bodyPr>
          <a:lstStyle/>
          <a:p>
            <a:pPr marL="0" indent="0">
              <a:buNone/>
            </a:pPr>
            <a:r>
              <a:rPr lang="en-GB" sz="2400" dirty="0">
                <a:latin typeface="+mn-lt"/>
                <a:cs typeface="Times New Roman" panose="02020603050405020304" pitchFamily="18" charset="0"/>
              </a:rPr>
              <a:t>Table: Architecture &amp; System Parameters used in the prototype</a:t>
            </a:r>
          </a:p>
          <a:p>
            <a:endParaRPr lang="en-US" sz="2400" dirty="0">
              <a:latin typeface="+mn-lt"/>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6547D01-EBF6-8E6D-D7FC-A1D785398A46}"/>
              </a:ext>
            </a:extLst>
          </p:cNvPr>
          <p:cNvGraphicFramePr>
            <a:graphicFrameLocks noGrp="1"/>
          </p:cNvGraphicFramePr>
          <p:nvPr>
            <p:extLst>
              <p:ext uri="{D42A27DB-BD31-4B8C-83A1-F6EECF244321}">
                <p14:modId xmlns:p14="http://schemas.microsoft.com/office/powerpoint/2010/main" val="3236610745"/>
              </p:ext>
            </p:extLst>
          </p:nvPr>
        </p:nvGraphicFramePr>
        <p:xfrm>
          <a:off x="322403" y="857266"/>
          <a:ext cx="11547193" cy="5143468"/>
        </p:xfrm>
        <a:graphic>
          <a:graphicData uri="http://schemas.openxmlformats.org/drawingml/2006/table">
            <a:tbl>
              <a:tblPr firstRow="1" bandRow="1">
                <a:tableStyleId>{5C22544A-7EE6-4342-B048-85BDC9FD1C3A}</a:tableStyleId>
              </a:tblPr>
              <a:tblGrid>
                <a:gridCol w="666991">
                  <a:extLst>
                    <a:ext uri="{9D8B030D-6E8A-4147-A177-3AD203B41FA5}">
                      <a16:colId xmlns:a16="http://schemas.microsoft.com/office/drawing/2014/main" val="736658154"/>
                    </a:ext>
                  </a:extLst>
                </a:gridCol>
                <a:gridCol w="1956121">
                  <a:extLst>
                    <a:ext uri="{9D8B030D-6E8A-4147-A177-3AD203B41FA5}">
                      <a16:colId xmlns:a16="http://schemas.microsoft.com/office/drawing/2014/main" val="2220783906"/>
                    </a:ext>
                  </a:extLst>
                </a:gridCol>
                <a:gridCol w="5382228">
                  <a:extLst>
                    <a:ext uri="{9D8B030D-6E8A-4147-A177-3AD203B41FA5}">
                      <a16:colId xmlns:a16="http://schemas.microsoft.com/office/drawing/2014/main" val="253477053"/>
                    </a:ext>
                  </a:extLst>
                </a:gridCol>
                <a:gridCol w="1886674">
                  <a:extLst>
                    <a:ext uri="{9D8B030D-6E8A-4147-A177-3AD203B41FA5}">
                      <a16:colId xmlns:a16="http://schemas.microsoft.com/office/drawing/2014/main" val="535989938"/>
                    </a:ext>
                  </a:extLst>
                </a:gridCol>
                <a:gridCol w="1655179">
                  <a:extLst>
                    <a:ext uri="{9D8B030D-6E8A-4147-A177-3AD203B41FA5}">
                      <a16:colId xmlns:a16="http://schemas.microsoft.com/office/drawing/2014/main" val="1731549313"/>
                    </a:ext>
                  </a:extLst>
                </a:gridCol>
              </a:tblGrid>
              <a:tr h="582882">
                <a:tc>
                  <a:txBody>
                    <a:bodyPr/>
                    <a:lstStyle/>
                    <a:p>
                      <a:pPr>
                        <a:buNone/>
                      </a:pPr>
                      <a:r>
                        <a:rPr lang="en-IN"/>
                        <a:t>S.No</a:t>
                      </a:r>
                    </a:p>
                  </a:txBody>
                  <a:tcPr anchor="ctr"/>
                </a:tc>
                <a:tc>
                  <a:txBody>
                    <a:bodyPr/>
                    <a:lstStyle/>
                    <a:p>
                      <a:pPr>
                        <a:buNone/>
                      </a:pPr>
                      <a:r>
                        <a:rPr lang="en-IN" dirty="0"/>
                        <a:t>Name of the Parameter</a:t>
                      </a:r>
                    </a:p>
                  </a:txBody>
                  <a:tcPr anchor="ctr"/>
                </a:tc>
                <a:tc>
                  <a:txBody>
                    <a:bodyPr/>
                    <a:lstStyle/>
                    <a:p>
                      <a:pPr>
                        <a:buNone/>
                      </a:pPr>
                      <a:r>
                        <a:rPr lang="en-IN" dirty="0"/>
                        <a:t>Purpose</a:t>
                      </a:r>
                    </a:p>
                  </a:txBody>
                  <a:tcPr anchor="ctr"/>
                </a:tc>
                <a:tc>
                  <a:txBody>
                    <a:bodyPr/>
                    <a:lstStyle/>
                    <a:p>
                      <a:pPr>
                        <a:buNone/>
                      </a:pPr>
                      <a:r>
                        <a:rPr lang="en-IN"/>
                        <a:t>Possible Value</a:t>
                      </a:r>
                    </a:p>
                  </a:txBody>
                  <a:tcPr anchor="ctr"/>
                </a:tc>
                <a:tc>
                  <a:txBody>
                    <a:bodyPr/>
                    <a:lstStyle/>
                    <a:p>
                      <a:pPr>
                        <a:buNone/>
                      </a:pPr>
                      <a:r>
                        <a:rPr lang="en-IN"/>
                        <a:t>Unit</a:t>
                      </a:r>
                    </a:p>
                  </a:txBody>
                  <a:tcPr anchor="ctr"/>
                </a:tc>
                <a:extLst>
                  <a:ext uri="{0D108BD9-81ED-4DB2-BD59-A6C34878D82A}">
                    <a16:rowId xmlns:a16="http://schemas.microsoft.com/office/drawing/2014/main" val="2661218649"/>
                  </a:ext>
                </a:extLst>
              </a:tr>
              <a:tr h="994426">
                <a:tc>
                  <a:txBody>
                    <a:bodyPr/>
                    <a:lstStyle/>
                    <a:p>
                      <a:pPr>
                        <a:buNone/>
                      </a:pPr>
                      <a:r>
                        <a:rPr lang="en-IN"/>
                        <a:t>1</a:t>
                      </a:r>
                    </a:p>
                  </a:txBody>
                  <a:tcPr anchor="ctr"/>
                </a:tc>
                <a:tc>
                  <a:txBody>
                    <a:bodyPr/>
                    <a:lstStyle/>
                    <a:p>
                      <a:pPr>
                        <a:buNone/>
                      </a:pPr>
                      <a:r>
                        <a:rPr lang="en-IN"/>
                        <a:t>Security parameter / group size</a:t>
                      </a:r>
                    </a:p>
                  </a:txBody>
                  <a:tcPr anchor="ctr"/>
                </a:tc>
                <a:tc>
                  <a:txBody>
                    <a:bodyPr/>
                    <a:lstStyle/>
                    <a:p>
                      <a:pPr>
                        <a:buNone/>
                      </a:pPr>
                      <a:r>
                        <a:rPr lang="en-GB"/>
                        <a:t>Sets cryptographic strength for signatures/encryption</a:t>
                      </a:r>
                    </a:p>
                  </a:txBody>
                  <a:tcPr anchor="ctr"/>
                </a:tc>
                <a:tc>
                  <a:txBody>
                    <a:bodyPr/>
                    <a:lstStyle/>
                    <a:p>
                      <a:pPr>
                        <a:buNone/>
                      </a:pPr>
                      <a:r>
                        <a:rPr lang="en-IN"/>
                        <a:t>256-bit prime group (BN254)</a:t>
                      </a:r>
                    </a:p>
                  </a:txBody>
                  <a:tcPr anchor="ctr"/>
                </a:tc>
                <a:tc>
                  <a:txBody>
                    <a:bodyPr/>
                    <a:lstStyle/>
                    <a:p>
                      <a:pPr>
                        <a:buNone/>
                      </a:pPr>
                      <a:r>
                        <a:rPr lang="en-IN"/>
                        <a:t>bits</a:t>
                      </a:r>
                    </a:p>
                  </a:txBody>
                  <a:tcPr anchor="ctr"/>
                </a:tc>
                <a:extLst>
                  <a:ext uri="{0D108BD9-81ED-4DB2-BD59-A6C34878D82A}">
                    <a16:rowId xmlns:a16="http://schemas.microsoft.com/office/drawing/2014/main" val="1044874677"/>
                  </a:ext>
                </a:extLst>
              </a:tr>
              <a:tr h="582882">
                <a:tc>
                  <a:txBody>
                    <a:bodyPr/>
                    <a:lstStyle/>
                    <a:p>
                      <a:pPr>
                        <a:buNone/>
                      </a:pPr>
                      <a:r>
                        <a:rPr lang="en-IN"/>
                        <a:t>2</a:t>
                      </a:r>
                    </a:p>
                  </a:txBody>
                  <a:tcPr anchor="ctr"/>
                </a:tc>
                <a:tc>
                  <a:txBody>
                    <a:bodyPr/>
                    <a:lstStyle/>
                    <a:p>
                      <a:pPr>
                        <a:buNone/>
                      </a:pPr>
                      <a:r>
                        <a:rPr lang="en-IN"/>
                        <a:t>Pairing curve</a:t>
                      </a:r>
                    </a:p>
                  </a:txBody>
                  <a:tcPr anchor="ctr"/>
                </a:tc>
                <a:tc>
                  <a:txBody>
                    <a:bodyPr/>
                    <a:lstStyle/>
                    <a:p>
                      <a:pPr>
                        <a:buNone/>
                      </a:pPr>
                      <a:r>
                        <a:rPr lang="en-IN"/>
                        <a:t>Enables BLS aggregation &amp; verification</a:t>
                      </a:r>
                    </a:p>
                  </a:txBody>
                  <a:tcPr anchor="ctr"/>
                </a:tc>
                <a:tc>
                  <a:txBody>
                    <a:bodyPr/>
                    <a:lstStyle/>
                    <a:p>
                      <a:pPr>
                        <a:buNone/>
                      </a:pPr>
                      <a:r>
                        <a:rPr lang="en-IN"/>
                        <a:t>BN254 pairing-friendly curve</a:t>
                      </a:r>
                    </a:p>
                  </a:txBody>
                  <a:tcPr anchor="ctr"/>
                </a:tc>
                <a:tc>
                  <a:txBody>
                    <a:bodyPr/>
                    <a:lstStyle/>
                    <a:p>
                      <a:pPr>
                        <a:buNone/>
                      </a:pPr>
                      <a:r>
                        <a:rPr lang="en-IN"/>
                        <a:t>–</a:t>
                      </a:r>
                    </a:p>
                  </a:txBody>
                  <a:tcPr anchor="ctr"/>
                </a:tc>
                <a:extLst>
                  <a:ext uri="{0D108BD9-81ED-4DB2-BD59-A6C34878D82A}">
                    <a16:rowId xmlns:a16="http://schemas.microsoft.com/office/drawing/2014/main" val="1751412278"/>
                  </a:ext>
                </a:extLst>
              </a:tr>
              <a:tr h="582882">
                <a:tc>
                  <a:txBody>
                    <a:bodyPr/>
                    <a:lstStyle/>
                    <a:p>
                      <a:pPr>
                        <a:buNone/>
                      </a:pPr>
                      <a:r>
                        <a:rPr lang="en-IN"/>
                        <a:t>3</a:t>
                      </a:r>
                    </a:p>
                  </a:txBody>
                  <a:tcPr anchor="ctr"/>
                </a:tc>
                <a:tc>
                  <a:txBody>
                    <a:bodyPr/>
                    <a:lstStyle/>
                    <a:p>
                      <a:pPr>
                        <a:buNone/>
                      </a:pPr>
                      <a:r>
                        <a:rPr lang="en-IN"/>
                        <a:t>Hash functions (H1, H2)</a:t>
                      </a:r>
                    </a:p>
                  </a:txBody>
                  <a:tcPr anchor="ctr"/>
                </a:tc>
                <a:tc>
                  <a:txBody>
                    <a:bodyPr/>
                    <a:lstStyle/>
                    <a:p>
                      <a:pPr>
                        <a:buNone/>
                      </a:pPr>
                      <a:r>
                        <a:rPr lang="en-GB"/>
                        <a:t>Map identities/commitments to groups &amp; build proofs</a:t>
                      </a:r>
                    </a:p>
                  </a:txBody>
                  <a:tcPr anchor="ctr"/>
                </a:tc>
                <a:tc>
                  <a:txBody>
                    <a:bodyPr/>
                    <a:lstStyle/>
                    <a:p>
                      <a:pPr>
                        <a:buNone/>
                      </a:pPr>
                      <a:r>
                        <a:rPr lang="en-IN"/>
                        <a:t>SHA-256</a:t>
                      </a:r>
                    </a:p>
                  </a:txBody>
                  <a:tcPr anchor="ctr"/>
                </a:tc>
                <a:tc>
                  <a:txBody>
                    <a:bodyPr/>
                    <a:lstStyle/>
                    <a:p>
                      <a:pPr>
                        <a:buNone/>
                      </a:pPr>
                      <a:r>
                        <a:rPr lang="en-IN"/>
                        <a:t>–</a:t>
                      </a:r>
                    </a:p>
                  </a:txBody>
                  <a:tcPr anchor="ctr"/>
                </a:tc>
                <a:extLst>
                  <a:ext uri="{0D108BD9-81ED-4DB2-BD59-A6C34878D82A}">
                    <a16:rowId xmlns:a16="http://schemas.microsoft.com/office/drawing/2014/main" val="2183000399"/>
                  </a:ext>
                </a:extLst>
              </a:tr>
              <a:tr h="582882">
                <a:tc>
                  <a:txBody>
                    <a:bodyPr/>
                    <a:lstStyle/>
                    <a:p>
                      <a:pPr>
                        <a:buNone/>
                      </a:pPr>
                      <a:r>
                        <a:rPr lang="en-IN"/>
                        <a:t>4</a:t>
                      </a:r>
                    </a:p>
                  </a:txBody>
                  <a:tcPr anchor="ctr"/>
                </a:tc>
                <a:tc>
                  <a:txBody>
                    <a:bodyPr/>
                    <a:lstStyle/>
                    <a:p>
                      <a:pPr>
                        <a:buNone/>
                      </a:pPr>
                      <a:r>
                        <a:rPr lang="en-IN"/>
                        <a:t>Number of authorities (n)</a:t>
                      </a:r>
                    </a:p>
                  </a:txBody>
                  <a:tcPr anchor="ctr"/>
                </a:tc>
                <a:tc>
                  <a:txBody>
                    <a:bodyPr/>
                    <a:lstStyle/>
                    <a:p>
                      <a:pPr>
                        <a:buNone/>
                      </a:pPr>
                      <a:r>
                        <a:rPr lang="en-IN"/>
                        <a:t>Multi-authority signing &amp; decryption setup</a:t>
                      </a:r>
                    </a:p>
                  </a:txBody>
                  <a:tcPr anchor="ctr"/>
                </a:tc>
                <a:tc>
                  <a:txBody>
                    <a:bodyPr/>
                    <a:lstStyle/>
                    <a:p>
                      <a:pPr>
                        <a:buNone/>
                      </a:pPr>
                      <a:r>
                        <a:rPr lang="en-IN" dirty="0"/>
                        <a:t>5</a:t>
                      </a:r>
                    </a:p>
                  </a:txBody>
                  <a:tcPr anchor="ctr"/>
                </a:tc>
                <a:tc>
                  <a:txBody>
                    <a:bodyPr/>
                    <a:lstStyle/>
                    <a:p>
                      <a:pPr>
                        <a:buNone/>
                      </a:pPr>
                      <a:r>
                        <a:rPr lang="en-IN"/>
                        <a:t>count</a:t>
                      </a:r>
                    </a:p>
                  </a:txBody>
                  <a:tcPr anchor="ctr"/>
                </a:tc>
                <a:extLst>
                  <a:ext uri="{0D108BD9-81ED-4DB2-BD59-A6C34878D82A}">
                    <a16:rowId xmlns:a16="http://schemas.microsoft.com/office/drawing/2014/main" val="2030221873"/>
                  </a:ext>
                </a:extLst>
              </a:tr>
              <a:tr h="582882">
                <a:tc>
                  <a:txBody>
                    <a:bodyPr/>
                    <a:lstStyle/>
                    <a:p>
                      <a:pPr>
                        <a:buNone/>
                      </a:pPr>
                      <a:r>
                        <a:rPr lang="en-IN"/>
                        <a:t>5</a:t>
                      </a:r>
                    </a:p>
                  </a:txBody>
                  <a:tcPr anchor="ctr"/>
                </a:tc>
                <a:tc>
                  <a:txBody>
                    <a:bodyPr/>
                    <a:lstStyle/>
                    <a:p>
                      <a:pPr>
                        <a:buNone/>
                      </a:pPr>
                      <a:r>
                        <a:rPr lang="en-IN"/>
                        <a:t>Threshold (t)</a:t>
                      </a:r>
                    </a:p>
                  </a:txBody>
                  <a:tcPr anchor="ctr"/>
                </a:tc>
                <a:tc>
                  <a:txBody>
                    <a:bodyPr/>
                    <a:lstStyle/>
                    <a:p>
                      <a:pPr>
                        <a:buNone/>
                      </a:pPr>
                      <a:r>
                        <a:rPr lang="en-GB"/>
                        <a:t>Minimum shares needed to decrypt final tally</a:t>
                      </a:r>
                    </a:p>
                  </a:txBody>
                  <a:tcPr anchor="ctr"/>
                </a:tc>
                <a:tc>
                  <a:txBody>
                    <a:bodyPr/>
                    <a:lstStyle/>
                    <a:p>
                      <a:pPr>
                        <a:buNone/>
                      </a:pPr>
                      <a:r>
                        <a:rPr lang="en-IN"/>
                        <a:t>3 (3-of-5)</a:t>
                      </a:r>
                    </a:p>
                  </a:txBody>
                  <a:tcPr anchor="ctr"/>
                </a:tc>
                <a:tc>
                  <a:txBody>
                    <a:bodyPr/>
                    <a:lstStyle/>
                    <a:p>
                      <a:pPr>
                        <a:buNone/>
                      </a:pPr>
                      <a:r>
                        <a:rPr lang="en-IN"/>
                        <a:t>count</a:t>
                      </a:r>
                    </a:p>
                  </a:txBody>
                  <a:tcPr anchor="ctr"/>
                </a:tc>
                <a:extLst>
                  <a:ext uri="{0D108BD9-81ED-4DB2-BD59-A6C34878D82A}">
                    <a16:rowId xmlns:a16="http://schemas.microsoft.com/office/drawing/2014/main" val="512732052"/>
                  </a:ext>
                </a:extLst>
              </a:tr>
              <a:tr h="582882">
                <a:tc>
                  <a:txBody>
                    <a:bodyPr/>
                    <a:lstStyle/>
                    <a:p>
                      <a:pPr>
                        <a:buNone/>
                      </a:pPr>
                      <a:r>
                        <a:rPr lang="en-IN"/>
                        <a:t>6</a:t>
                      </a:r>
                    </a:p>
                  </a:txBody>
                  <a:tcPr anchor="ctr"/>
                </a:tc>
                <a:tc>
                  <a:txBody>
                    <a:bodyPr/>
                    <a:lstStyle/>
                    <a:p>
                      <a:pPr>
                        <a:buNone/>
                      </a:pPr>
                      <a:r>
                        <a:rPr lang="en-IN"/>
                        <a:t>Ballot types evaluated</a:t>
                      </a:r>
                    </a:p>
                  </a:txBody>
                  <a:tcPr anchor="ctr"/>
                </a:tc>
                <a:tc>
                  <a:txBody>
                    <a:bodyPr/>
                    <a:lstStyle/>
                    <a:p>
                      <a:pPr>
                        <a:buNone/>
                      </a:pPr>
                      <a:r>
                        <a:rPr lang="en-GB"/>
                        <a:t>Defines ballot encoding handled by system</a:t>
                      </a:r>
                    </a:p>
                  </a:txBody>
                  <a:tcPr anchor="ctr"/>
                </a:tc>
                <a:tc>
                  <a:txBody>
                    <a:bodyPr/>
                    <a:lstStyle/>
                    <a:p>
                      <a:pPr>
                        <a:buNone/>
                      </a:pPr>
                      <a:r>
                        <a:rPr lang="en-IN"/>
                        <a:t>Approval + Score</a:t>
                      </a:r>
                    </a:p>
                  </a:txBody>
                  <a:tcPr anchor="ctr"/>
                </a:tc>
                <a:tc>
                  <a:txBody>
                    <a:bodyPr/>
                    <a:lstStyle/>
                    <a:p>
                      <a:pPr>
                        <a:buNone/>
                      </a:pPr>
                      <a:r>
                        <a:rPr lang="en-IN"/>
                        <a:t>–</a:t>
                      </a:r>
                    </a:p>
                  </a:txBody>
                  <a:tcPr anchor="ctr"/>
                </a:tc>
                <a:extLst>
                  <a:ext uri="{0D108BD9-81ED-4DB2-BD59-A6C34878D82A}">
                    <a16:rowId xmlns:a16="http://schemas.microsoft.com/office/drawing/2014/main" val="185836305"/>
                  </a:ext>
                </a:extLst>
              </a:tr>
              <a:tr h="333075">
                <a:tc>
                  <a:txBody>
                    <a:bodyPr/>
                    <a:lstStyle/>
                    <a:p>
                      <a:pPr>
                        <a:buNone/>
                      </a:pPr>
                      <a:r>
                        <a:rPr lang="en-IN"/>
                        <a:t>7</a:t>
                      </a:r>
                    </a:p>
                  </a:txBody>
                  <a:tcPr anchor="ctr"/>
                </a:tc>
                <a:tc>
                  <a:txBody>
                    <a:bodyPr/>
                    <a:lstStyle/>
                    <a:p>
                      <a:pPr>
                        <a:buNone/>
                      </a:pPr>
                      <a:r>
                        <a:rPr lang="en-IN"/>
                        <a:t>Dataset size</a:t>
                      </a:r>
                    </a:p>
                  </a:txBody>
                  <a:tcPr anchor="ctr"/>
                </a:tc>
                <a:tc>
                  <a:txBody>
                    <a:bodyPr/>
                    <a:lstStyle/>
                    <a:p>
                      <a:pPr>
                        <a:buNone/>
                      </a:pPr>
                      <a:r>
                        <a:rPr lang="en-IN" dirty="0"/>
                        <a:t>Load used for experiments</a:t>
                      </a:r>
                    </a:p>
                  </a:txBody>
                  <a:tcPr anchor="ctr"/>
                </a:tc>
                <a:tc>
                  <a:txBody>
                    <a:bodyPr/>
                    <a:lstStyle/>
                    <a:p>
                      <a:pPr>
                        <a:buNone/>
                      </a:pPr>
                      <a:r>
                        <a:rPr lang="en-IN"/>
                        <a:t>10,000 ballots</a:t>
                      </a:r>
                    </a:p>
                  </a:txBody>
                  <a:tcPr anchor="ctr"/>
                </a:tc>
                <a:tc>
                  <a:txBody>
                    <a:bodyPr/>
                    <a:lstStyle/>
                    <a:p>
                      <a:pPr>
                        <a:buNone/>
                      </a:pPr>
                      <a:r>
                        <a:rPr lang="en-IN" dirty="0"/>
                        <a:t>ballots</a:t>
                      </a:r>
                    </a:p>
                  </a:txBody>
                  <a:tcPr anchor="ctr"/>
                </a:tc>
                <a:extLst>
                  <a:ext uri="{0D108BD9-81ED-4DB2-BD59-A6C34878D82A}">
                    <a16:rowId xmlns:a16="http://schemas.microsoft.com/office/drawing/2014/main" val="1519361985"/>
                  </a:ext>
                </a:extLst>
              </a:tr>
            </a:tbl>
          </a:graphicData>
        </a:graphic>
      </p:graphicFrame>
    </p:spTree>
    <p:extLst>
      <p:ext uri="{BB962C8B-B14F-4D97-AF65-F5344CB8AC3E}">
        <p14:creationId xmlns:p14="http://schemas.microsoft.com/office/powerpoint/2010/main" val="22109506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9DE6F-0486-7DDE-BC0D-3A6796568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6A1C92-70F8-2EBD-75D1-3BBCB00EE9E6}"/>
              </a:ext>
            </a:extLst>
          </p:cNvPr>
          <p:cNvSpPr>
            <a:spLocks noGrp="1"/>
          </p:cNvSpPr>
          <p:nvPr>
            <p:ph type="title"/>
          </p:nvPr>
        </p:nvSpPr>
        <p:spPr>
          <a:xfrm>
            <a:off x="311553" y="272530"/>
            <a:ext cx="10515600" cy="527502"/>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Performance Measures</a:t>
            </a:r>
          </a:p>
        </p:txBody>
      </p:sp>
      <p:graphicFrame>
        <p:nvGraphicFramePr>
          <p:cNvPr id="4" name="Table 3">
            <a:extLst>
              <a:ext uri="{FF2B5EF4-FFF2-40B4-BE49-F238E27FC236}">
                <a16:creationId xmlns:a16="http://schemas.microsoft.com/office/drawing/2014/main" id="{08D766FE-E644-B612-678D-6FA16157683C}"/>
              </a:ext>
            </a:extLst>
          </p:cNvPr>
          <p:cNvGraphicFramePr>
            <a:graphicFrameLocks noGrp="1"/>
          </p:cNvGraphicFramePr>
          <p:nvPr>
            <p:extLst>
              <p:ext uri="{D42A27DB-BD31-4B8C-83A1-F6EECF244321}">
                <p14:modId xmlns:p14="http://schemas.microsoft.com/office/powerpoint/2010/main" val="3913589647"/>
              </p:ext>
            </p:extLst>
          </p:nvPr>
        </p:nvGraphicFramePr>
        <p:xfrm>
          <a:off x="482278" y="850388"/>
          <a:ext cx="11227443" cy="4114800"/>
        </p:xfrm>
        <a:graphic>
          <a:graphicData uri="http://schemas.openxmlformats.org/drawingml/2006/table">
            <a:tbl>
              <a:tblPr firstRow="1" bandRow="1">
                <a:tableStyleId>{5C22544A-7EE6-4342-B048-85BDC9FD1C3A}</a:tableStyleId>
              </a:tblPr>
              <a:tblGrid>
                <a:gridCol w="1012476">
                  <a:extLst>
                    <a:ext uri="{9D8B030D-6E8A-4147-A177-3AD203B41FA5}">
                      <a16:colId xmlns:a16="http://schemas.microsoft.com/office/drawing/2014/main" val="736658154"/>
                    </a:ext>
                  </a:extLst>
                </a:gridCol>
                <a:gridCol w="3165237">
                  <a:extLst>
                    <a:ext uri="{9D8B030D-6E8A-4147-A177-3AD203B41FA5}">
                      <a16:colId xmlns:a16="http://schemas.microsoft.com/office/drawing/2014/main" val="2220783906"/>
                    </a:ext>
                  </a:extLst>
                </a:gridCol>
                <a:gridCol w="1864557">
                  <a:extLst>
                    <a:ext uri="{9D8B030D-6E8A-4147-A177-3AD203B41FA5}">
                      <a16:colId xmlns:a16="http://schemas.microsoft.com/office/drawing/2014/main" val="253477053"/>
                    </a:ext>
                  </a:extLst>
                </a:gridCol>
                <a:gridCol w="5185173">
                  <a:extLst>
                    <a:ext uri="{9D8B030D-6E8A-4147-A177-3AD203B41FA5}">
                      <a16:colId xmlns:a16="http://schemas.microsoft.com/office/drawing/2014/main" val="535989938"/>
                    </a:ext>
                  </a:extLst>
                </a:gridCol>
              </a:tblGrid>
              <a:tr h="0">
                <a:tc>
                  <a:txBody>
                    <a:bodyPr/>
                    <a:lstStyle/>
                    <a:p>
                      <a:pPr>
                        <a:buNone/>
                      </a:pPr>
                      <a:r>
                        <a:rPr lang="en-IN" dirty="0" err="1"/>
                        <a:t>S.No</a:t>
                      </a:r>
                      <a:endParaRPr lang="en-IN" dirty="0"/>
                    </a:p>
                  </a:txBody>
                  <a:tcPr anchor="ctr"/>
                </a:tc>
                <a:tc>
                  <a:txBody>
                    <a:bodyPr/>
                    <a:lstStyle/>
                    <a:p>
                      <a:pPr>
                        <a:buNone/>
                      </a:pPr>
                      <a:r>
                        <a:rPr lang="en-IN" dirty="0"/>
                        <a:t>Measure/Metric</a:t>
                      </a:r>
                    </a:p>
                  </a:txBody>
                  <a:tcPr anchor="ctr"/>
                </a:tc>
                <a:tc>
                  <a:txBody>
                    <a:bodyPr/>
                    <a:lstStyle/>
                    <a:p>
                      <a:pPr>
                        <a:buNone/>
                      </a:pPr>
                      <a:r>
                        <a:rPr lang="en-IN"/>
                        <a:t>Unit</a:t>
                      </a:r>
                    </a:p>
                  </a:txBody>
                  <a:tcPr anchor="ctr"/>
                </a:tc>
                <a:tc>
                  <a:txBody>
                    <a:bodyPr/>
                    <a:lstStyle/>
                    <a:p>
                      <a:pPr>
                        <a:buNone/>
                      </a:pPr>
                      <a:r>
                        <a:rPr lang="en-IN" dirty="0"/>
                        <a:t>Purpose</a:t>
                      </a:r>
                    </a:p>
                  </a:txBody>
                  <a:tcPr anchor="ctr"/>
                </a:tc>
                <a:extLst>
                  <a:ext uri="{0D108BD9-81ED-4DB2-BD59-A6C34878D82A}">
                    <a16:rowId xmlns:a16="http://schemas.microsoft.com/office/drawing/2014/main" val="2661218649"/>
                  </a:ext>
                </a:extLst>
              </a:tr>
              <a:tr h="370840">
                <a:tc>
                  <a:txBody>
                    <a:bodyPr/>
                    <a:lstStyle/>
                    <a:p>
                      <a:pPr>
                        <a:buNone/>
                      </a:pPr>
                      <a:r>
                        <a:rPr lang="en-IN"/>
                        <a:t>1</a:t>
                      </a:r>
                    </a:p>
                  </a:txBody>
                  <a:tcPr anchor="ctr"/>
                </a:tc>
                <a:tc>
                  <a:txBody>
                    <a:bodyPr/>
                    <a:lstStyle/>
                    <a:p>
                      <a:pPr>
                        <a:buNone/>
                      </a:pPr>
                      <a:r>
                        <a:rPr lang="en-IN" b="1"/>
                        <a:t>Accuracy</a:t>
                      </a:r>
                      <a:endParaRPr lang="en-IN"/>
                    </a:p>
                  </a:txBody>
                  <a:tcPr anchor="ctr"/>
                </a:tc>
                <a:tc>
                  <a:txBody>
                    <a:bodyPr/>
                    <a:lstStyle/>
                    <a:p>
                      <a:pPr>
                        <a:buNone/>
                      </a:pPr>
                      <a:r>
                        <a:rPr lang="en-IN"/>
                        <a:t>%</a:t>
                      </a:r>
                    </a:p>
                  </a:txBody>
                  <a:tcPr anchor="ctr"/>
                </a:tc>
                <a:tc>
                  <a:txBody>
                    <a:bodyPr/>
                    <a:lstStyle/>
                    <a:p>
                      <a:pPr>
                        <a:buNone/>
                      </a:pPr>
                      <a:r>
                        <a:rPr lang="en-GB" dirty="0"/>
                        <a:t>Overall correctness: ((TP+TN)/(TP+FP+TN+FN)). </a:t>
                      </a:r>
                      <a:r>
                        <a:rPr lang="en-GB" b="0" dirty="0"/>
                        <a:t>Note: </a:t>
                      </a:r>
                      <a:r>
                        <a:rPr lang="en-GB" dirty="0"/>
                        <a:t>can be misleading under class imbalance.</a:t>
                      </a:r>
                    </a:p>
                  </a:txBody>
                  <a:tcPr anchor="ctr"/>
                </a:tc>
                <a:extLst>
                  <a:ext uri="{0D108BD9-81ED-4DB2-BD59-A6C34878D82A}">
                    <a16:rowId xmlns:a16="http://schemas.microsoft.com/office/drawing/2014/main" val="1044874677"/>
                  </a:ext>
                </a:extLst>
              </a:tr>
              <a:tr h="370840">
                <a:tc>
                  <a:txBody>
                    <a:bodyPr/>
                    <a:lstStyle/>
                    <a:p>
                      <a:pPr>
                        <a:buNone/>
                      </a:pPr>
                      <a:r>
                        <a:rPr lang="en-IN"/>
                        <a:t>2</a:t>
                      </a:r>
                    </a:p>
                  </a:txBody>
                  <a:tcPr anchor="ctr"/>
                </a:tc>
                <a:tc>
                  <a:txBody>
                    <a:bodyPr/>
                    <a:lstStyle/>
                    <a:p>
                      <a:pPr>
                        <a:buNone/>
                      </a:pPr>
                      <a:r>
                        <a:rPr lang="en-IN" b="1"/>
                        <a:t>Precision</a:t>
                      </a:r>
                      <a:endParaRPr lang="en-IN"/>
                    </a:p>
                  </a:txBody>
                  <a:tcPr anchor="ctr"/>
                </a:tc>
                <a:tc>
                  <a:txBody>
                    <a:bodyPr/>
                    <a:lstStyle/>
                    <a:p>
                      <a:pPr>
                        <a:buNone/>
                      </a:pPr>
                      <a:r>
                        <a:rPr lang="en-IN"/>
                        <a:t>%</a:t>
                      </a:r>
                    </a:p>
                  </a:txBody>
                  <a:tcPr anchor="ctr"/>
                </a:tc>
                <a:tc>
                  <a:txBody>
                    <a:bodyPr/>
                    <a:lstStyle/>
                    <a:p>
                      <a:pPr>
                        <a:buNone/>
                      </a:pPr>
                      <a:r>
                        <a:rPr lang="en-GB" dirty="0"/>
                        <a:t>Of the votes flagged as </a:t>
                      </a:r>
                      <a:r>
                        <a:rPr lang="en-GB" i="1" dirty="0"/>
                        <a:t>suspect</a:t>
                      </a:r>
                      <a:r>
                        <a:rPr lang="en-GB" dirty="0"/>
                        <a:t>, how many are truly suspect: (TP/(TP+FP)). Controls </a:t>
                      </a:r>
                      <a:r>
                        <a:rPr lang="en-GB" b="0" dirty="0"/>
                        <a:t>false positives </a:t>
                      </a:r>
                      <a:r>
                        <a:rPr lang="en-GB" dirty="0"/>
                        <a:t>(don’t block legit votes).</a:t>
                      </a:r>
                    </a:p>
                  </a:txBody>
                  <a:tcPr anchor="ctr"/>
                </a:tc>
                <a:extLst>
                  <a:ext uri="{0D108BD9-81ED-4DB2-BD59-A6C34878D82A}">
                    <a16:rowId xmlns:a16="http://schemas.microsoft.com/office/drawing/2014/main" val="1751412278"/>
                  </a:ext>
                </a:extLst>
              </a:tr>
              <a:tr h="370840">
                <a:tc>
                  <a:txBody>
                    <a:bodyPr/>
                    <a:lstStyle/>
                    <a:p>
                      <a:pPr>
                        <a:buNone/>
                      </a:pPr>
                      <a:r>
                        <a:rPr lang="en-IN"/>
                        <a:t>3</a:t>
                      </a:r>
                    </a:p>
                  </a:txBody>
                  <a:tcPr anchor="ctr"/>
                </a:tc>
                <a:tc>
                  <a:txBody>
                    <a:bodyPr/>
                    <a:lstStyle/>
                    <a:p>
                      <a:pPr>
                        <a:buNone/>
                      </a:pPr>
                      <a:r>
                        <a:rPr lang="en-IN" b="1"/>
                        <a:t>Recall</a:t>
                      </a:r>
                      <a:endParaRPr lang="en-IN"/>
                    </a:p>
                  </a:txBody>
                  <a:tcPr anchor="ctr"/>
                </a:tc>
                <a:tc>
                  <a:txBody>
                    <a:bodyPr/>
                    <a:lstStyle/>
                    <a:p>
                      <a:pPr>
                        <a:buNone/>
                      </a:pPr>
                      <a:r>
                        <a:rPr lang="en-IN"/>
                        <a:t>%</a:t>
                      </a:r>
                    </a:p>
                  </a:txBody>
                  <a:tcPr anchor="ctr"/>
                </a:tc>
                <a:tc>
                  <a:txBody>
                    <a:bodyPr/>
                    <a:lstStyle/>
                    <a:p>
                      <a:pPr>
                        <a:buNone/>
                      </a:pPr>
                      <a:r>
                        <a:rPr lang="en-GB" dirty="0"/>
                        <a:t>Of all truly </a:t>
                      </a:r>
                      <a:r>
                        <a:rPr lang="en-GB" i="1" dirty="0"/>
                        <a:t>suspect</a:t>
                      </a:r>
                      <a:r>
                        <a:rPr lang="en-GB" dirty="0"/>
                        <a:t> votes, how many we caught: (TP/(TP+FN)). Measures </a:t>
                      </a:r>
                      <a:r>
                        <a:rPr lang="en-GB" b="0" dirty="0"/>
                        <a:t>security coverage.</a:t>
                      </a:r>
                    </a:p>
                  </a:txBody>
                  <a:tcPr anchor="ctr"/>
                </a:tc>
                <a:extLst>
                  <a:ext uri="{0D108BD9-81ED-4DB2-BD59-A6C34878D82A}">
                    <a16:rowId xmlns:a16="http://schemas.microsoft.com/office/drawing/2014/main" val="2183000399"/>
                  </a:ext>
                </a:extLst>
              </a:tr>
              <a:tr h="370840">
                <a:tc>
                  <a:txBody>
                    <a:bodyPr/>
                    <a:lstStyle/>
                    <a:p>
                      <a:pPr>
                        <a:buNone/>
                      </a:pPr>
                      <a:r>
                        <a:rPr lang="en-IN"/>
                        <a:t>4</a:t>
                      </a:r>
                    </a:p>
                  </a:txBody>
                  <a:tcPr anchor="ctr"/>
                </a:tc>
                <a:tc>
                  <a:txBody>
                    <a:bodyPr/>
                    <a:lstStyle/>
                    <a:p>
                      <a:pPr>
                        <a:buNone/>
                      </a:pPr>
                      <a:r>
                        <a:rPr lang="en-IN" b="1"/>
                        <a:t>AUC (AUROC)</a:t>
                      </a:r>
                      <a:endParaRPr lang="en-IN"/>
                    </a:p>
                  </a:txBody>
                  <a:tcPr anchor="ctr"/>
                </a:tc>
                <a:tc>
                  <a:txBody>
                    <a:bodyPr/>
                    <a:lstStyle/>
                    <a:p>
                      <a:pPr>
                        <a:buNone/>
                      </a:pPr>
                      <a:r>
                        <a:rPr lang="en-IN"/>
                        <a:t>0–1 (unitless)</a:t>
                      </a:r>
                    </a:p>
                  </a:txBody>
                  <a:tcPr anchor="ctr"/>
                </a:tc>
                <a:tc>
                  <a:txBody>
                    <a:bodyPr/>
                    <a:lstStyle/>
                    <a:p>
                      <a:pPr>
                        <a:buNone/>
                      </a:pPr>
                      <a:r>
                        <a:rPr lang="en-GB" dirty="0"/>
                        <a:t>Threshold-independent ranking quality; probability a random suspect is scored higher than a random legit vote.</a:t>
                      </a:r>
                    </a:p>
                  </a:txBody>
                  <a:tcPr anchor="ctr"/>
                </a:tc>
                <a:extLst>
                  <a:ext uri="{0D108BD9-81ED-4DB2-BD59-A6C34878D82A}">
                    <a16:rowId xmlns:a16="http://schemas.microsoft.com/office/drawing/2014/main" val="2030221873"/>
                  </a:ext>
                </a:extLst>
              </a:tr>
              <a:tr h="370840">
                <a:tc>
                  <a:txBody>
                    <a:bodyPr/>
                    <a:lstStyle/>
                    <a:p>
                      <a:pPr>
                        <a:buNone/>
                      </a:pPr>
                      <a:r>
                        <a:rPr lang="en-IN"/>
                        <a:t>5</a:t>
                      </a:r>
                    </a:p>
                  </a:txBody>
                  <a:tcPr anchor="ctr"/>
                </a:tc>
                <a:tc>
                  <a:txBody>
                    <a:bodyPr/>
                    <a:lstStyle/>
                    <a:p>
                      <a:pPr>
                        <a:buNone/>
                      </a:pPr>
                      <a:r>
                        <a:rPr lang="en-IN" b="1"/>
                        <a:t>ROC</a:t>
                      </a:r>
                      <a:endParaRPr lang="en-IN"/>
                    </a:p>
                  </a:txBody>
                  <a:tcPr anchor="ctr"/>
                </a:tc>
                <a:tc>
                  <a:txBody>
                    <a:bodyPr/>
                    <a:lstStyle/>
                    <a:p>
                      <a:pPr>
                        <a:buNone/>
                      </a:pPr>
                      <a:r>
                        <a:rPr lang="en-IN"/>
                        <a:t>Curve (graph)</a:t>
                      </a:r>
                    </a:p>
                  </a:txBody>
                  <a:tcPr anchor="ctr"/>
                </a:tc>
                <a:tc>
                  <a:txBody>
                    <a:bodyPr/>
                    <a:lstStyle/>
                    <a:p>
                      <a:pPr>
                        <a:buNone/>
                      </a:pPr>
                      <a:r>
                        <a:rPr lang="en-GB" dirty="0"/>
                        <a:t>Visualizes </a:t>
                      </a:r>
                      <a:r>
                        <a:rPr lang="en-GB" b="0" dirty="0"/>
                        <a:t>TPR vs FPR across thresholds; choose operating point with FPR ≤ 2% </a:t>
                      </a:r>
                      <a:r>
                        <a:rPr lang="en-GB" dirty="0"/>
                        <a:t>and high TPR (Recall).</a:t>
                      </a:r>
                    </a:p>
                  </a:txBody>
                  <a:tcPr anchor="ctr"/>
                </a:tc>
                <a:extLst>
                  <a:ext uri="{0D108BD9-81ED-4DB2-BD59-A6C34878D82A}">
                    <a16:rowId xmlns:a16="http://schemas.microsoft.com/office/drawing/2014/main" val="512732052"/>
                  </a:ext>
                </a:extLst>
              </a:tr>
            </a:tbl>
          </a:graphicData>
        </a:graphic>
      </p:graphicFrame>
      <p:sp>
        <p:nvSpPr>
          <p:cNvPr id="7" name="TextBox 6">
            <a:extLst>
              <a:ext uri="{FF2B5EF4-FFF2-40B4-BE49-F238E27FC236}">
                <a16:creationId xmlns:a16="http://schemas.microsoft.com/office/drawing/2014/main" id="{C666314F-2B36-6C85-5704-53386F0F119B}"/>
              </a:ext>
            </a:extLst>
          </p:cNvPr>
          <p:cNvSpPr txBox="1"/>
          <p:nvPr/>
        </p:nvSpPr>
        <p:spPr>
          <a:xfrm>
            <a:off x="311553" y="5015544"/>
            <a:ext cx="11969186" cy="1077218"/>
          </a:xfrm>
          <a:prstGeom prst="rect">
            <a:avLst/>
          </a:prstGeom>
          <a:noFill/>
        </p:spPr>
        <p:txBody>
          <a:bodyPr wrap="square">
            <a:spAutoFit/>
          </a:bodyPr>
          <a:lstStyle/>
          <a:p>
            <a:r>
              <a:rPr lang="en-GB" sz="1600" dirty="0"/>
              <a:t>Graph Shown:</a:t>
            </a:r>
          </a:p>
          <a:p>
            <a:pPr marL="285750" indent="-285750">
              <a:buFont typeface="Arial" panose="020B0604020202020204" pitchFamily="34" charset="0"/>
              <a:buChar char="•"/>
            </a:pPr>
            <a:r>
              <a:rPr lang="en-GB" sz="1600" dirty="0"/>
              <a:t>Confusion Matrix (test set) - to see FP vs FN trade-off.</a:t>
            </a:r>
          </a:p>
          <a:p>
            <a:pPr marL="285750" indent="-285750">
              <a:buFont typeface="Arial" panose="020B0604020202020204" pitchFamily="34" charset="0"/>
              <a:buChar char="•"/>
            </a:pPr>
            <a:r>
              <a:rPr lang="en-GB" sz="1600" dirty="0"/>
              <a:t>ROC Curve with AUC - overall separability independent of a fixed threshold.</a:t>
            </a:r>
          </a:p>
          <a:p>
            <a:pPr marL="285750" indent="-285750">
              <a:buFont typeface="Arial" panose="020B0604020202020204" pitchFamily="34" charset="0"/>
              <a:buChar char="•"/>
            </a:pPr>
            <a:r>
              <a:rPr lang="en-GB" sz="1600" dirty="0"/>
              <a:t>Precision–Recall (PR) Curve - preferred when suspect class is rare; choose threshold that maximizes F1 while keeping FPR ≤ 2%.</a:t>
            </a:r>
            <a:endParaRPr lang="en-US" sz="1600" dirty="0"/>
          </a:p>
        </p:txBody>
      </p:sp>
    </p:spTree>
    <p:extLst>
      <p:ext uri="{BB962C8B-B14F-4D97-AF65-F5344CB8AC3E}">
        <p14:creationId xmlns:p14="http://schemas.microsoft.com/office/powerpoint/2010/main" val="36953586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89315-6B95-C329-AF37-962C96251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06FAC-6D54-5FE6-D8B1-F33F88568746}"/>
              </a:ext>
            </a:extLst>
          </p:cNvPr>
          <p:cNvSpPr>
            <a:spLocks noGrp="1"/>
          </p:cNvSpPr>
          <p:nvPr>
            <p:ph type="title"/>
          </p:nvPr>
        </p:nvSpPr>
        <p:spPr>
          <a:xfrm>
            <a:off x="282615" y="214657"/>
            <a:ext cx="10515600" cy="679902"/>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Deep Learning Model</a:t>
            </a:r>
            <a:endParaRPr lang="en-US" sz="3600" dirty="0"/>
          </a:p>
        </p:txBody>
      </p:sp>
      <p:graphicFrame>
        <p:nvGraphicFramePr>
          <p:cNvPr id="4" name="Content Placeholder 3">
            <a:extLst>
              <a:ext uri="{FF2B5EF4-FFF2-40B4-BE49-F238E27FC236}">
                <a16:creationId xmlns:a16="http://schemas.microsoft.com/office/drawing/2014/main" id="{C41524B1-C9D0-10BE-9A80-2E8B33B5CCBC}"/>
              </a:ext>
            </a:extLst>
          </p:cNvPr>
          <p:cNvGraphicFramePr>
            <a:graphicFrameLocks noGrp="1"/>
          </p:cNvGraphicFramePr>
          <p:nvPr>
            <p:ph idx="1"/>
            <p:extLst>
              <p:ext uri="{D42A27DB-BD31-4B8C-83A1-F6EECF244321}">
                <p14:modId xmlns:p14="http://schemas.microsoft.com/office/powerpoint/2010/main" val="2573026283"/>
              </p:ext>
            </p:extLst>
          </p:nvPr>
        </p:nvGraphicFramePr>
        <p:xfrm>
          <a:off x="659758" y="1045030"/>
          <a:ext cx="11134846" cy="2565400"/>
        </p:xfrm>
        <a:graphic>
          <a:graphicData uri="http://schemas.openxmlformats.org/drawingml/2006/table">
            <a:tbl>
              <a:tblPr firstRow="1" bandRow="1">
                <a:tableStyleId>{5C22544A-7EE6-4342-B048-85BDC9FD1C3A}</a:tableStyleId>
              </a:tblPr>
              <a:tblGrid>
                <a:gridCol w="4433103">
                  <a:extLst>
                    <a:ext uri="{9D8B030D-6E8A-4147-A177-3AD203B41FA5}">
                      <a16:colId xmlns:a16="http://schemas.microsoft.com/office/drawing/2014/main" val="2046135341"/>
                    </a:ext>
                  </a:extLst>
                </a:gridCol>
                <a:gridCol w="6701743">
                  <a:extLst>
                    <a:ext uri="{9D8B030D-6E8A-4147-A177-3AD203B41FA5}">
                      <a16:colId xmlns:a16="http://schemas.microsoft.com/office/drawing/2014/main" val="125374431"/>
                    </a:ext>
                  </a:extLst>
                </a:gridCol>
              </a:tblGrid>
              <a:tr h="370840">
                <a:tc>
                  <a:txBody>
                    <a:bodyPr/>
                    <a:lstStyle/>
                    <a:p>
                      <a:pPr>
                        <a:buNone/>
                      </a:pPr>
                      <a:r>
                        <a:rPr lang="en-IN" b="1" dirty="0"/>
                        <a:t>Algorithm Name</a:t>
                      </a:r>
                      <a:endParaRPr lang="en-IN" dirty="0"/>
                    </a:p>
                  </a:txBody>
                  <a:tcPr anchor="ctr"/>
                </a:tc>
                <a:tc>
                  <a:txBody>
                    <a:bodyPr/>
                    <a:lstStyle/>
                    <a:p>
                      <a:pPr>
                        <a:buNone/>
                      </a:pPr>
                      <a:r>
                        <a:rPr lang="en-IN" b="1"/>
                        <a:t>Student contributed</a:t>
                      </a:r>
                      <a:endParaRPr lang="en-IN"/>
                    </a:p>
                  </a:txBody>
                  <a:tcPr anchor="ctr"/>
                </a:tc>
                <a:extLst>
                  <a:ext uri="{0D108BD9-81ED-4DB2-BD59-A6C34878D82A}">
                    <a16:rowId xmlns:a16="http://schemas.microsoft.com/office/drawing/2014/main" val="976283460"/>
                  </a:ext>
                </a:extLst>
              </a:tr>
              <a:tr h="370840">
                <a:tc>
                  <a:txBody>
                    <a:bodyPr/>
                    <a:lstStyle/>
                    <a:p>
                      <a:pPr>
                        <a:buNone/>
                      </a:pPr>
                      <a:r>
                        <a:rPr lang="en-IN" b="1"/>
                        <a:t>CNN–BiLSTM Fusion (Proposed)</a:t>
                      </a:r>
                      <a:endParaRPr lang="en-IN"/>
                    </a:p>
                  </a:txBody>
                  <a:tcPr anchor="ctr"/>
                </a:tc>
                <a:tc>
                  <a:txBody>
                    <a:bodyPr/>
                    <a:lstStyle/>
                    <a:p>
                      <a:pPr>
                        <a:buNone/>
                      </a:pPr>
                      <a:r>
                        <a:rPr lang="en-GB"/>
                        <a:t>Designed two-branch model (1D-CNN for sequences + Dense for static features), implemented training loop, windowing &amp; masking, fusion layer, and SHAP explanations.</a:t>
                      </a:r>
                    </a:p>
                  </a:txBody>
                  <a:tcPr anchor="ctr"/>
                </a:tc>
                <a:extLst>
                  <a:ext uri="{0D108BD9-81ED-4DB2-BD59-A6C34878D82A}">
                    <a16:rowId xmlns:a16="http://schemas.microsoft.com/office/drawing/2014/main" val="764356365"/>
                  </a:ext>
                </a:extLst>
              </a:tr>
              <a:tr h="370840">
                <a:tc>
                  <a:txBody>
                    <a:bodyPr/>
                    <a:lstStyle/>
                    <a:p>
                      <a:pPr>
                        <a:buNone/>
                      </a:pPr>
                      <a:r>
                        <a:rPr lang="en-IN" b="1"/>
                        <a:t>LSTM Baseline</a:t>
                      </a:r>
                      <a:endParaRPr lang="en-IN"/>
                    </a:p>
                  </a:txBody>
                  <a:tcPr anchor="ctr"/>
                </a:tc>
                <a:tc>
                  <a:txBody>
                    <a:bodyPr/>
                    <a:lstStyle/>
                    <a:p>
                      <a:pPr>
                        <a:buNone/>
                      </a:pPr>
                      <a:r>
                        <a:rPr lang="en-GB"/>
                        <a:t>Built single-branch Bi-LSTM model for comparison; prepared ablation (no CNN, no static branch).</a:t>
                      </a:r>
                    </a:p>
                  </a:txBody>
                  <a:tcPr anchor="ctr"/>
                </a:tc>
                <a:extLst>
                  <a:ext uri="{0D108BD9-81ED-4DB2-BD59-A6C34878D82A}">
                    <a16:rowId xmlns:a16="http://schemas.microsoft.com/office/drawing/2014/main" val="946195484"/>
                  </a:ext>
                </a:extLst>
              </a:tr>
              <a:tr h="370840">
                <a:tc>
                  <a:txBody>
                    <a:bodyPr/>
                    <a:lstStyle/>
                    <a:p>
                      <a:pPr>
                        <a:buNone/>
                      </a:pPr>
                      <a:r>
                        <a:rPr lang="en-IN" b="1"/>
                        <a:t>1D-CNN Baseline</a:t>
                      </a:r>
                      <a:endParaRPr lang="en-IN"/>
                    </a:p>
                  </a:txBody>
                  <a:tcPr anchor="ctr"/>
                </a:tc>
                <a:tc>
                  <a:txBody>
                    <a:bodyPr/>
                    <a:lstStyle/>
                    <a:p>
                      <a:pPr>
                        <a:buNone/>
                      </a:pPr>
                      <a:r>
                        <a:rPr lang="en-GB" dirty="0"/>
                        <a:t>Implemented temporal CNN only to test local-pattern sensitivity and runtime speed.</a:t>
                      </a:r>
                    </a:p>
                  </a:txBody>
                  <a:tcPr anchor="ctr"/>
                </a:tc>
                <a:extLst>
                  <a:ext uri="{0D108BD9-81ED-4DB2-BD59-A6C34878D82A}">
                    <a16:rowId xmlns:a16="http://schemas.microsoft.com/office/drawing/2014/main" val="3580837797"/>
                  </a:ext>
                </a:extLst>
              </a:tr>
            </a:tbl>
          </a:graphicData>
        </a:graphic>
      </p:graphicFrame>
      <p:sp>
        <p:nvSpPr>
          <p:cNvPr id="5" name="TextBox 4">
            <a:extLst>
              <a:ext uri="{FF2B5EF4-FFF2-40B4-BE49-F238E27FC236}">
                <a16:creationId xmlns:a16="http://schemas.microsoft.com/office/drawing/2014/main" id="{832AC400-3AA7-907D-7BC6-772958B96920}"/>
              </a:ext>
            </a:extLst>
          </p:cNvPr>
          <p:cNvSpPr txBox="1"/>
          <p:nvPr/>
        </p:nvSpPr>
        <p:spPr>
          <a:xfrm>
            <a:off x="282615" y="3911372"/>
            <a:ext cx="11819474" cy="2062103"/>
          </a:xfrm>
          <a:prstGeom prst="rect">
            <a:avLst/>
          </a:prstGeom>
          <a:noFill/>
        </p:spPr>
        <p:txBody>
          <a:bodyPr wrap="square" rtlCol="0">
            <a:spAutoFit/>
          </a:bodyPr>
          <a:lstStyle/>
          <a:p>
            <a:pPr marL="285750" indent="-285750">
              <a:buFont typeface="Arial" panose="020B0604020202020204" pitchFamily="34" charset="0"/>
              <a:buChar char="•"/>
            </a:pPr>
            <a:r>
              <a:rPr lang="en-IN" sz="1600" b="1" dirty="0"/>
              <a:t>Diagram:</a:t>
            </a:r>
            <a:r>
              <a:rPr lang="en-IN" sz="1600" dirty="0"/>
              <a:t> </a:t>
            </a:r>
            <a:r>
              <a:rPr lang="en-IN" sz="1600" dirty="0" err="1"/>
              <a:t>Seq</a:t>
            </a:r>
            <a:r>
              <a:rPr lang="en-IN" sz="1600" dirty="0"/>
              <a:t> (T×F) → Conv1D → </a:t>
            </a:r>
            <a:r>
              <a:rPr lang="en-IN" sz="1600" dirty="0" err="1"/>
              <a:t>MaxPool</a:t>
            </a:r>
            <a:r>
              <a:rPr lang="en-IN" sz="1600" dirty="0"/>
              <a:t> → Bi-LSTM ⟶ </a:t>
            </a:r>
            <a:r>
              <a:rPr lang="en-IN" sz="1600" dirty="0" err="1"/>
              <a:t>Concat</a:t>
            </a:r>
            <a:r>
              <a:rPr lang="en-IN" sz="1600" dirty="0"/>
              <a:t> ⟵ Dense(static features) → Dense(128, </a:t>
            </a:r>
            <a:r>
              <a:rPr lang="en-IN" sz="1600" dirty="0" err="1"/>
              <a:t>ReLU</a:t>
            </a:r>
            <a:r>
              <a:rPr lang="en-IN" sz="1600" dirty="0"/>
              <a:t>) → Dropout(0.3) → Dense(1, Sigmoid).</a:t>
            </a:r>
          </a:p>
          <a:p>
            <a:pPr marL="285750" indent="-285750">
              <a:buFont typeface="Arial" panose="020B0604020202020204" pitchFamily="34" charset="0"/>
              <a:buChar char="•"/>
            </a:pPr>
            <a:r>
              <a:rPr lang="en-IN" sz="1600" b="1" dirty="0"/>
              <a:t>Procedure:</a:t>
            </a:r>
            <a:r>
              <a:rPr lang="en-IN" sz="1600" dirty="0"/>
              <a:t> normalize + one-hot; windowing (e.g., W=100, stride=10); split 70/15/15; loss BCE, optimizer Adam; class-weights; early stopping on val-F1.</a:t>
            </a:r>
          </a:p>
          <a:p>
            <a:pPr marL="285750" indent="-285750">
              <a:buFont typeface="Arial" panose="020B0604020202020204" pitchFamily="34" charset="0"/>
              <a:buChar char="•"/>
            </a:pPr>
            <a:r>
              <a:rPr lang="en-IN" sz="1600" b="1" dirty="0"/>
              <a:t>Results summary:</a:t>
            </a:r>
            <a:endParaRPr lang="en-IN" sz="1600" dirty="0"/>
          </a:p>
          <a:p>
            <a:pPr marL="742950" lvl="1" indent="-285750">
              <a:buFont typeface="Arial" panose="020B0604020202020204" pitchFamily="34" charset="0"/>
              <a:buChar char="•"/>
            </a:pPr>
            <a:r>
              <a:rPr lang="en-IN" sz="1600" i="1" dirty="0"/>
              <a:t>Without tuning:</a:t>
            </a:r>
            <a:r>
              <a:rPr lang="en-IN" sz="1600" dirty="0"/>
              <a:t> default </a:t>
            </a:r>
            <a:r>
              <a:rPr lang="en-IN" sz="1600" dirty="0" err="1"/>
              <a:t>lr</a:t>
            </a:r>
            <a:r>
              <a:rPr lang="en-IN" sz="1600" dirty="0"/>
              <a:t>=1e-3, batch=128 → decent recall, moderate precision.</a:t>
            </a:r>
          </a:p>
          <a:p>
            <a:pPr marL="742950" lvl="1" indent="-285750">
              <a:buFont typeface="Arial" panose="020B0604020202020204" pitchFamily="34" charset="0"/>
              <a:buChar char="•"/>
            </a:pPr>
            <a:r>
              <a:rPr lang="en-IN" sz="1600" i="1" dirty="0"/>
              <a:t>With tuning:</a:t>
            </a:r>
            <a:r>
              <a:rPr lang="en-IN" sz="1600" dirty="0"/>
              <a:t> search over {</a:t>
            </a:r>
            <a:r>
              <a:rPr lang="en-IN" sz="1600" dirty="0" err="1"/>
              <a:t>lr</a:t>
            </a:r>
            <a:r>
              <a:rPr lang="en-IN" sz="1600" dirty="0"/>
              <a:t> ∈ [1e-4…2e-3], hidden {64,128,256}, dropout {0.2,0.3,0.4}} → Fusion model &gt; LSTM/CNN baselines in F1/AUC.</a:t>
            </a:r>
          </a:p>
        </p:txBody>
      </p:sp>
    </p:spTree>
    <p:extLst>
      <p:ext uri="{BB962C8B-B14F-4D97-AF65-F5344CB8AC3E}">
        <p14:creationId xmlns:p14="http://schemas.microsoft.com/office/powerpoint/2010/main" val="803512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C32EE-E814-B184-5555-891126D09D80}"/>
              </a:ext>
            </a:extLst>
          </p:cNvPr>
          <p:cNvSpPr>
            <a:spLocks noGrp="1"/>
          </p:cNvSpPr>
          <p:nvPr>
            <p:ph type="title"/>
          </p:nvPr>
        </p:nvSpPr>
        <p:spPr>
          <a:xfrm>
            <a:off x="201592" y="238428"/>
            <a:ext cx="10515600" cy="6309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Architecture Diagram</a:t>
            </a:r>
          </a:p>
        </p:txBody>
      </p:sp>
      <p:pic>
        <p:nvPicPr>
          <p:cNvPr id="5" name="Picture 4">
            <a:extLst>
              <a:ext uri="{FF2B5EF4-FFF2-40B4-BE49-F238E27FC236}">
                <a16:creationId xmlns:a16="http://schemas.microsoft.com/office/drawing/2014/main" id="{AB25ACC3-A347-05E5-B120-3950340EC3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04651" y="2339308"/>
            <a:ext cx="6588878" cy="2731316"/>
          </a:xfrm>
          <a:prstGeom prst="rect">
            <a:avLst/>
          </a:prstGeom>
        </p:spPr>
      </p:pic>
      <p:sp>
        <p:nvSpPr>
          <p:cNvPr id="8" name="TextBox 7">
            <a:extLst>
              <a:ext uri="{FF2B5EF4-FFF2-40B4-BE49-F238E27FC236}">
                <a16:creationId xmlns:a16="http://schemas.microsoft.com/office/drawing/2014/main" id="{91659DFE-02AE-83FD-DE79-02542B955681}"/>
              </a:ext>
            </a:extLst>
          </p:cNvPr>
          <p:cNvSpPr txBox="1"/>
          <p:nvPr/>
        </p:nvSpPr>
        <p:spPr>
          <a:xfrm>
            <a:off x="1127090" y="869344"/>
            <a:ext cx="9144000" cy="1477328"/>
          </a:xfrm>
          <a:prstGeom prst="rect">
            <a:avLst/>
          </a:prstGeom>
          <a:noFill/>
        </p:spPr>
        <p:txBody>
          <a:bodyPr wrap="square" rtlCol="0">
            <a:spAutoFit/>
          </a:bodyPr>
          <a:lstStyle/>
          <a:p>
            <a:pPr marL="285750" indent="-285750">
              <a:buFont typeface="Arial" panose="020B0604020202020204" pitchFamily="34" charset="0"/>
              <a:buChar char="•"/>
            </a:pPr>
            <a:r>
              <a:rPr lang="en-GB" dirty="0"/>
              <a:t>The proposed Deep Learning architecture is a hybrid model that combines</a:t>
            </a:r>
          </a:p>
          <a:p>
            <a:pPr marL="285750" indent="-285750">
              <a:buFont typeface="Arial" panose="020B0604020202020204" pitchFamily="34" charset="0"/>
              <a:buChar char="•"/>
            </a:pPr>
            <a:r>
              <a:rPr lang="en-GB" dirty="0"/>
              <a:t>temporal voting sequence features using a 1D-CNN + Bi-LSTM branch and</a:t>
            </a:r>
          </a:p>
          <a:p>
            <a:pPr marL="285750" indent="-285750">
              <a:buFont typeface="Arial" panose="020B0604020202020204" pitchFamily="34" charset="0"/>
              <a:buChar char="•"/>
            </a:pPr>
            <a:r>
              <a:rPr lang="en-GB" dirty="0"/>
              <a:t>static voter/credential features through a Dense layer. Both representations</a:t>
            </a:r>
          </a:p>
          <a:p>
            <a:pPr marL="285750" indent="-285750">
              <a:buFont typeface="Arial" panose="020B0604020202020204" pitchFamily="34" charset="0"/>
              <a:buChar char="•"/>
            </a:pPr>
            <a:r>
              <a:rPr lang="en-GB" dirty="0"/>
              <a:t>are fused and passed through fully connected layers to classify whether a</a:t>
            </a:r>
          </a:p>
          <a:p>
            <a:pPr marL="285750" indent="-285750">
              <a:buFont typeface="Arial" panose="020B0604020202020204" pitchFamily="34" charset="0"/>
              <a:buChar char="•"/>
            </a:pPr>
            <a:r>
              <a:rPr lang="en-GB" dirty="0"/>
              <a:t>vote is legitimate or suspicious.</a:t>
            </a:r>
          </a:p>
        </p:txBody>
      </p:sp>
      <p:sp>
        <p:nvSpPr>
          <p:cNvPr id="9" name="TextBox 8">
            <a:extLst>
              <a:ext uri="{FF2B5EF4-FFF2-40B4-BE49-F238E27FC236}">
                <a16:creationId xmlns:a16="http://schemas.microsoft.com/office/drawing/2014/main" id="{64DCCC03-B682-0A6F-9F3C-D7693150E2B8}"/>
              </a:ext>
            </a:extLst>
          </p:cNvPr>
          <p:cNvSpPr txBox="1"/>
          <p:nvPr/>
        </p:nvSpPr>
        <p:spPr>
          <a:xfrm>
            <a:off x="1127090" y="4690552"/>
            <a:ext cx="9144000" cy="1200329"/>
          </a:xfrm>
          <a:prstGeom prst="rect">
            <a:avLst/>
          </a:prstGeom>
          <a:noFill/>
        </p:spPr>
        <p:txBody>
          <a:bodyPr wrap="square" rtlCol="0">
            <a:spAutoFit/>
          </a:bodyPr>
          <a:lstStyle/>
          <a:p>
            <a:pPr marL="285750" indent="-285750">
              <a:buFont typeface="Arial" panose="020B0604020202020204" pitchFamily="34" charset="0"/>
              <a:buChar char="•"/>
            </a:pPr>
            <a:r>
              <a:rPr lang="en-GB" dirty="0"/>
              <a:t>The CNN layer extracts short-term temporal patterns, the Bi-LSTM captures</a:t>
            </a:r>
          </a:p>
          <a:p>
            <a:pPr marL="285750" indent="-285750">
              <a:buFont typeface="Arial" panose="020B0604020202020204" pitchFamily="34" charset="0"/>
              <a:buChar char="•"/>
            </a:pPr>
            <a:r>
              <a:rPr lang="en-GB" dirty="0"/>
              <a:t>long-term sequence </a:t>
            </a:r>
            <a:r>
              <a:rPr lang="en-GB" dirty="0" err="1"/>
              <a:t>behavior</a:t>
            </a:r>
            <a:r>
              <a:rPr lang="en-GB" dirty="0"/>
              <a:t>, and static features support identity consistency.</a:t>
            </a:r>
          </a:p>
          <a:p>
            <a:pPr marL="285750" indent="-285750">
              <a:buFont typeface="Arial" panose="020B0604020202020204" pitchFamily="34" charset="0"/>
              <a:buChar char="•"/>
            </a:pPr>
            <a:r>
              <a:rPr lang="en-GB" dirty="0"/>
              <a:t>The fused representation is processed by Dense layers to produce the final classification.</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536681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ADD7D-A714-C08A-2E62-033001B7C98E}"/>
              </a:ext>
            </a:extLst>
          </p:cNvPr>
          <p:cNvSpPr>
            <a:spLocks noGrp="1"/>
          </p:cNvSpPr>
          <p:nvPr>
            <p:ph type="title"/>
          </p:nvPr>
        </p:nvSpPr>
        <p:spPr>
          <a:xfrm>
            <a:off x="375213" y="191508"/>
            <a:ext cx="10515600" cy="592816"/>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Algorithm 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3E98F3-BA54-3C3B-703F-B9BD01287562}"/>
                  </a:ext>
                </a:extLst>
              </p:cNvPr>
              <p:cNvSpPr>
                <a:spLocks noGrp="1"/>
              </p:cNvSpPr>
              <p:nvPr>
                <p:ph idx="1"/>
              </p:nvPr>
            </p:nvSpPr>
            <p:spPr>
              <a:xfrm>
                <a:off x="838200" y="995523"/>
                <a:ext cx="10515600" cy="4866953"/>
              </a:xfrm>
            </p:spPr>
            <p:txBody>
              <a:bodyPr>
                <a:noAutofit/>
              </a:bodyPr>
              <a:lstStyle/>
              <a:p>
                <a:pPr marL="0" indent="0">
                  <a:buNone/>
                </a:pPr>
                <a:r>
                  <a:rPr lang="en-IN" sz="1600" b="1" dirty="0"/>
                  <a:t>How the deep learning architecture works</a:t>
                </a:r>
                <a:endParaRPr lang="en-IN" sz="1600" dirty="0"/>
              </a:p>
              <a:p>
                <a:r>
                  <a:rPr lang="en-IN" sz="1600" dirty="0"/>
                  <a:t>Inputs: sequence window of transactions </a:t>
                </a:r>
                <a14:m>
                  <m:oMath xmlns:m="http://schemas.openxmlformats.org/officeDocument/2006/math">
                    <m:r>
                      <a:rPr lang="en-IN" sz="1600" b="0" i="1">
                        <a:latin typeface="Cambria Math" panose="02040503050406030204" pitchFamily="18" charset="0"/>
                      </a:rPr>
                      <m:t>𝑇</m:t>
                    </m:r>
                    <m:r>
                      <a:rPr lang="en-IN" sz="1600" b="0">
                        <a:latin typeface="Cambria Math" panose="02040503050406030204" pitchFamily="18" charset="0"/>
                      </a:rPr>
                      <m:t>×</m:t>
                    </m:r>
                    <m:r>
                      <a:rPr lang="en-IN" sz="1600" b="0" i="1">
                        <a:latin typeface="Cambria Math" panose="02040503050406030204" pitchFamily="18" charset="0"/>
                      </a:rPr>
                      <m:t>𝐹</m:t>
                    </m:r>
                  </m:oMath>
                </a14:m>
                <a:r>
                  <a:rPr lang="en-IN" sz="1600" dirty="0"/>
                  <a:t>+ static/schema feature vector </a:t>
                </a:r>
                <a14:m>
                  <m:oMath xmlns:m="http://schemas.openxmlformats.org/officeDocument/2006/math">
                    <m:r>
                      <a:rPr lang="en-IN" sz="1600" i="1">
                        <a:latin typeface="Cambria Math" panose="02040503050406030204" pitchFamily="18" charset="0"/>
                      </a:rPr>
                      <m:t>𝑆</m:t>
                    </m:r>
                  </m:oMath>
                </a14:m>
                <a:r>
                  <a:rPr lang="en-IN" sz="1600" dirty="0"/>
                  <a:t>.</a:t>
                </a:r>
              </a:p>
              <a:p>
                <a:r>
                  <a:rPr lang="en-IN" sz="1600" dirty="0"/>
                  <a:t>Temporal branch: Conv1D → </a:t>
                </a:r>
                <a:r>
                  <a:rPr lang="en-IN" sz="1600" dirty="0" err="1"/>
                  <a:t>ReLU</a:t>
                </a:r>
                <a:r>
                  <a:rPr lang="en-IN" sz="1600" dirty="0"/>
                  <a:t> → </a:t>
                </a:r>
                <a:r>
                  <a:rPr lang="en-IN" sz="1600" dirty="0" err="1"/>
                  <a:t>MaxPool</a:t>
                </a:r>
                <a:r>
                  <a:rPr lang="en-IN" sz="1600" dirty="0"/>
                  <a:t> → Bi-LSTM(64) to learn short- and long-term patterns.</a:t>
                </a:r>
              </a:p>
              <a:p>
                <a:r>
                  <a:rPr lang="en-IN" sz="1600" dirty="0"/>
                  <a:t>Static branch: Dense(64</a:t>
                </a:r>
                <a:r>
                  <a:rPr lang="en-IN" sz="1600" b="1" dirty="0"/>
                  <a:t>)</a:t>
                </a:r>
                <a:r>
                  <a:rPr lang="en-IN" sz="1600" dirty="0"/>
                  <a:t> to encode credential/schema checks.</a:t>
                </a:r>
              </a:p>
              <a:p>
                <a:r>
                  <a:rPr lang="en-IN" sz="1600" dirty="0"/>
                  <a:t>Fusion: </a:t>
                </a:r>
                <a:r>
                  <a:rPr lang="en-IN" sz="1600" dirty="0" err="1"/>
                  <a:t>Concat</a:t>
                </a:r>
                <a:r>
                  <a:rPr lang="en-IN" sz="1600" dirty="0"/>
                  <a:t>[temporal, static] → Dense(128) → Dropout(0.3) → Dense(1, Sigmoid) → .</a:t>
                </a:r>
              </a:p>
              <a:p>
                <a:r>
                  <a:rPr lang="en-IN" sz="1600" dirty="0"/>
                  <a:t>Training: Binary cross-entropy + Adam, class weights for imbalance, early stopping on val-F1.</a:t>
                </a:r>
              </a:p>
              <a:p>
                <a:pPr marL="0" indent="0">
                  <a:buNone/>
                </a:pPr>
                <a:r>
                  <a:rPr lang="en-IN" sz="1600" b="1" dirty="0"/>
                  <a:t>Step-by-step calculation for one window (toy numbers)</a:t>
                </a:r>
                <a:endParaRPr lang="en-IN" sz="1600" dirty="0"/>
              </a:p>
              <a:p>
                <a:r>
                  <a:rPr lang="en-IN" sz="1600" dirty="0"/>
                  <a:t>Conv1D (k=3) on values </a:t>
                </a:r>
                <a14:m>
                  <m:oMath xmlns:m="http://schemas.openxmlformats.org/officeDocument/2006/math">
                    <m:d>
                      <m:dPr>
                        <m:begChr m:val="["/>
                        <m:endChr m:val="]"/>
                        <m:sepChr m:val=","/>
                        <m:ctrlPr>
                          <a:rPr lang="ar-AE" sz="1600" i="1">
                            <a:latin typeface="Cambria Math" panose="02040503050406030204" pitchFamily="18" charset="0"/>
                          </a:rPr>
                        </m:ctrlPr>
                      </m:dPr>
                      <m:e>
                        <m:r>
                          <a:rPr lang="ar-AE" sz="1600" b="0">
                            <a:latin typeface="Cambria Math" panose="02040503050406030204" pitchFamily="18" charset="0"/>
                          </a:rPr>
                          <m:t>1</m:t>
                        </m:r>
                        <m:r>
                          <a:rPr lang="ar-AE" sz="1600" b="0">
                            <a:latin typeface="Cambria Math" panose="02040503050406030204" pitchFamily="18" charset="0"/>
                          </a:rPr>
                          <m:t>.</m:t>
                        </m:r>
                        <m:r>
                          <a:rPr lang="ar-AE" sz="1600" b="0">
                            <a:latin typeface="Cambria Math" panose="02040503050406030204" pitchFamily="18" charset="0"/>
                          </a:rPr>
                          <m:t>0</m:t>
                        </m:r>
                      </m:e>
                      <m:e>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0</m:t>
                        </m:r>
                      </m:e>
                      <m:e>
                        <m:r>
                          <a:rPr lang="ar-AE" sz="1600" b="0">
                            <a:latin typeface="Cambria Math" panose="02040503050406030204" pitchFamily="18" charset="0"/>
                          </a:rPr>
                          <m:t>2</m:t>
                        </m:r>
                        <m:r>
                          <a:rPr lang="ar-AE" sz="1600" b="0">
                            <a:latin typeface="Cambria Math" panose="02040503050406030204" pitchFamily="18" charset="0"/>
                          </a:rPr>
                          <m:t>.</m:t>
                        </m:r>
                        <m:r>
                          <a:rPr lang="ar-AE" sz="1600" b="0">
                            <a:latin typeface="Cambria Math" panose="02040503050406030204" pitchFamily="18" charset="0"/>
                          </a:rPr>
                          <m:t>0</m:t>
                        </m:r>
                      </m:e>
                    </m:d>
                  </m:oMath>
                </a14:m>
                <a:r>
                  <a:rPr lang="en-IN" sz="1600" dirty="0"/>
                  <a:t>with weights </a:t>
                </a:r>
                <a14:m>
                  <m:oMath xmlns:m="http://schemas.openxmlformats.org/officeDocument/2006/math">
                    <m:d>
                      <m:dPr>
                        <m:begChr m:val="["/>
                        <m:endChr m:val="]"/>
                        <m:sepChr m:val=","/>
                        <m:ctrlPr>
                          <a:rPr lang="ar-AE" sz="1600" i="1">
                            <a:latin typeface="Cambria Math" panose="02040503050406030204" pitchFamily="18" charset="0"/>
                          </a:rPr>
                        </m:ctrlPr>
                      </m:dPr>
                      <m:e>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50</m:t>
                        </m:r>
                      </m:e>
                      <m:e>
                        <m:r>
                          <a:rPr lang="ar-AE" sz="1600" b="0">
                            <a:latin typeface="Cambria Math" panose="02040503050406030204" pitchFamily="18" charset="0"/>
                          </a:rPr>
                          <m:t>−</m:t>
                        </m:r>
                      </m:e>
                      <m:e>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250</m:t>
                        </m:r>
                        <m:r>
                          <a:rPr lang="ar-AE" sz="1600" b="0">
                            <a:latin typeface="Cambria Math" panose="02040503050406030204" pitchFamily="18" charset="0"/>
                          </a:rPr>
                          <m:t>.</m:t>
                        </m:r>
                        <m:r>
                          <a:rPr lang="ar-AE" sz="1600" b="0">
                            <a:latin typeface="Cambria Math" panose="02040503050406030204" pitchFamily="18" charset="0"/>
                          </a:rPr>
                          <m:t>75</m:t>
                        </m:r>
                      </m:e>
                    </m:d>
                  </m:oMath>
                </a14:m>
                <a:r>
                  <a:rPr lang="en-IN" sz="1600" dirty="0"/>
                  <a:t>and bias </a:t>
                </a:r>
                <a14:m>
                  <m:oMath xmlns:m="http://schemas.openxmlformats.org/officeDocument/2006/math">
                    <m:r>
                      <a:rPr lang="en-IN" sz="1600" b="0">
                        <a:latin typeface="Cambria Math" panose="02040503050406030204" pitchFamily="18" charset="0"/>
                      </a:rPr>
                      <m:t>0</m:t>
                    </m:r>
                    <m:r>
                      <a:rPr lang="en-IN" sz="1600" b="0">
                        <a:latin typeface="Cambria Math" panose="02040503050406030204" pitchFamily="18" charset="0"/>
                      </a:rPr>
                      <m:t>.</m:t>
                    </m:r>
                    <m:r>
                      <a:rPr lang="en-IN" sz="1600" b="0">
                        <a:latin typeface="Cambria Math" panose="02040503050406030204" pitchFamily="18" charset="0"/>
                      </a:rPr>
                      <m:t>10</m:t>
                    </m:r>
                  </m:oMath>
                </a14:m>
                <a:r>
                  <a:rPr lang="en-IN" sz="1600" dirty="0"/>
                  <a:t>:</a:t>
                </a:r>
                <a:br>
                  <a:rPr lang="en-IN" sz="1600" dirty="0"/>
                </a:br>
                <a:r>
                  <a:rPr lang="en-IN" sz="1600" dirty="0"/>
                  <a:t>pre-act </a:t>
                </a:r>
                <a14:m>
                  <m:oMath xmlns:m="http://schemas.openxmlformats.org/officeDocument/2006/math">
                    <m:r>
                      <a:rPr lang="en-IN" sz="1600" b="0">
                        <a:latin typeface="Cambria Math" panose="02040503050406030204" pitchFamily="18" charset="0"/>
                      </a:rPr>
                      <m:t>=</m:t>
                    </m:r>
                    <m:r>
                      <a:rPr lang="en-IN" sz="1600" b="0">
                        <a:latin typeface="Cambria Math" panose="02040503050406030204" pitchFamily="18" charset="0"/>
                      </a:rPr>
                      <m:t>0</m:t>
                    </m:r>
                    <m:r>
                      <a:rPr lang="en-IN" sz="1600" b="0">
                        <a:latin typeface="Cambria Math" panose="02040503050406030204" pitchFamily="18" charset="0"/>
                      </a:rPr>
                      <m:t>.</m:t>
                    </m:r>
                    <m:r>
                      <a:rPr lang="en-IN" sz="1600" b="0">
                        <a:latin typeface="Cambria Math" panose="02040503050406030204" pitchFamily="18" charset="0"/>
                      </a:rPr>
                      <m:t>50</m:t>
                    </m:r>
                    <m:r>
                      <a:rPr lang="en-IN" sz="1600" b="0">
                        <a:latin typeface="Cambria Math" panose="02040503050406030204" pitchFamily="18" charset="0"/>
                      </a:rPr>
                      <m:t>×</m:t>
                    </m:r>
                    <m:r>
                      <a:rPr lang="en-IN" sz="1600" b="0">
                        <a:latin typeface="Cambria Math" panose="02040503050406030204" pitchFamily="18" charset="0"/>
                      </a:rPr>
                      <m:t>1</m:t>
                    </m:r>
                    <m:r>
                      <a:rPr lang="en-IN" sz="1600" b="0">
                        <a:latin typeface="Cambria Math" panose="02040503050406030204" pitchFamily="18" charset="0"/>
                      </a:rPr>
                      <m:t>+</m:t>
                    </m:r>
                    <m:d>
                      <m:dPr>
                        <m:ctrlPr>
                          <a:rPr lang="ar-AE" sz="1600" i="1">
                            <a:latin typeface="Cambria Math" panose="02040503050406030204" pitchFamily="18" charset="0"/>
                          </a:rPr>
                        </m:ctrlPr>
                      </m:dPr>
                      <m:e>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25</m:t>
                        </m:r>
                      </m:e>
                    </m:d>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75</m:t>
                    </m:r>
                    <m:r>
                      <a:rPr lang="ar-AE" sz="1600" b="0">
                        <a:latin typeface="Cambria Math" panose="02040503050406030204" pitchFamily="18" charset="0"/>
                      </a:rPr>
                      <m:t>×</m:t>
                    </m:r>
                    <m:r>
                      <a:rPr lang="ar-AE" sz="1600" b="0">
                        <a:latin typeface="Cambria Math" panose="02040503050406030204" pitchFamily="18" charset="0"/>
                      </a:rPr>
                      <m:t>2</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10</m:t>
                    </m:r>
                    <m:r>
                      <a:rPr lang="ar-AE" sz="1600" b="0">
                        <a:latin typeface="Cambria Math" panose="02040503050406030204" pitchFamily="18" charset="0"/>
                      </a:rPr>
                      <m:t>=</m:t>
                    </m:r>
                    <m:r>
                      <a:rPr lang="ar-AE" sz="1600" b="0">
                        <a:latin typeface="Cambria Math" panose="02040503050406030204" pitchFamily="18" charset="0"/>
                      </a:rPr>
                      <m:t>2</m:t>
                    </m:r>
                    <m:r>
                      <a:rPr lang="ar-AE" sz="1600" b="0">
                        <a:latin typeface="Cambria Math" panose="02040503050406030204" pitchFamily="18" charset="0"/>
                      </a:rPr>
                      <m:t>.</m:t>
                    </m:r>
                    <m:r>
                      <a:rPr lang="ar-AE" sz="1600" b="0">
                        <a:latin typeface="Cambria Math" panose="02040503050406030204" pitchFamily="18" charset="0"/>
                      </a:rPr>
                      <m:t>10</m:t>
                    </m:r>
                  </m:oMath>
                </a14:m>
                <a:r>
                  <a:rPr lang="ar-AE" sz="1600" dirty="0"/>
                  <a:t>→ </a:t>
                </a:r>
                <a:r>
                  <a:rPr lang="en-IN" sz="1600" dirty="0" err="1"/>
                  <a:t>ReLU</a:t>
                </a:r>
                <a:r>
                  <a:rPr lang="en-IN" sz="1600" dirty="0"/>
                  <a:t> = 2.10.</a:t>
                </a:r>
              </a:p>
              <a:p>
                <a:r>
                  <a:rPr lang="en-IN" sz="1600" dirty="0"/>
                  <a:t>Bi-LSTM (single unit demo) with </a:t>
                </a:r>
                <a14:m>
                  <m:oMath xmlns:m="http://schemas.openxmlformats.org/officeDocument/2006/math">
                    <m:sSub>
                      <m:sSubPr>
                        <m:ctrlPr>
                          <a:rPr lang="ar-AE" sz="1600" i="1">
                            <a:latin typeface="Cambria Math" panose="02040503050406030204" pitchFamily="18" charset="0"/>
                          </a:rPr>
                        </m:ctrlPr>
                      </m:sSubPr>
                      <m:e>
                        <m:r>
                          <a:rPr lang="ar-AE" sz="1600" b="0" i="1">
                            <a:latin typeface="Cambria Math" panose="02040503050406030204" pitchFamily="18" charset="0"/>
                          </a:rPr>
                          <m:t>𝑥</m:t>
                        </m:r>
                      </m:e>
                      <m:sub>
                        <m:r>
                          <a:rPr lang="ar-AE" sz="1600" b="0" i="1">
                            <a:latin typeface="Cambria Math" panose="02040503050406030204" pitchFamily="18" charset="0"/>
                          </a:rPr>
                          <m:t>𝑡</m:t>
                        </m:r>
                      </m:sub>
                    </m:sSub>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60</m:t>
                    </m:r>
                    <m:r>
                      <a:rPr lang="ar-AE" sz="1600" b="0">
                        <a:latin typeface="Cambria Math" panose="02040503050406030204" pitchFamily="18" charset="0"/>
                      </a:rPr>
                      <m:t>,</m:t>
                    </m:r>
                    <m:r>
                      <m:rPr>
                        <m:nor/>
                      </m:rPr>
                      <a:rPr lang="ar-AE" sz="1600" i="1"/>
                      <m:t> </m:t>
                    </m:r>
                    <m:sSub>
                      <m:sSubPr>
                        <m:ctrlPr>
                          <a:rPr lang="ar-AE" sz="1600" i="1">
                            <a:latin typeface="Cambria Math" panose="02040503050406030204" pitchFamily="18" charset="0"/>
                          </a:rPr>
                        </m:ctrlPr>
                      </m:sSubPr>
                      <m:e>
                        <m:r>
                          <a:rPr lang="ar-AE" sz="1600" b="0" i="1">
                            <a:latin typeface="Cambria Math" panose="02040503050406030204" pitchFamily="18" charset="0"/>
                          </a:rPr>
                          <m:t>h</m:t>
                        </m:r>
                      </m:e>
                      <m:sub>
                        <m:r>
                          <a:rPr lang="ar-AE" sz="1600" b="0" i="1">
                            <a:latin typeface="Cambria Math" panose="02040503050406030204" pitchFamily="18" charset="0"/>
                          </a:rPr>
                          <m:t>𝑡</m:t>
                        </m:r>
                        <m:r>
                          <a:rPr lang="ar-AE" sz="1600" b="0">
                            <a:latin typeface="Cambria Math" panose="02040503050406030204" pitchFamily="18" charset="0"/>
                          </a:rPr>
                          <m:t>−</m:t>
                        </m:r>
                        <m:r>
                          <a:rPr lang="ar-AE" sz="1600" b="0">
                            <a:latin typeface="Cambria Math" panose="02040503050406030204" pitchFamily="18" charset="0"/>
                          </a:rPr>
                          <m:t>1</m:t>
                        </m:r>
                      </m:sub>
                    </m:sSub>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20</m:t>
                    </m:r>
                    <m:r>
                      <a:rPr lang="ar-AE" sz="1600" b="0">
                        <a:latin typeface="Cambria Math" panose="02040503050406030204" pitchFamily="18" charset="0"/>
                      </a:rPr>
                      <m:t>,</m:t>
                    </m:r>
                    <m:r>
                      <m:rPr>
                        <m:nor/>
                      </m:rPr>
                      <a:rPr lang="ar-AE" sz="1600" i="1"/>
                      <m:t> </m:t>
                    </m:r>
                    <m:sSub>
                      <m:sSubPr>
                        <m:ctrlPr>
                          <a:rPr lang="ar-AE" sz="1600" i="1">
                            <a:latin typeface="Cambria Math" panose="02040503050406030204" pitchFamily="18" charset="0"/>
                          </a:rPr>
                        </m:ctrlPr>
                      </m:sSubPr>
                      <m:e>
                        <m:r>
                          <a:rPr lang="ar-AE" sz="1600" b="0" i="1">
                            <a:latin typeface="Cambria Math" panose="02040503050406030204" pitchFamily="18" charset="0"/>
                          </a:rPr>
                          <m:t>𝑐</m:t>
                        </m:r>
                      </m:e>
                      <m:sub>
                        <m:r>
                          <a:rPr lang="ar-AE" sz="1600" b="0" i="1">
                            <a:latin typeface="Cambria Math" panose="02040503050406030204" pitchFamily="18" charset="0"/>
                          </a:rPr>
                          <m:t>𝑡</m:t>
                        </m:r>
                        <m:r>
                          <a:rPr lang="ar-AE" sz="1600" b="0">
                            <a:latin typeface="Cambria Math" panose="02040503050406030204" pitchFamily="18" charset="0"/>
                          </a:rPr>
                          <m:t>−</m:t>
                        </m:r>
                        <m:r>
                          <a:rPr lang="ar-AE" sz="1600" b="0">
                            <a:latin typeface="Cambria Math" panose="02040503050406030204" pitchFamily="18" charset="0"/>
                          </a:rPr>
                          <m:t>1</m:t>
                        </m:r>
                      </m:sub>
                    </m:sSub>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10</m:t>
                    </m:r>
                  </m:oMath>
                </a14:m>
                <a:r>
                  <a:rPr lang="ar-AE" sz="1600" dirty="0"/>
                  <a:t>:</a:t>
                </a:r>
                <a:br>
                  <a:rPr lang="ar-AE" sz="1600" dirty="0"/>
                </a:br>
                <a:r>
                  <a:rPr lang="el-GR" sz="1600" dirty="0"/>
                  <a:t>i=σ(0.66)≈0.66, f=σ(0.36)≈0.59, o=σ(0.51)≈0.63, g=tanh(0.56)≈0.51.</a:t>
                </a:r>
                <a:br>
                  <a:rPr lang="ar-AE" sz="1600" dirty="0"/>
                </a:br>
                <a14:m>
                  <m:oMath xmlns:m="http://schemas.openxmlformats.org/officeDocument/2006/math">
                    <m:sSub>
                      <m:sSubPr>
                        <m:ctrlPr>
                          <a:rPr lang="ar-AE" sz="1600" i="1">
                            <a:latin typeface="Cambria Math" panose="02040503050406030204" pitchFamily="18" charset="0"/>
                          </a:rPr>
                        </m:ctrlPr>
                      </m:sSubPr>
                      <m:e>
                        <m:r>
                          <a:rPr lang="ar-AE" sz="1600" b="0" i="1">
                            <a:latin typeface="Cambria Math" panose="02040503050406030204" pitchFamily="18" charset="0"/>
                          </a:rPr>
                          <m:t>𝑐</m:t>
                        </m:r>
                      </m:e>
                      <m:sub>
                        <m:r>
                          <a:rPr lang="ar-AE" sz="1600" b="0" i="1">
                            <a:latin typeface="Cambria Math" panose="02040503050406030204" pitchFamily="18" charset="0"/>
                          </a:rPr>
                          <m:t>𝑡</m:t>
                        </m:r>
                      </m:sub>
                    </m:sSub>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59</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10</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66</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51</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395</m:t>
                    </m:r>
                  </m:oMath>
                </a14:m>
                <a:r>
                  <a:rPr lang="ar-AE" sz="1600" dirty="0"/>
                  <a:t>, .</a:t>
                </a:r>
              </a:p>
              <a:p>
                <a:r>
                  <a:rPr lang="en-IN" sz="1600" dirty="0"/>
                  <a:t>Static branch Dense(64) → demo output </a:t>
                </a:r>
                <a14:m>
                  <m:oMath xmlns:m="http://schemas.openxmlformats.org/officeDocument/2006/math">
                    <m:r>
                      <a:rPr lang="en-IN" sz="1600" b="0" i="1">
                        <a:latin typeface="Cambria Math" panose="02040503050406030204" pitchFamily="18" charset="0"/>
                      </a:rPr>
                      <m:t>𝑠</m:t>
                    </m:r>
                    <m:r>
                      <a:rPr lang="en-IN" sz="1600" b="0">
                        <a:latin typeface="Cambria Math" panose="02040503050406030204" pitchFamily="18" charset="0"/>
                      </a:rPr>
                      <m:t>=</m:t>
                    </m:r>
                    <m:r>
                      <a:rPr lang="en-IN" sz="1600" b="0">
                        <a:latin typeface="Cambria Math" panose="02040503050406030204" pitchFamily="18" charset="0"/>
                      </a:rPr>
                      <m:t>0</m:t>
                    </m:r>
                    <m:r>
                      <a:rPr lang="en-IN" sz="1600" b="0">
                        <a:latin typeface="Cambria Math" panose="02040503050406030204" pitchFamily="18" charset="0"/>
                      </a:rPr>
                      <m:t>.</m:t>
                    </m:r>
                    <m:r>
                      <a:rPr lang="en-IN" sz="1600" b="0">
                        <a:latin typeface="Cambria Math" panose="02040503050406030204" pitchFamily="18" charset="0"/>
                      </a:rPr>
                      <m:t>40</m:t>
                    </m:r>
                  </m:oMath>
                </a14:m>
                <a:r>
                  <a:rPr lang="en-IN" sz="1600" dirty="0"/>
                  <a:t>.</a:t>
                </a:r>
              </a:p>
              <a:p>
                <a:r>
                  <a:rPr lang="en-IN" sz="1600" dirty="0"/>
                  <a:t>Fusion Dense(128): </a:t>
                </a:r>
                <a14:m>
                  <m:oMath xmlns:m="http://schemas.openxmlformats.org/officeDocument/2006/math">
                    <m:r>
                      <a:rPr lang="en-IN" sz="1600" b="0" i="1">
                        <a:latin typeface="Cambria Math" panose="02040503050406030204" pitchFamily="18" charset="0"/>
                      </a:rPr>
                      <m:t>𝑧</m:t>
                    </m:r>
                    <m:r>
                      <a:rPr lang="en-IN" sz="1600" b="0">
                        <a:latin typeface="Cambria Math" panose="02040503050406030204" pitchFamily="18" charset="0"/>
                      </a:rPr>
                      <m:t>=</m:t>
                    </m:r>
                    <m:r>
                      <m:rPr>
                        <m:nor/>
                      </m:rPr>
                      <a:rPr lang="en-IN" sz="1600" i="1"/>
                      <m:t>ReLU</m:t>
                    </m:r>
                    <m:d>
                      <m:dPr>
                        <m:ctrlPr>
                          <a:rPr lang="ar-AE" sz="1600" i="1">
                            <a:latin typeface="Cambria Math" panose="02040503050406030204" pitchFamily="18" charset="0"/>
                          </a:rPr>
                        </m:ctrlPr>
                      </m:dPr>
                      <m:e>
                        <m:r>
                          <a:rPr lang="ar-AE" sz="1600" b="0">
                            <a:latin typeface="Cambria Math" panose="02040503050406030204" pitchFamily="18" charset="0"/>
                          </a:rPr>
                          <m:t>1</m:t>
                        </m:r>
                        <m:r>
                          <a:rPr lang="ar-AE" sz="1600" b="0">
                            <a:latin typeface="Cambria Math" panose="02040503050406030204" pitchFamily="18" charset="0"/>
                          </a:rPr>
                          <m:t>.</m:t>
                        </m:r>
                        <m:r>
                          <a:rPr lang="ar-AE" sz="1600" b="0">
                            <a:latin typeface="Cambria Math" panose="02040503050406030204" pitchFamily="18" charset="0"/>
                          </a:rPr>
                          <m:t>2</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234</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8</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40</m:t>
                        </m:r>
                      </m:e>
                    </m:d>
                    <m:r>
                      <a:rPr lang="ar-AE" sz="1600" b="0">
                        <a:latin typeface="Cambria Math" panose="02040503050406030204" pitchFamily="18" charset="0"/>
                      </a:rPr>
                      <m:t>=</m:t>
                    </m:r>
                    <m:r>
                      <m:rPr>
                        <m:nor/>
                      </m:rPr>
                      <a:rPr lang="en-IN" sz="1600" i="1"/>
                      <m:t>ReLU</m:t>
                    </m:r>
                    <m:d>
                      <m:dPr>
                        <m:ctrlPr>
                          <a:rPr lang="ar-AE" sz="1600" i="1">
                            <a:latin typeface="Cambria Math" panose="02040503050406030204" pitchFamily="18" charset="0"/>
                          </a:rPr>
                        </m:ctrlPr>
                      </m:dPr>
                      <m:e>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6008</m:t>
                        </m:r>
                      </m:e>
                    </m:d>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6008</m:t>
                    </m:r>
                  </m:oMath>
                </a14:m>
                <a:r>
                  <a:rPr lang="ar-AE" sz="1600" dirty="0"/>
                  <a:t>.</a:t>
                </a:r>
              </a:p>
              <a:p>
                <a:r>
                  <a:rPr lang="en-IN" sz="1600" dirty="0"/>
                  <a:t>Sigmoid output: </a:t>
                </a:r>
                <a14:m>
                  <m:oMath xmlns:m="http://schemas.openxmlformats.org/officeDocument/2006/math">
                    <m:r>
                      <a:rPr lang="en-IN" sz="1600" b="0" i="1">
                        <a:latin typeface="Cambria Math" panose="02040503050406030204" pitchFamily="18" charset="0"/>
                      </a:rPr>
                      <m:t>𝑝</m:t>
                    </m:r>
                    <m:r>
                      <a:rPr lang="en-IN" sz="1600" b="0">
                        <a:latin typeface="Cambria Math" panose="02040503050406030204" pitchFamily="18" charset="0"/>
                      </a:rPr>
                      <m:t>=</m:t>
                    </m:r>
                    <m:r>
                      <a:rPr lang="en-IN" sz="1600" b="0" i="1">
                        <a:latin typeface="Cambria Math" panose="02040503050406030204" pitchFamily="18" charset="0"/>
                      </a:rPr>
                      <m:t>𝜎</m:t>
                    </m:r>
                    <m:d>
                      <m:dPr>
                        <m:ctrlPr>
                          <a:rPr lang="ar-AE" sz="1600" i="1">
                            <a:latin typeface="Cambria Math" panose="02040503050406030204" pitchFamily="18" charset="0"/>
                          </a:rPr>
                        </m:ctrlPr>
                      </m:dPr>
                      <m:e>
                        <m:r>
                          <a:rPr lang="ar-AE" sz="1600" b="0">
                            <a:latin typeface="Cambria Math" panose="02040503050406030204" pitchFamily="18" charset="0"/>
                          </a:rPr>
                          <m:t>2</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i="1">
                            <a:latin typeface="Cambria Math" panose="02040503050406030204" pitchFamily="18" charset="0"/>
                          </a:rPr>
                          <m:t>𝑧</m:t>
                        </m:r>
                        <m:r>
                          <a:rPr lang="ar-AE" sz="1600" b="0">
                            <a:latin typeface="Cambria Math" panose="02040503050406030204" pitchFamily="18" charset="0"/>
                          </a:rPr>
                          <m:t>−</m:t>
                        </m:r>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3</m:t>
                        </m:r>
                      </m:e>
                    </m:d>
                    <m:r>
                      <a:rPr lang="ar-AE" sz="1600" b="0">
                        <a:latin typeface="Cambria Math" panose="02040503050406030204" pitchFamily="18" charset="0"/>
                      </a:rPr>
                      <m:t>=</m:t>
                    </m:r>
                    <m:r>
                      <a:rPr lang="ar-AE" sz="1600" b="0" i="1">
                        <a:latin typeface="Cambria Math" panose="02040503050406030204" pitchFamily="18" charset="0"/>
                      </a:rPr>
                      <m:t>𝜎</m:t>
                    </m:r>
                    <m:d>
                      <m:dPr>
                        <m:ctrlPr>
                          <a:rPr lang="ar-AE" sz="1600" i="1">
                            <a:latin typeface="Cambria Math" panose="02040503050406030204" pitchFamily="18" charset="0"/>
                          </a:rPr>
                        </m:ctrlPr>
                      </m:dPr>
                      <m:e>
                        <m:r>
                          <a:rPr lang="ar-AE" sz="1600" b="0">
                            <a:latin typeface="Cambria Math" panose="02040503050406030204" pitchFamily="18" charset="0"/>
                          </a:rPr>
                          <m:t>0</m:t>
                        </m:r>
                        <m:r>
                          <a:rPr lang="ar-AE" sz="1600" b="0">
                            <a:latin typeface="Cambria Math" panose="02040503050406030204" pitchFamily="18" charset="0"/>
                          </a:rPr>
                          <m:t>.</m:t>
                        </m:r>
                        <m:r>
                          <a:rPr lang="ar-AE" sz="1600" b="0">
                            <a:latin typeface="Cambria Math" panose="02040503050406030204" pitchFamily="18" charset="0"/>
                          </a:rPr>
                          <m:t>9016</m:t>
                        </m:r>
                      </m:e>
                    </m:d>
                    <m:r>
                      <a:rPr lang="ar-AE" sz="1600" b="0">
                        <a:latin typeface="Cambria Math" panose="02040503050406030204" pitchFamily="18" charset="0"/>
                      </a:rPr>
                      <m:t>≈</m:t>
                    </m:r>
                    <m:r>
                      <a:rPr lang="ar-AE" sz="1600" b="0" i="1">
                        <a:latin typeface="Cambria Math" panose="02040503050406030204" pitchFamily="18" charset="0"/>
                      </a:rPr>
                      <m:t>0</m:t>
                    </m:r>
                    <m:r>
                      <a:rPr lang="ar-AE" sz="1600" b="0">
                        <a:latin typeface="Cambria Math" panose="02040503050406030204" pitchFamily="18" charset="0"/>
                      </a:rPr>
                      <m:t>.</m:t>
                    </m:r>
                    <m:r>
                      <a:rPr lang="ar-AE" sz="1600" b="0" i="1">
                        <a:latin typeface="Cambria Math" panose="02040503050406030204" pitchFamily="18" charset="0"/>
                      </a:rPr>
                      <m:t>71</m:t>
                    </m:r>
                  </m:oMath>
                </a14:m>
                <a:r>
                  <a:rPr lang="ar-AE" sz="1600" dirty="0"/>
                  <a:t>→ </a:t>
                </a:r>
                <a:r>
                  <a:rPr lang="en-IN" sz="1600" dirty="0"/>
                  <a:t>flag as suspect if </a:t>
                </a:r>
                <a14:m>
                  <m:oMath xmlns:m="http://schemas.openxmlformats.org/officeDocument/2006/math">
                    <m:r>
                      <a:rPr lang="en-IN" sz="1600" b="0" i="1">
                        <a:latin typeface="Cambria Math" panose="02040503050406030204" pitchFamily="18" charset="0"/>
                      </a:rPr>
                      <m:t>𝑝</m:t>
                    </m:r>
                    <m:r>
                      <a:rPr lang="en-IN" sz="1600" b="0">
                        <a:latin typeface="Cambria Math" panose="02040503050406030204" pitchFamily="18" charset="0"/>
                      </a:rPr>
                      <m:t>≥</m:t>
                    </m:r>
                    <m:r>
                      <a:rPr lang="en-IN" sz="1600" b="0" i="1">
                        <a:latin typeface="Cambria Math" panose="02040503050406030204" pitchFamily="18" charset="0"/>
                      </a:rPr>
                      <m:t>𝜏</m:t>
                    </m:r>
                  </m:oMath>
                </a14:m>
                <a:r>
                  <a:rPr lang="en-IN" sz="1600" dirty="0"/>
                  <a:t>.</a:t>
                </a:r>
              </a:p>
              <a:p>
                <a:endParaRPr lang="en-US" sz="1600"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EB3E98F3-BA54-3C3B-703F-B9BD01287562}"/>
                  </a:ext>
                </a:extLst>
              </p:cNvPr>
              <p:cNvSpPr>
                <a:spLocks noGrp="1" noRot="1" noChangeAspect="1" noMove="1" noResize="1" noEditPoints="1" noAdjustHandles="1" noChangeArrowheads="1" noChangeShapeType="1" noTextEdit="1"/>
              </p:cNvSpPr>
              <p:nvPr>
                <p:ph idx="1"/>
              </p:nvPr>
            </p:nvSpPr>
            <p:spPr>
              <a:xfrm>
                <a:off x="838200" y="995523"/>
                <a:ext cx="10515600" cy="4866953"/>
              </a:xfrm>
              <a:blipFill>
                <a:blip r:embed="rId2"/>
                <a:stretch>
                  <a:fillRect l="-348" t="-876" b="-876"/>
                </a:stretch>
              </a:blipFill>
            </p:spPr>
            <p:txBody>
              <a:bodyPr/>
              <a:lstStyle/>
              <a:p>
                <a:r>
                  <a:rPr lang="en-IN">
                    <a:noFill/>
                  </a:rPr>
                  <a:t> </a:t>
                </a:r>
              </a:p>
            </p:txBody>
          </p:sp>
        </mc:Fallback>
      </mc:AlternateContent>
    </p:spTree>
    <p:extLst>
      <p:ext uri="{BB962C8B-B14F-4D97-AF65-F5344CB8AC3E}">
        <p14:creationId xmlns:p14="http://schemas.microsoft.com/office/powerpoint/2010/main" val="3275308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743AA-F28A-D208-D4B8-88678FA3F1C0}"/>
              </a:ext>
            </a:extLst>
          </p:cNvPr>
          <p:cNvSpPr>
            <a:spLocks noGrp="1"/>
          </p:cNvSpPr>
          <p:nvPr>
            <p:ph type="title"/>
          </p:nvPr>
        </p:nvSpPr>
        <p:spPr>
          <a:xfrm>
            <a:off x="571500" y="343356"/>
            <a:ext cx="10515600" cy="576488"/>
          </a:xfrm>
        </p:spPr>
        <p:txBody>
          <a:bodyPr>
            <a:normAutofit fontScale="90000"/>
          </a:bodyPr>
          <a:lstStyle/>
          <a:p>
            <a:r>
              <a:rPr lang="en-US" sz="3600" b="1">
                <a:solidFill>
                  <a:srgbClr val="CC0066"/>
                </a:solidFill>
                <a:latin typeface="Times New Roman" panose="02020603050405020304" pitchFamily="18" charset="0"/>
                <a:cs typeface="Times New Roman" panose="02020603050405020304" pitchFamily="18" charset="0"/>
              </a:rPr>
              <a:t>Experimental Set up</a:t>
            </a:r>
          </a:p>
        </p:txBody>
      </p:sp>
      <p:graphicFrame>
        <p:nvGraphicFramePr>
          <p:cNvPr id="4" name="Table 3">
            <a:extLst>
              <a:ext uri="{FF2B5EF4-FFF2-40B4-BE49-F238E27FC236}">
                <a16:creationId xmlns:a16="http://schemas.microsoft.com/office/drawing/2014/main" id="{4BCA77C7-7C5B-254B-4EBE-3D895216F25D}"/>
              </a:ext>
            </a:extLst>
          </p:cNvPr>
          <p:cNvGraphicFramePr>
            <a:graphicFrameLocks noGrp="1"/>
          </p:cNvGraphicFramePr>
          <p:nvPr>
            <p:extLst>
              <p:ext uri="{D42A27DB-BD31-4B8C-83A1-F6EECF244321}">
                <p14:modId xmlns:p14="http://schemas.microsoft.com/office/powerpoint/2010/main" val="585345232"/>
              </p:ext>
            </p:extLst>
          </p:nvPr>
        </p:nvGraphicFramePr>
        <p:xfrm>
          <a:off x="802612" y="1039745"/>
          <a:ext cx="10586776" cy="4902009"/>
        </p:xfrm>
        <a:graphic>
          <a:graphicData uri="http://schemas.openxmlformats.org/drawingml/2006/table">
            <a:tbl>
              <a:tblPr firstRow="1" bandRow="1">
                <a:tableStyleId>{5C22544A-7EE6-4342-B048-85BDC9FD1C3A}</a:tableStyleId>
              </a:tblPr>
              <a:tblGrid>
                <a:gridCol w="954702">
                  <a:extLst>
                    <a:ext uri="{9D8B030D-6E8A-4147-A177-3AD203B41FA5}">
                      <a16:colId xmlns:a16="http://schemas.microsoft.com/office/drawing/2014/main" val="736658154"/>
                    </a:ext>
                  </a:extLst>
                </a:gridCol>
                <a:gridCol w="1814875">
                  <a:extLst>
                    <a:ext uri="{9D8B030D-6E8A-4147-A177-3AD203B41FA5}">
                      <a16:colId xmlns:a16="http://schemas.microsoft.com/office/drawing/2014/main" val="2220783906"/>
                    </a:ext>
                  </a:extLst>
                </a:gridCol>
                <a:gridCol w="4225259">
                  <a:extLst>
                    <a:ext uri="{9D8B030D-6E8A-4147-A177-3AD203B41FA5}">
                      <a16:colId xmlns:a16="http://schemas.microsoft.com/office/drawing/2014/main" val="253477053"/>
                    </a:ext>
                  </a:extLst>
                </a:gridCol>
                <a:gridCol w="1930077">
                  <a:extLst>
                    <a:ext uri="{9D8B030D-6E8A-4147-A177-3AD203B41FA5}">
                      <a16:colId xmlns:a16="http://schemas.microsoft.com/office/drawing/2014/main" val="535989938"/>
                    </a:ext>
                  </a:extLst>
                </a:gridCol>
                <a:gridCol w="1661863">
                  <a:extLst>
                    <a:ext uri="{9D8B030D-6E8A-4147-A177-3AD203B41FA5}">
                      <a16:colId xmlns:a16="http://schemas.microsoft.com/office/drawing/2014/main" val="1731549313"/>
                    </a:ext>
                  </a:extLst>
                </a:gridCol>
              </a:tblGrid>
              <a:tr h="477754">
                <a:tc>
                  <a:txBody>
                    <a:bodyPr/>
                    <a:lstStyle/>
                    <a:p>
                      <a:pPr>
                        <a:buNone/>
                      </a:pPr>
                      <a:r>
                        <a:rPr lang="en-IN" sz="1600"/>
                        <a:t>S.No</a:t>
                      </a:r>
                    </a:p>
                  </a:txBody>
                  <a:tcPr anchor="ctr"/>
                </a:tc>
                <a:tc>
                  <a:txBody>
                    <a:bodyPr/>
                    <a:lstStyle/>
                    <a:p>
                      <a:pPr>
                        <a:buNone/>
                      </a:pPr>
                      <a:r>
                        <a:rPr lang="en-IN" sz="1600"/>
                        <a:t>Name of the Parameter</a:t>
                      </a:r>
                    </a:p>
                  </a:txBody>
                  <a:tcPr anchor="ctr"/>
                </a:tc>
                <a:tc>
                  <a:txBody>
                    <a:bodyPr/>
                    <a:lstStyle/>
                    <a:p>
                      <a:pPr>
                        <a:buNone/>
                      </a:pPr>
                      <a:r>
                        <a:rPr lang="en-IN" sz="1600"/>
                        <a:t>Purpose</a:t>
                      </a:r>
                    </a:p>
                  </a:txBody>
                  <a:tcPr anchor="ctr"/>
                </a:tc>
                <a:tc>
                  <a:txBody>
                    <a:bodyPr/>
                    <a:lstStyle/>
                    <a:p>
                      <a:pPr>
                        <a:buNone/>
                      </a:pPr>
                      <a:r>
                        <a:rPr lang="en-IN" sz="1600"/>
                        <a:t>Possible Value</a:t>
                      </a:r>
                    </a:p>
                  </a:txBody>
                  <a:tcPr anchor="ctr"/>
                </a:tc>
                <a:tc>
                  <a:txBody>
                    <a:bodyPr/>
                    <a:lstStyle/>
                    <a:p>
                      <a:pPr>
                        <a:buNone/>
                      </a:pPr>
                      <a:r>
                        <a:rPr lang="en-IN" sz="1600"/>
                        <a:t>Unit</a:t>
                      </a:r>
                    </a:p>
                  </a:txBody>
                  <a:tcPr anchor="ctr"/>
                </a:tc>
                <a:extLst>
                  <a:ext uri="{0D108BD9-81ED-4DB2-BD59-A6C34878D82A}">
                    <a16:rowId xmlns:a16="http://schemas.microsoft.com/office/drawing/2014/main" val="2661218649"/>
                  </a:ext>
                </a:extLst>
              </a:tr>
              <a:tr h="1092009">
                <a:tc>
                  <a:txBody>
                    <a:bodyPr/>
                    <a:lstStyle/>
                    <a:p>
                      <a:pPr>
                        <a:buNone/>
                      </a:pPr>
                      <a:r>
                        <a:rPr lang="en-IN" sz="1600"/>
                        <a:t>1</a:t>
                      </a:r>
                    </a:p>
                  </a:txBody>
                  <a:tcPr anchor="ctr"/>
                </a:tc>
                <a:tc>
                  <a:txBody>
                    <a:bodyPr/>
                    <a:lstStyle/>
                    <a:p>
                      <a:pPr>
                        <a:buNone/>
                      </a:pPr>
                      <a:r>
                        <a:rPr lang="en-IN" sz="1600" b="1"/>
                        <a:t>No. of epochs</a:t>
                      </a:r>
                      <a:endParaRPr lang="en-IN" sz="1600"/>
                    </a:p>
                  </a:txBody>
                  <a:tcPr anchor="ctr"/>
                </a:tc>
                <a:tc>
                  <a:txBody>
                    <a:bodyPr/>
                    <a:lstStyle/>
                    <a:p>
                      <a:pPr>
                        <a:buNone/>
                      </a:pPr>
                      <a:r>
                        <a:rPr lang="en-GB" sz="1600"/>
                        <a:t>One full pass over training data</a:t>
                      </a:r>
                    </a:p>
                  </a:txBody>
                  <a:tcPr anchor="ctr"/>
                </a:tc>
                <a:tc>
                  <a:txBody>
                    <a:bodyPr/>
                    <a:lstStyle/>
                    <a:p>
                      <a:pPr>
                        <a:buNone/>
                      </a:pPr>
                      <a:r>
                        <a:rPr lang="en-IN" sz="1600" b="1"/>
                        <a:t>100</a:t>
                      </a:r>
                      <a:endParaRPr lang="en-IN" sz="1600"/>
                    </a:p>
                  </a:txBody>
                  <a:tcPr anchor="ctr"/>
                </a:tc>
                <a:tc>
                  <a:txBody>
                    <a:bodyPr/>
                    <a:lstStyle/>
                    <a:p>
                      <a:pPr>
                        <a:buNone/>
                      </a:pPr>
                      <a:r>
                        <a:rPr lang="en-IN" sz="1600"/>
                        <a:t>–</a:t>
                      </a:r>
                    </a:p>
                  </a:txBody>
                  <a:tcPr anchor="ctr"/>
                </a:tc>
                <a:extLst>
                  <a:ext uri="{0D108BD9-81ED-4DB2-BD59-A6C34878D82A}">
                    <a16:rowId xmlns:a16="http://schemas.microsoft.com/office/drawing/2014/main" val="1044874677"/>
                  </a:ext>
                </a:extLst>
              </a:tr>
              <a:tr h="273002">
                <a:tc>
                  <a:txBody>
                    <a:bodyPr/>
                    <a:lstStyle/>
                    <a:p>
                      <a:pPr>
                        <a:buNone/>
                      </a:pPr>
                      <a:r>
                        <a:rPr lang="en-IN" sz="1600"/>
                        <a:t>2</a:t>
                      </a:r>
                    </a:p>
                  </a:txBody>
                  <a:tcPr anchor="ctr"/>
                </a:tc>
                <a:tc>
                  <a:txBody>
                    <a:bodyPr/>
                    <a:lstStyle/>
                    <a:p>
                      <a:pPr>
                        <a:buNone/>
                      </a:pPr>
                      <a:r>
                        <a:rPr lang="en-IN" sz="1600" b="1"/>
                        <a:t>Learning rate (lr)</a:t>
                      </a:r>
                      <a:endParaRPr lang="en-IN" sz="1600"/>
                    </a:p>
                  </a:txBody>
                  <a:tcPr anchor="ctr"/>
                </a:tc>
                <a:tc>
                  <a:txBody>
                    <a:bodyPr/>
                    <a:lstStyle/>
                    <a:p>
                      <a:pPr>
                        <a:buNone/>
                      </a:pPr>
                      <a:r>
                        <a:rPr lang="en-GB" sz="1600"/>
                        <a:t>Step size for Adam updates</a:t>
                      </a:r>
                    </a:p>
                  </a:txBody>
                  <a:tcPr anchor="ctr"/>
                </a:tc>
                <a:tc>
                  <a:txBody>
                    <a:bodyPr/>
                    <a:lstStyle/>
                    <a:p>
                      <a:pPr>
                        <a:buNone/>
                      </a:pPr>
                      <a:r>
                        <a:rPr lang="en-IN" sz="1600" b="1"/>
                        <a:t>0.001</a:t>
                      </a:r>
                      <a:r>
                        <a:rPr lang="en-IN" sz="1600"/>
                        <a:t> (ReduceLROnPlateau)</a:t>
                      </a:r>
                    </a:p>
                  </a:txBody>
                  <a:tcPr anchor="ctr"/>
                </a:tc>
                <a:tc>
                  <a:txBody>
                    <a:bodyPr/>
                    <a:lstStyle/>
                    <a:p>
                      <a:pPr>
                        <a:buNone/>
                      </a:pPr>
                      <a:r>
                        <a:rPr lang="en-IN" sz="1600"/>
                        <a:t>–</a:t>
                      </a:r>
                    </a:p>
                  </a:txBody>
                  <a:tcPr anchor="ctr"/>
                </a:tc>
                <a:extLst>
                  <a:ext uri="{0D108BD9-81ED-4DB2-BD59-A6C34878D82A}">
                    <a16:rowId xmlns:a16="http://schemas.microsoft.com/office/drawing/2014/main" val="1751412278"/>
                  </a:ext>
                </a:extLst>
              </a:tr>
              <a:tr h="273002">
                <a:tc>
                  <a:txBody>
                    <a:bodyPr/>
                    <a:lstStyle/>
                    <a:p>
                      <a:pPr>
                        <a:buNone/>
                      </a:pPr>
                      <a:r>
                        <a:rPr lang="en-IN" sz="1600"/>
                        <a:t>3</a:t>
                      </a:r>
                    </a:p>
                  </a:txBody>
                  <a:tcPr anchor="ctr"/>
                </a:tc>
                <a:tc>
                  <a:txBody>
                    <a:bodyPr/>
                    <a:lstStyle/>
                    <a:p>
                      <a:pPr>
                        <a:buNone/>
                      </a:pPr>
                      <a:r>
                        <a:rPr lang="en-IN" sz="1600" b="1"/>
                        <a:t>Batch size</a:t>
                      </a:r>
                      <a:endParaRPr lang="en-IN" sz="1600"/>
                    </a:p>
                  </a:txBody>
                  <a:tcPr anchor="ctr"/>
                </a:tc>
                <a:tc>
                  <a:txBody>
                    <a:bodyPr/>
                    <a:lstStyle/>
                    <a:p>
                      <a:pPr>
                        <a:buNone/>
                      </a:pPr>
                      <a:r>
                        <a:rPr lang="en-IN" sz="1600"/>
                        <a:t>Samples per gradient update</a:t>
                      </a:r>
                    </a:p>
                  </a:txBody>
                  <a:tcPr anchor="ctr"/>
                </a:tc>
                <a:tc>
                  <a:txBody>
                    <a:bodyPr/>
                    <a:lstStyle/>
                    <a:p>
                      <a:pPr>
                        <a:buNone/>
                      </a:pPr>
                      <a:r>
                        <a:rPr lang="en-IN" sz="1600" b="1"/>
                        <a:t>128</a:t>
                      </a:r>
                      <a:endParaRPr lang="en-IN" sz="1600"/>
                    </a:p>
                  </a:txBody>
                  <a:tcPr anchor="ctr"/>
                </a:tc>
                <a:tc>
                  <a:txBody>
                    <a:bodyPr/>
                    <a:lstStyle/>
                    <a:p>
                      <a:pPr>
                        <a:buNone/>
                      </a:pPr>
                      <a:r>
                        <a:rPr lang="en-IN" sz="1600"/>
                        <a:t>samples</a:t>
                      </a:r>
                    </a:p>
                  </a:txBody>
                  <a:tcPr anchor="ctr"/>
                </a:tc>
                <a:extLst>
                  <a:ext uri="{0D108BD9-81ED-4DB2-BD59-A6C34878D82A}">
                    <a16:rowId xmlns:a16="http://schemas.microsoft.com/office/drawing/2014/main" val="2183000399"/>
                  </a:ext>
                </a:extLst>
              </a:tr>
              <a:tr h="273002">
                <a:tc>
                  <a:txBody>
                    <a:bodyPr/>
                    <a:lstStyle/>
                    <a:p>
                      <a:pPr>
                        <a:buNone/>
                      </a:pPr>
                      <a:r>
                        <a:rPr lang="en-IN" sz="1600"/>
                        <a:t>4</a:t>
                      </a:r>
                    </a:p>
                  </a:txBody>
                  <a:tcPr anchor="ctr"/>
                </a:tc>
                <a:tc>
                  <a:txBody>
                    <a:bodyPr/>
                    <a:lstStyle/>
                    <a:p>
                      <a:pPr>
                        <a:buNone/>
                      </a:pPr>
                      <a:r>
                        <a:rPr lang="en-IN" sz="1600" b="1"/>
                        <a:t>Optimizer</a:t>
                      </a:r>
                      <a:endParaRPr lang="en-IN" sz="1600"/>
                    </a:p>
                  </a:txBody>
                  <a:tcPr anchor="ctr"/>
                </a:tc>
                <a:tc>
                  <a:txBody>
                    <a:bodyPr/>
                    <a:lstStyle/>
                    <a:p>
                      <a:pPr>
                        <a:buNone/>
                      </a:pPr>
                      <a:r>
                        <a:rPr lang="en-IN" sz="1600"/>
                        <a:t>Minimizes loss during training</a:t>
                      </a:r>
                    </a:p>
                  </a:txBody>
                  <a:tcPr anchor="ctr"/>
                </a:tc>
                <a:tc>
                  <a:txBody>
                    <a:bodyPr/>
                    <a:lstStyle/>
                    <a:p>
                      <a:pPr>
                        <a:buNone/>
                      </a:pPr>
                      <a:r>
                        <a:rPr lang="en-IN" sz="1600" b="1"/>
                        <a:t>Adam</a:t>
                      </a:r>
                      <a:r>
                        <a:rPr lang="en-IN" sz="1600"/>
                        <a:t> (</a:t>
                      </a:r>
                      <a:r>
                        <a:rPr lang="el-GR" sz="1600"/>
                        <a:t>β1=0.9, β2=0.999)</a:t>
                      </a:r>
                    </a:p>
                  </a:txBody>
                  <a:tcPr anchor="ctr"/>
                </a:tc>
                <a:tc>
                  <a:txBody>
                    <a:bodyPr/>
                    <a:lstStyle/>
                    <a:p>
                      <a:pPr>
                        <a:buNone/>
                      </a:pPr>
                      <a:r>
                        <a:rPr lang="en-IN" sz="1600"/>
                        <a:t>–</a:t>
                      </a:r>
                    </a:p>
                  </a:txBody>
                  <a:tcPr anchor="ctr"/>
                </a:tc>
                <a:extLst>
                  <a:ext uri="{0D108BD9-81ED-4DB2-BD59-A6C34878D82A}">
                    <a16:rowId xmlns:a16="http://schemas.microsoft.com/office/drawing/2014/main" val="2030221873"/>
                  </a:ext>
                </a:extLst>
              </a:tr>
              <a:tr h="273002">
                <a:tc>
                  <a:txBody>
                    <a:bodyPr/>
                    <a:lstStyle/>
                    <a:p>
                      <a:pPr>
                        <a:buNone/>
                      </a:pPr>
                      <a:r>
                        <a:rPr lang="en-IN" sz="1600"/>
                        <a:t>5</a:t>
                      </a:r>
                    </a:p>
                  </a:txBody>
                  <a:tcPr anchor="ctr"/>
                </a:tc>
                <a:tc>
                  <a:txBody>
                    <a:bodyPr/>
                    <a:lstStyle/>
                    <a:p>
                      <a:pPr>
                        <a:buNone/>
                      </a:pPr>
                      <a:r>
                        <a:rPr lang="en-IN" sz="1600" b="1"/>
                        <a:t>Loss function</a:t>
                      </a:r>
                      <a:endParaRPr lang="en-IN" sz="1600"/>
                    </a:p>
                  </a:txBody>
                  <a:tcPr anchor="ctr"/>
                </a:tc>
                <a:tc>
                  <a:txBody>
                    <a:bodyPr/>
                    <a:lstStyle/>
                    <a:p>
                      <a:pPr>
                        <a:buNone/>
                      </a:pPr>
                      <a:r>
                        <a:rPr lang="en-IN" sz="1600"/>
                        <a:t>Objective for binary classification</a:t>
                      </a:r>
                    </a:p>
                  </a:txBody>
                  <a:tcPr anchor="ctr"/>
                </a:tc>
                <a:tc>
                  <a:txBody>
                    <a:bodyPr/>
                    <a:lstStyle/>
                    <a:p>
                      <a:pPr>
                        <a:buNone/>
                      </a:pPr>
                      <a:r>
                        <a:rPr lang="en-IN" sz="1600" b="1" dirty="0"/>
                        <a:t>Binary Cross-Entropy</a:t>
                      </a:r>
                      <a:endParaRPr lang="en-IN" sz="1600" dirty="0"/>
                    </a:p>
                  </a:txBody>
                  <a:tcPr anchor="ctr"/>
                </a:tc>
                <a:tc>
                  <a:txBody>
                    <a:bodyPr/>
                    <a:lstStyle/>
                    <a:p>
                      <a:pPr>
                        <a:buNone/>
                      </a:pPr>
                      <a:r>
                        <a:rPr lang="en-IN" sz="1600"/>
                        <a:t>–</a:t>
                      </a:r>
                    </a:p>
                  </a:txBody>
                  <a:tcPr anchor="ctr"/>
                </a:tc>
                <a:extLst>
                  <a:ext uri="{0D108BD9-81ED-4DB2-BD59-A6C34878D82A}">
                    <a16:rowId xmlns:a16="http://schemas.microsoft.com/office/drawing/2014/main" val="512732052"/>
                  </a:ext>
                </a:extLst>
              </a:tr>
              <a:tr h="273002">
                <a:tc>
                  <a:txBody>
                    <a:bodyPr/>
                    <a:lstStyle/>
                    <a:p>
                      <a:pPr>
                        <a:buNone/>
                      </a:pPr>
                      <a:r>
                        <a:rPr lang="en-IN" sz="1600"/>
                        <a:t>6</a:t>
                      </a:r>
                    </a:p>
                  </a:txBody>
                  <a:tcPr anchor="ctr"/>
                </a:tc>
                <a:tc>
                  <a:txBody>
                    <a:bodyPr/>
                    <a:lstStyle/>
                    <a:p>
                      <a:pPr>
                        <a:buNone/>
                      </a:pPr>
                      <a:r>
                        <a:rPr lang="en-IN" sz="1600" b="1"/>
                        <a:t>Dropout rate</a:t>
                      </a:r>
                      <a:endParaRPr lang="en-IN" sz="1600"/>
                    </a:p>
                  </a:txBody>
                  <a:tcPr anchor="ctr"/>
                </a:tc>
                <a:tc>
                  <a:txBody>
                    <a:bodyPr/>
                    <a:lstStyle/>
                    <a:p>
                      <a:pPr>
                        <a:buNone/>
                      </a:pPr>
                      <a:r>
                        <a:rPr lang="en-IN" sz="1600"/>
                        <a:t>Regularization to prevent overfit</a:t>
                      </a:r>
                    </a:p>
                  </a:txBody>
                  <a:tcPr anchor="ctr"/>
                </a:tc>
                <a:tc>
                  <a:txBody>
                    <a:bodyPr/>
                    <a:lstStyle/>
                    <a:p>
                      <a:pPr>
                        <a:buNone/>
                      </a:pPr>
                      <a:r>
                        <a:rPr lang="en-IN" sz="1600" b="1"/>
                        <a:t>0.3</a:t>
                      </a:r>
                      <a:endParaRPr lang="en-IN" sz="1600"/>
                    </a:p>
                  </a:txBody>
                  <a:tcPr anchor="ctr"/>
                </a:tc>
                <a:tc>
                  <a:txBody>
                    <a:bodyPr/>
                    <a:lstStyle/>
                    <a:p>
                      <a:pPr>
                        <a:buNone/>
                      </a:pPr>
                      <a:r>
                        <a:rPr lang="en-IN" sz="1600"/>
                        <a:t>probability</a:t>
                      </a:r>
                    </a:p>
                  </a:txBody>
                  <a:tcPr anchor="ctr"/>
                </a:tc>
                <a:extLst>
                  <a:ext uri="{0D108BD9-81ED-4DB2-BD59-A6C34878D82A}">
                    <a16:rowId xmlns:a16="http://schemas.microsoft.com/office/drawing/2014/main" val="185836305"/>
                  </a:ext>
                </a:extLst>
              </a:tr>
              <a:tr h="273002">
                <a:tc>
                  <a:txBody>
                    <a:bodyPr/>
                    <a:lstStyle/>
                    <a:p>
                      <a:pPr>
                        <a:buNone/>
                      </a:pPr>
                      <a:r>
                        <a:rPr lang="en-IN" sz="1600"/>
                        <a:t>7</a:t>
                      </a:r>
                    </a:p>
                  </a:txBody>
                  <a:tcPr anchor="ctr"/>
                </a:tc>
                <a:tc>
                  <a:txBody>
                    <a:bodyPr/>
                    <a:lstStyle/>
                    <a:p>
                      <a:pPr>
                        <a:buNone/>
                      </a:pPr>
                      <a:r>
                        <a:rPr lang="en-IN" sz="1600" b="1"/>
                        <a:t>Hidden units (Dense)</a:t>
                      </a:r>
                      <a:endParaRPr lang="en-IN" sz="1600"/>
                    </a:p>
                  </a:txBody>
                  <a:tcPr anchor="ctr"/>
                </a:tc>
                <a:tc>
                  <a:txBody>
                    <a:bodyPr/>
                    <a:lstStyle/>
                    <a:p>
                      <a:pPr>
                        <a:buNone/>
                      </a:pPr>
                      <a:r>
                        <a:rPr lang="en-IN" sz="1600"/>
                        <a:t>Model capacity after fusion</a:t>
                      </a:r>
                    </a:p>
                  </a:txBody>
                  <a:tcPr anchor="ctr"/>
                </a:tc>
                <a:tc>
                  <a:txBody>
                    <a:bodyPr/>
                    <a:lstStyle/>
                    <a:p>
                      <a:pPr>
                        <a:buNone/>
                      </a:pPr>
                      <a:r>
                        <a:rPr lang="en-IN" sz="1600" b="1"/>
                        <a:t>128</a:t>
                      </a:r>
                      <a:endParaRPr lang="en-IN" sz="1600"/>
                    </a:p>
                  </a:txBody>
                  <a:tcPr anchor="ctr"/>
                </a:tc>
                <a:tc>
                  <a:txBody>
                    <a:bodyPr/>
                    <a:lstStyle/>
                    <a:p>
                      <a:pPr>
                        <a:buNone/>
                      </a:pPr>
                      <a:r>
                        <a:rPr lang="en-IN" sz="1600" dirty="0"/>
                        <a:t>units</a:t>
                      </a:r>
                    </a:p>
                  </a:txBody>
                  <a:tcPr anchor="ctr"/>
                </a:tc>
                <a:extLst>
                  <a:ext uri="{0D108BD9-81ED-4DB2-BD59-A6C34878D82A}">
                    <a16:rowId xmlns:a16="http://schemas.microsoft.com/office/drawing/2014/main" val="1519361985"/>
                  </a:ext>
                </a:extLst>
              </a:tr>
            </a:tbl>
          </a:graphicData>
        </a:graphic>
      </p:graphicFrame>
    </p:spTree>
    <p:extLst>
      <p:ext uri="{BB962C8B-B14F-4D97-AF65-F5344CB8AC3E}">
        <p14:creationId xmlns:p14="http://schemas.microsoft.com/office/powerpoint/2010/main" val="1953727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4E7C5-2B86-8A8D-8EE4-D36509B662FC}"/>
              </a:ext>
            </a:extLst>
          </p:cNvPr>
          <p:cNvSpPr>
            <a:spLocks noGrp="1"/>
          </p:cNvSpPr>
          <p:nvPr>
            <p:ph type="title"/>
          </p:nvPr>
        </p:nvSpPr>
        <p:spPr>
          <a:xfrm>
            <a:off x="330200" y="242680"/>
            <a:ext cx="10515600" cy="527502"/>
          </a:xfrm>
        </p:spPr>
        <p:txBody>
          <a:bodyPr>
            <a:normAutofit fontScale="90000"/>
          </a:bodyPr>
          <a:lstStyle/>
          <a:p>
            <a:r>
              <a:rPr lang="en-US" sz="3600" b="1" dirty="0">
                <a:solidFill>
                  <a:srgbClr val="CC0066"/>
                </a:solidFill>
                <a:latin typeface="Times New Roman" panose="02020603050405020304" pitchFamily="18" charset="0"/>
                <a:cs typeface="Times New Roman" panose="02020603050405020304" pitchFamily="18" charset="0"/>
              </a:rPr>
              <a:t>Performance Measures</a:t>
            </a:r>
          </a:p>
        </p:txBody>
      </p:sp>
      <p:graphicFrame>
        <p:nvGraphicFramePr>
          <p:cNvPr id="4" name="Table 3">
            <a:extLst>
              <a:ext uri="{FF2B5EF4-FFF2-40B4-BE49-F238E27FC236}">
                <a16:creationId xmlns:a16="http://schemas.microsoft.com/office/drawing/2014/main" id="{9EDA3AFF-3AEE-98BD-A1CC-0A05B66DDC1A}"/>
              </a:ext>
            </a:extLst>
          </p:cNvPr>
          <p:cNvGraphicFramePr>
            <a:graphicFrameLocks noGrp="1"/>
          </p:cNvGraphicFramePr>
          <p:nvPr>
            <p:extLst>
              <p:ext uri="{D42A27DB-BD31-4B8C-83A1-F6EECF244321}">
                <p14:modId xmlns:p14="http://schemas.microsoft.com/office/powerpoint/2010/main" val="3079064663"/>
              </p:ext>
            </p:extLst>
          </p:nvPr>
        </p:nvGraphicFramePr>
        <p:xfrm>
          <a:off x="330200" y="1110440"/>
          <a:ext cx="11678920" cy="3566160"/>
        </p:xfrm>
        <a:graphic>
          <a:graphicData uri="http://schemas.openxmlformats.org/drawingml/2006/table">
            <a:tbl>
              <a:tblPr firstRow="1" bandRow="1">
                <a:tableStyleId>{5C22544A-7EE6-4342-B048-85BDC9FD1C3A}</a:tableStyleId>
              </a:tblPr>
              <a:tblGrid>
                <a:gridCol w="1053189">
                  <a:extLst>
                    <a:ext uri="{9D8B030D-6E8A-4147-A177-3AD203B41FA5}">
                      <a16:colId xmlns:a16="http://schemas.microsoft.com/office/drawing/2014/main" val="736658154"/>
                    </a:ext>
                  </a:extLst>
                </a:gridCol>
                <a:gridCol w="3292518">
                  <a:extLst>
                    <a:ext uri="{9D8B030D-6E8A-4147-A177-3AD203B41FA5}">
                      <a16:colId xmlns:a16="http://schemas.microsoft.com/office/drawing/2014/main" val="2220783906"/>
                    </a:ext>
                  </a:extLst>
                </a:gridCol>
                <a:gridCol w="1939534">
                  <a:extLst>
                    <a:ext uri="{9D8B030D-6E8A-4147-A177-3AD203B41FA5}">
                      <a16:colId xmlns:a16="http://schemas.microsoft.com/office/drawing/2014/main" val="253477053"/>
                    </a:ext>
                  </a:extLst>
                </a:gridCol>
                <a:gridCol w="5393679">
                  <a:extLst>
                    <a:ext uri="{9D8B030D-6E8A-4147-A177-3AD203B41FA5}">
                      <a16:colId xmlns:a16="http://schemas.microsoft.com/office/drawing/2014/main" val="535989938"/>
                    </a:ext>
                  </a:extLst>
                </a:gridCol>
              </a:tblGrid>
              <a:tr h="0">
                <a:tc>
                  <a:txBody>
                    <a:bodyPr/>
                    <a:lstStyle/>
                    <a:p>
                      <a:pPr>
                        <a:buNone/>
                      </a:pPr>
                      <a:r>
                        <a:rPr lang="en-IN" dirty="0" err="1"/>
                        <a:t>S.No</a:t>
                      </a:r>
                      <a:endParaRPr lang="en-IN" dirty="0"/>
                    </a:p>
                  </a:txBody>
                  <a:tcPr anchor="ctr"/>
                </a:tc>
                <a:tc>
                  <a:txBody>
                    <a:bodyPr/>
                    <a:lstStyle/>
                    <a:p>
                      <a:pPr>
                        <a:buNone/>
                      </a:pPr>
                      <a:r>
                        <a:rPr lang="en-IN" dirty="0"/>
                        <a:t>Measure/Metric</a:t>
                      </a:r>
                    </a:p>
                  </a:txBody>
                  <a:tcPr anchor="ctr"/>
                </a:tc>
                <a:tc>
                  <a:txBody>
                    <a:bodyPr/>
                    <a:lstStyle/>
                    <a:p>
                      <a:pPr>
                        <a:buNone/>
                      </a:pPr>
                      <a:r>
                        <a:rPr lang="en-IN"/>
                        <a:t>Unit</a:t>
                      </a:r>
                    </a:p>
                  </a:txBody>
                  <a:tcPr anchor="ctr"/>
                </a:tc>
                <a:tc>
                  <a:txBody>
                    <a:bodyPr/>
                    <a:lstStyle/>
                    <a:p>
                      <a:pPr>
                        <a:buNone/>
                      </a:pPr>
                      <a:r>
                        <a:rPr lang="en-IN"/>
                        <a:t>Purpose</a:t>
                      </a:r>
                    </a:p>
                  </a:txBody>
                  <a:tcPr anchor="ctr"/>
                </a:tc>
                <a:extLst>
                  <a:ext uri="{0D108BD9-81ED-4DB2-BD59-A6C34878D82A}">
                    <a16:rowId xmlns:a16="http://schemas.microsoft.com/office/drawing/2014/main" val="2661218649"/>
                  </a:ext>
                </a:extLst>
              </a:tr>
              <a:tr h="370840">
                <a:tc>
                  <a:txBody>
                    <a:bodyPr/>
                    <a:lstStyle/>
                    <a:p>
                      <a:pPr>
                        <a:buNone/>
                      </a:pPr>
                      <a:r>
                        <a:rPr lang="en-IN"/>
                        <a:t>1</a:t>
                      </a:r>
                    </a:p>
                  </a:txBody>
                  <a:tcPr anchor="ctr"/>
                </a:tc>
                <a:tc>
                  <a:txBody>
                    <a:bodyPr/>
                    <a:lstStyle/>
                    <a:p>
                      <a:pPr>
                        <a:buNone/>
                      </a:pPr>
                      <a:r>
                        <a:rPr lang="en-IN" b="1"/>
                        <a:t>Accuracy</a:t>
                      </a:r>
                      <a:endParaRPr lang="en-IN"/>
                    </a:p>
                  </a:txBody>
                  <a:tcPr anchor="ctr"/>
                </a:tc>
                <a:tc>
                  <a:txBody>
                    <a:bodyPr/>
                    <a:lstStyle/>
                    <a:p>
                      <a:pPr>
                        <a:buNone/>
                      </a:pPr>
                      <a:r>
                        <a:rPr lang="en-IN"/>
                        <a:t>%</a:t>
                      </a:r>
                    </a:p>
                  </a:txBody>
                  <a:tcPr anchor="ctr"/>
                </a:tc>
                <a:tc>
                  <a:txBody>
                    <a:bodyPr/>
                    <a:lstStyle/>
                    <a:p>
                      <a:pPr>
                        <a:buNone/>
                      </a:pPr>
                      <a:r>
                        <a:rPr lang="en-GB"/>
                        <a:t>Overall correctness: </a:t>
                      </a:r>
                      <a:r>
                        <a:rPr lang="en-GB" b="1"/>
                        <a:t>(TP+TN)/(TP+FP+TN+FN)</a:t>
                      </a:r>
                      <a:r>
                        <a:rPr lang="en-GB"/>
                        <a:t>; use only as a quick summary.</a:t>
                      </a:r>
                    </a:p>
                  </a:txBody>
                  <a:tcPr anchor="ctr"/>
                </a:tc>
                <a:extLst>
                  <a:ext uri="{0D108BD9-81ED-4DB2-BD59-A6C34878D82A}">
                    <a16:rowId xmlns:a16="http://schemas.microsoft.com/office/drawing/2014/main" val="1044874677"/>
                  </a:ext>
                </a:extLst>
              </a:tr>
              <a:tr h="370840">
                <a:tc>
                  <a:txBody>
                    <a:bodyPr/>
                    <a:lstStyle/>
                    <a:p>
                      <a:pPr>
                        <a:buNone/>
                      </a:pPr>
                      <a:r>
                        <a:rPr lang="en-IN"/>
                        <a:t>2</a:t>
                      </a:r>
                    </a:p>
                  </a:txBody>
                  <a:tcPr anchor="ctr"/>
                </a:tc>
                <a:tc>
                  <a:txBody>
                    <a:bodyPr/>
                    <a:lstStyle/>
                    <a:p>
                      <a:pPr>
                        <a:buNone/>
                      </a:pPr>
                      <a:r>
                        <a:rPr lang="en-IN" b="1"/>
                        <a:t>Precision</a:t>
                      </a:r>
                      <a:endParaRPr lang="en-IN"/>
                    </a:p>
                  </a:txBody>
                  <a:tcPr anchor="ctr"/>
                </a:tc>
                <a:tc>
                  <a:txBody>
                    <a:bodyPr/>
                    <a:lstStyle/>
                    <a:p>
                      <a:pPr>
                        <a:buNone/>
                      </a:pPr>
                      <a:r>
                        <a:rPr lang="en-IN"/>
                        <a:t>%</a:t>
                      </a:r>
                    </a:p>
                  </a:txBody>
                  <a:tcPr anchor="ctr"/>
                </a:tc>
                <a:tc>
                  <a:txBody>
                    <a:bodyPr/>
                    <a:lstStyle/>
                    <a:p>
                      <a:pPr>
                        <a:buNone/>
                      </a:pPr>
                      <a:r>
                        <a:rPr lang="en-GB"/>
                        <a:t>How many flagged votes are truly suspect: </a:t>
                      </a:r>
                      <a:r>
                        <a:rPr lang="en-GB" b="1"/>
                        <a:t>TP/(TP+FP)</a:t>
                      </a:r>
                      <a:r>
                        <a:rPr lang="en-GB"/>
                        <a:t>; keeps </a:t>
                      </a:r>
                      <a:r>
                        <a:rPr lang="en-GB" b="1"/>
                        <a:t>false positives</a:t>
                      </a:r>
                      <a:r>
                        <a:rPr lang="en-GB"/>
                        <a:t> low (don’t block legit votes).</a:t>
                      </a:r>
                    </a:p>
                  </a:txBody>
                  <a:tcPr anchor="ctr"/>
                </a:tc>
                <a:extLst>
                  <a:ext uri="{0D108BD9-81ED-4DB2-BD59-A6C34878D82A}">
                    <a16:rowId xmlns:a16="http://schemas.microsoft.com/office/drawing/2014/main" val="1751412278"/>
                  </a:ext>
                </a:extLst>
              </a:tr>
              <a:tr h="370840">
                <a:tc>
                  <a:txBody>
                    <a:bodyPr/>
                    <a:lstStyle/>
                    <a:p>
                      <a:pPr>
                        <a:buNone/>
                      </a:pPr>
                      <a:r>
                        <a:rPr lang="en-IN"/>
                        <a:t>3</a:t>
                      </a:r>
                    </a:p>
                  </a:txBody>
                  <a:tcPr anchor="ctr"/>
                </a:tc>
                <a:tc>
                  <a:txBody>
                    <a:bodyPr/>
                    <a:lstStyle/>
                    <a:p>
                      <a:pPr>
                        <a:buNone/>
                      </a:pPr>
                      <a:r>
                        <a:rPr lang="en-IN" b="1"/>
                        <a:t>Recall</a:t>
                      </a:r>
                      <a:endParaRPr lang="en-IN"/>
                    </a:p>
                  </a:txBody>
                  <a:tcPr anchor="ctr"/>
                </a:tc>
                <a:tc>
                  <a:txBody>
                    <a:bodyPr/>
                    <a:lstStyle/>
                    <a:p>
                      <a:pPr>
                        <a:buNone/>
                      </a:pPr>
                      <a:r>
                        <a:rPr lang="en-IN"/>
                        <a:t>%</a:t>
                      </a:r>
                    </a:p>
                  </a:txBody>
                  <a:tcPr anchor="ctr"/>
                </a:tc>
                <a:tc>
                  <a:txBody>
                    <a:bodyPr/>
                    <a:lstStyle/>
                    <a:p>
                      <a:pPr>
                        <a:buNone/>
                      </a:pPr>
                      <a:r>
                        <a:rPr lang="en-GB"/>
                        <a:t>How many suspect votes we caught: </a:t>
                      </a:r>
                      <a:r>
                        <a:rPr lang="en-GB" b="1"/>
                        <a:t>TP/(TP+FN)</a:t>
                      </a:r>
                      <a:r>
                        <a:rPr lang="en-GB"/>
                        <a:t>; measures </a:t>
                      </a:r>
                      <a:r>
                        <a:rPr lang="en-GB" b="1"/>
                        <a:t>security coverage</a:t>
                      </a:r>
                      <a:r>
                        <a:rPr lang="en-GB"/>
                        <a:t>.</a:t>
                      </a:r>
                    </a:p>
                  </a:txBody>
                  <a:tcPr anchor="ctr"/>
                </a:tc>
                <a:extLst>
                  <a:ext uri="{0D108BD9-81ED-4DB2-BD59-A6C34878D82A}">
                    <a16:rowId xmlns:a16="http://schemas.microsoft.com/office/drawing/2014/main" val="2183000399"/>
                  </a:ext>
                </a:extLst>
              </a:tr>
              <a:tr h="370840">
                <a:tc>
                  <a:txBody>
                    <a:bodyPr/>
                    <a:lstStyle/>
                    <a:p>
                      <a:pPr>
                        <a:buNone/>
                      </a:pPr>
                      <a:r>
                        <a:rPr lang="en-IN"/>
                        <a:t>4</a:t>
                      </a:r>
                    </a:p>
                  </a:txBody>
                  <a:tcPr anchor="ctr"/>
                </a:tc>
                <a:tc>
                  <a:txBody>
                    <a:bodyPr/>
                    <a:lstStyle/>
                    <a:p>
                      <a:pPr>
                        <a:buNone/>
                      </a:pPr>
                      <a:r>
                        <a:rPr lang="en-IN" b="1"/>
                        <a:t>Sensitivity</a:t>
                      </a:r>
                      <a:endParaRPr lang="en-IN"/>
                    </a:p>
                  </a:txBody>
                  <a:tcPr anchor="ctr"/>
                </a:tc>
                <a:tc>
                  <a:txBody>
                    <a:bodyPr/>
                    <a:lstStyle/>
                    <a:p>
                      <a:pPr>
                        <a:buNone/>
                      </a:pPr>
                      <a:r>
                        <a:rPr lang="en-IN"/>
                        <a:t>%</a:t>
                      </a:r>
                    </a:p>
                  </a:txBody>
                  <a:tcPr anchor="ctr"/>
                </a:tc>
                <a:tc>
                  <a:txBody>
                    <a:bodyPr/>
                    <a:lstStyle/>
                    <a:p>
                      <a:pPr>
                        <a:buNone/>
                      </a:pPr>
                      <a:r>
                        <a:rPr lang="en-GB"/>
                        <a:t>Same as </a:t>
                      </a:r>
                      <a:r>
                        <a:rPr lang="en-GB" b="1"/>
                        <a:t>Recall</a:t>
                      </a:r>
                      <a:r>
                        <a:rPr lang="en-GB"/>
                        <a:t> for the </a:t>
                      </a:r>
                      <a:r>
                        <a:rPr lang="en-GB" i="1"/>
                        <a:t>suspect</a:t>
                      </a:r>
                      <a:r>
                        <a:rPr lang="en-GB"/>
                        <a:t> (positive) class; emphasize catching coordinated fraud.</a:t>
                      </a:r>
                    </a:p>
                  </a:txBody>
                  <a:tcPr anchor="ctr"/>
                </a:tc>
                <a:extLst>
                  <a:ext uri="{0D108BD9-81ED-4DB2-BD59-A6C34878D82A}">
                    <a16:rowId xmlns:a16="http://schemas.microsoft.com/office/drawing/2014/main" val="2030221873"/>
                  </a:ext>
                </a:extLst>
              </a:tr>
              <a:tr h="370840">
                <a:tc>
                  <a:txBody>
                    <a:bodyPr/>
                    <a:lstStyle/>
                    <a:p>
                      <a:pPr>
                        <a:buNone/>
                      </a:pPr>
                      <a:r>
                        <a:rPr lang="en-IN"/>
                        <a:t>5</a:t>
                      </a:r>
                    </a:p>
                  </a:txBody>
                  <a:tcPr anchor="ctr"/>
                </a:tc>
                <a:tc>
                  <a:txBody>
                    <a:bodyPr/>
                    <a:lstStyle/>
                    <a:p>
                      <a:pPr>
                        <a:buNone/>
                      </a:pPr>
                      <a:r>
                        <a:rPr lang="en-IN" b="1" dirty="0"/>
                        <a:t>Specificity</a:t>
                      </a:r>
                      <a:endParaRPr lang="en-IN" dirty="0"/>
                    </a:p>
                  </a:txBody>
                  <a:tcPr anchor="ctr"/>
                </a:tc>
                <a:tc>
                  <a:txBody>
                    <a:bodyPr/>
                    <a:lstStyle/>
                    <a:p>
                      <a:pPr>
                        <a:buNone/>
                      </a:pPr>
                      <a:r>
                        <a:rPr lang="en-IN"/>
                        <a:t>%</a:t>
                      </a:r>
                    </a:p>
                  </a:txBody>
                  <a:tcPr anchor="ctr"/>
                </a:tc>
                <a:tc>
                  <a:txBody>
                    <a:bodyPr/>
                    <a:lstStyle/>
                    <a:p>
                      <a:pPr>
                        <a:buNone/>
                      </a:pPr>
                      <a:r>
                        <a:rPr lang="en-GB" dirty="0"/>
                        <a:t>True negative rate for the </a:t>
                      </a:r>
                      <a:r>
                        <a:rPr lang="en-GB" i="1" dirty="0"/>
                        <a:t>legit</a:t>
                      </a:r>
                      <a:r>
                        <a:rPr lang="en-GB" dirty="0"/>
                        <a:t> class: </a:t>
                      </a:r>
                      <a:r>
                        <a:rPr lang="en-GB" b="1" dirty="0"/>
                        <a:t>TN/(TN+FP)</a:t>
                      </a:r>
                      <a:r>
                        <a:rPr lang="en-GB" dirty="0"/>
                        <a:t>; ensures legit votes pass smoothly.</a:t>
                      </a:r>
                    </a:p>
                  </a:txBody>
                  <a:tcPr anchor="ctr"/>
                </a:tc>
                <a:extLst>
                  <a:ext uri="{0D108BD9-81ED-4DB2-BD59-A6C34878D82A}">
                    <a16:rowId xmlns:a16="http://schemas.microsoft.com/office/drawing/2014/main" val="512732052"/>
                  </a:ext>
                </a:extLst>
              </a:tr>
            </a:tbl>
          </a:graphicData>
        </a:graphic>
      </p:graphicFrame>
      <p:sp>
        <p:nvSpPr>
          <p:cNvPr id="7" name="TextBox 6">
            <a:extLst>
              <a:ext uri="{FF2B5EF4-FFF2-40B4-BE49-F238E27FC236}">
                <a16:creationId xmlns:a16="http://schemas.microsoft.com/office/drawing/2014/main" id="{1002D8F6-4D87-77AD-5F73-A0EEEA79A4A1}"/>
              </a:ext>
            </a:extLst>
          </p:cNvPr>
          <p:cNvSpPr txBox="1"/>
          <p:nvPr/>
        </p:nvSpPr>
        <p:spPr>
          <a:xfrm>
            <a:off x="1345111" y="5016858"/>
            <a:ext cx="9501778" cy="646331"/>
          </a:xfrm>
          <a:prstGeom prst="rect">
            <a:avLst/>
          </a:prstGeom>
          <a:noFill/>
        </p:spPr>
        <p:txBody>
          <a:bodyPr wrap="square">
            <a:spAutoFit/>
          </a:bodyPr>
          <a:lstStyle/>
          <a:p>
            <a:r>
              <a:rPr lang="en-GB" dirty="0"/>
              <a:t>Graphs shown next: Confusion Matrix, ROC (with AUC), and Precision–Recall curve; threshold chosen to keep FPR ≤ 2% with high Recall.</a:t>
            </a:r>
          </a:p>
        </p:txBody>
      </p:sp>
    </p:spTree>
    <p:extLst>
      <p:ext uri="{BB962C8B-B14F-4D97-AF65-F5344CB8AC3E}">
        <p14:creationId xmlns:p14="http://schemas.microsoft.com/office/powerpoint/2010/main" val="31768674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6FC4-1CB5-9861-DA5D-1EEF01EF9315}"/>
              </a:ext>
            </a:extLst>
          </p:cNvPr>
          <p:cNvSpPr>
            <a:spLocks noGrp="1"/>
          </p:cNvSpPr>
          <p:nvPr>
            <p:ph type="title"/>
          </p:nvPr>
        </p:nvSpPr>
        <p:spPr>
          <a:xfrm>
            <a:off x="539262" y="347542"/>
            <a:ext cx="10515600" cy="587373"/>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Split Ratio of the Dataset </a:t>
            </a:r>
          </a:p>
        </p:txBody>
      </p:sp>
      <p:sp>
        <p:nvSpPr>
          <p:cNvPr id="3" name="Content Placeholder 2">
            <a:extLst>
              <a:ext uri="{FF2B5EF4-FFF2-40B4-BE49-F238E27FC236}">
                <a16:creationId xmlns:a16="http://schemas.microsoft.com/office/drawing/2014/main" id="{560CC9BF-2AA1-C836-6613-1B5999756087}"/>
              </a:ext>
            </a:extLst>
          </p:cNvPr>
          <p:cNvSpPr>
            <a:spLocks noGrp="1"/>
          </p:cNvSpPr>
          <p:nvPr>
            <p:ph idx="1"/>
          </p:nvPr>
        </p:nvSpPr>
        <p:spPr>
          <a:xfrm>
            <a:off x="838200" y="1157741"/>
            <a:ext cx="10515600" cy="4542518"/>
          </a:xfrm>
        </p:spPr>
        <p:txBody>
          <a:bodyPr>
            <a:normAutofit/>
          </a:bodyPr>
          <a:lstStyle/>
          <a:p>
            <a:pPr marL="0" indent="0">
              <a:buNone/>
            </a:pPr>
            <a:r>
              <a:rPr lang="en-GB" sz="2000" b="1" dirty="0">
                <a:latin typeface="+mn-lt"/>
              </a:rPr>
              <a:t>Train / Val / Test used in our project</a:t>
            </a:r>
            <a:endParaRPr lang="en-GB" sz="2000" dirty="0">
              <a:latin typeface="+mn-lt"/>
            </a:endParaRPr>
          </a:p>
          <a:p>
            <a:pPr lvl="1"/>
            <a:r>
              <a:rPr lang="en-GB" sz="1800" dirty="0">
                <a:latin typeface="+mn-lt"/>
              </a:rPr>
              <a:t>Training set: 70% → 7,000 ballots </a:t>
            </a:r>
            <a:r>
              <a:rPr lang="en-GB" sz="1800" i="1" dirty="0">
                <a:latin typeface="+mn-lt"/>
              </a:rPr>
              <a:t>(≈ 3,580 verified, 3,420 unverified)</a:t>
            </a:r>
            <a:endParaRPr lang="en-GB" sz="1800" dirty="0">
              <a:latin typeface="+mn-lt"/>
            </a:endParaRPr>
          </a:p>
          <a:p>
            <a:pPr lvl="1"/>
            <a:r>
              <a:rPr lang="en-GB" sz="1800" dirty="0">
                <a:latin typeface="+mn-lt"/>
              </a:rPr>
              <a:t>Validation set: 15% → 1,500 ballots </a:t>
            </a:r>
            <a:r>
              <a:rPr lang="en-GB" sz="1800" i="1" dirty="0">
                <a:latin typeface="+mn-lt"/>
              </a:rPr>
              <a:t>(≈ 767 verified, 733 unverified)</a:t>
            </a:r>
            <a:endParaRPr lang="en-GB" sz="1800" dirty="0">
              <a:latin typeface="+mn-lt"/>
            </a:endParaRPr>
          </a:p>
          <a:p>
            <a:pPr lvl="1"/>
            <a:r>
              <a:rPr lang="en-GB" sz="1800" dirty="0">
                <a:latin typeface="+mn-lt"/>
              </a:rPr>
              <a:t>Test set: 15% → 1,500 ballots </a:t>
            </a:r>
            <a:r>
              <a:rPr lang="en-GB" sz="1800" i="1" dirty="0">
                <a:latin typeface="+mn-lt"/>
              </a:rPr>
              <a:t>(≈ 767 verified, 733 unverified)</a:t>
            </a:r>
            <a:endParaRPr lang="en-GB" sz="1800" dirty="0">
              <a:latin typeface="+mn-lt"/>
            </a:endParaRPr>
          </a:p>
          <a:p>
            <a:pPr marL="0" indent="0">
              <a:buNone/>
            </a:pPr>
            <a:r>
              <a:rPr lang="en-GB" sz="2000" b="1" dirty="0">
                <a:latin typeface="+mn-lt"/>
              </a:rPr>
              <a:t>How we split (to stay correct for e-voting data)</a:t>
            </a:r>
            <a:endParaRPr lang="en-GB" sz="2000" dirty="0">
              <a:latin typeface="+mn-lt"/>
            </a:endParaRPr>
          </a:p>
          <a:p>
            <a:pPr lvl="1"/>
            <a:r>
              <a:rPr lang="en-GB" sz="1800" dirty="0">
                <a:latin typeface="+mn-lt"/>
              </a:rPr>
              <a:t>Stratified by </a:t>
            </a:r>
            <a:r>
              <a:rPr lang="en-GB" sz="1800" dirty="0" err="1">
                <a:latin typeface="+mn-lt"/>
              </a:rPr>
              <a:t>is_verified</a:t>
            </a:r>
            <a:r>
              <a:rPr lang="en-GB" sz="1800" dirty="0">
                <a:latin typeface="+mn-lt"/>
              </a:rPr>
              <a:t> so each split keeps the same class ratio.</a:t>
            </a:r>
          </a:p>
          <a:p>
            <a:pPr lvl="1"/>
            <a:r>
              <a:rPr lang="en-GB" sz="1800" dirty="0">
                <a:latin typeface="+mn-lt"/>
              </a:rPr>
              <a:t>Time-aware (by timestamp) to avoid future leakage into past.</a:t>
            </a:r>
          </a:p>
          <a:p>
            <a:pPr lvl="1"/>
            <a:r>
              <a:rPr lang="en-GB" sz="1800" dirty="0">
                <a:latin typeface="+mn-lt"/>
              </a:rPr>
              <a:t>Group holdout by </a:t>
            </a:r>
            <a:r>
              <a:rPr lang="en-GB" sz="1800" dirty="0" err="1">
                <a:latin typeface="+mn-lt"/>
              </a:rPr>
              <a:t>voter_id</a:t>
            </a:r>
            <a:r>
              <a:rPr lang="en-GB" sz="1800" dirty="0">
                <a:latin typeface="+mn-lt"/>
              </a:rPr>
              <a:t>/ballot window so the same voter/window appears in only one split.</a:t>
            </a:r>
          </a:p>
          <a:p>
            <a:pPr lvl="1"/>
            <a:r>
              <a:rPr lang="en-GB" sz="1800" dirty="0">
                <a:latin typeface="+mn-lt"/>
              </a:rPr>
              <a:t>Create sequence windows after splitting (prevents cross-split overlap).</a:t>
            </a:r>
          </a:p>
          <a:p>
            <a:pPr marL="0" indent="0">
              <a:buNone/>
            </a:pPr>
            <a:r>
              <a:rPr lang="en-GB" sz="2000" b="1" dirty="0">
                <a:latin typeface="+mn-lt"/>
              </a:rPr>
              <a:t>Why this matters</a:t>
            </a:r>
            <a:endParaRPr lang="en-GB" sz="2000" dirty="0">
              <a:latin typeface="+mn-lt"/>
            </a:endParaRPr>
          </a:p>
          <a:p>
            <a:pPr lvl="1"/>
            <a:r>
              <a:rPr lang="en-GB" sz="1800" dirty="0">
                <a:latin typeface="+mn-lt"/>
              </a:rPr>
              <a:t>Naive random splits can put most of one class in a single set or let the same voter appear in both train and test → inflated metrics.</a:t>
            </a:r>
          </a:p>
          <a:p>
            <a:pPr lvl="1"/>
            <a:r>
              <a:rPr lang="en-GB" sz="1800" dirty="0">
                <a:latin typeface="+mn-lt"/>
              </a:rPr>
              <a:t>Our policy keeps evaluation fair and realistic.</a:t>
            </a:r>
          </a:p>
        </p:txBody>
      </p:sp>
    </p:spTree>
    <p:extLst>
      <p:ext uri="{BB962C8B-B14F-4D97-AF65-F5344CB8AC3E}">
        <p14:creationId xmlns:p14="http://schemas.microsoft.com/office/powerpoint/2010/main" val="33021190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194C-1017-FDBE-A467-C3D3C99ED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D764F-1218-6E71-1EB9-37E5C4A91E81}"/>
              </a:ext>
            </a:extLst>
          </p:cNvPr>
          <p:cNvSpPr>
            <a:spLocks noGrp="1"/>
          </p:cNvSpPr>
          <p:nvPr>
            <p:ph type="title"/>
          </p:nvPr>
        </p:nvSpPr>
        <p:spPr>
          <a:xfrm>
            <a:off x="523240" y="293160"/>
            <a:ext cx="10515600" cy="679902"/>
          </a:xfrm>
        </p:spPr>
        <p:txBody>
          <a:bodyPr>
            <a:normAutofit/>
          </a:bodyPr>
          <a:lstStyle/>
          <a:p>
            <a:r>
              <a:rPr lang="en-US" sz="3600" b="1">
                <a:solidFill>
                  <a:srgbClr val="CC0066"/>
                </a:solidFill>
                <a:latin typeface="Times New Roman" panose="02020603050405020304" pitchFamily="18" charset="0"/>
                <a:cs typeface="Times New Roman" panose="02020603050405020304" pitchFamily="18" charset="0"/>
              </a:rPr>
              <a:t>Explainable AI</a:t>
            </a:r>
            <a:endParaRPr lang="en-US" sz="3600"/>
          </a:p>
        </p:txBody>
      </p:sp>
      <p:graphicFrame>
        <p:nvGraphicFramePr>
          <p:cNvPr id="4" name="Content Placeholder 3">
            <a:extLst>
              <a:ext uri="{FF2B5EF4-FFF2-40B4-BE49-F238E27FC236}">
                <a16:creationId xmlns:a16="http://schemas.microsoft.com/office/drawing/2014/main" id="{5A499714-ADC8-C55E-3264-26816931C6D2}"/>
              </a:ext>
            </a:extLst>
          </p:cNvPr>
          <p:cNvGraphicFramePr>
            <a:graphicFrameLocks noGrp="1"/>
          </p:cNvGraphicFramePr>
          <p:nvPr>
            <p:ph idx="1"/>
            <p:extLst>
              <p:ext uri="{D42A27DB-BD31-4B8C-83A1-F6EECF244321}">
                <p14:modId xmlns:p14="http://schemas.microsoft.com/office/powerpoint/2010/main" val="1528523167"/>
              </p:ext>
            </p:extLst>
          </p:nvPr>
        </p:nvGraphicFramePr>
        <p:xfrm>
          <a:off x="800100" y="1065348"/>
          <a:ext cx="10711180" cy="2931160"/>
        </p:xfrm>
        <a:graphic>
          <a:graphicData uri="http://schemas.openxmlformats.org/drawingml/2006/table">
            <a:tbl>
              <a:tblPr firstRow="1" bandRow="1">
                <a:tableStyleId>{5C22544A-7EE6-4342-B048-85BDC9FD1C3A}</a:tableStyleId>
              </a:tblPr>
              <a:tblGrid>
                <a:gridCol w="3863340">
                  <a:extLst>
                    <a:ext uri="{9D8B030D-6E8A-4147-A177-3AD203B41FA5}">
                      <a16:colId xmlns:a16="http://schemas.microsoft.com/office/drawing/2014/main" val="2046135341"/>
                    </a:ext>
                  </a:extLst>
                </a:gridCol>
                <a:gridCol w="6847840">
                  <a:extLst>
                    <a:ext uri="{9D8B030D-6E8A-4147-A177-3AD203B41FA5}">
                      <a16:colId xmlns:a16="http://schemas.microsoft.com/office/drawing/2014/main" val="125374431"/>
                    </a:ext>
                  </a:extLst>
                </a:gridCol>
              </a:tblGrid>
              <a:tr h="370840">
                <a:tc>
                  <a:txBody>
                    <a:bodyPr/>
                    <a:lstStyle/>
                    <a:p>
                      <a:pPr>
                        <a:buNone/>
                      </a:pPr>
                      <a:r>
                        <a:rPr lang="en-IN" b="1"/>
                        <a:t>Algorithm Name</a:t>
                      </a:r>
                      <a:endParaRPr lang="en-IN"/>
                    </a:p>
                  </a:txBody>
                  <a:tcPr anchor="ctr"/>
                </a:tc>
                <a:tc>
                  <a:txBody>
                    <a:bodyPr/>
                    <a:lstStyle/>
                    <a:p>
                      <a:pPr>
                        <a:buNone/>
                      </a:pPr>
                      <a:r>
                        <a:rPr lang="en-IN" b="1"/>
                        <a:t>Student contributed</a:t>
                      </a:r>
                      <a:endParaRPr lang="en-IN"/>
                    </a:p>
                  </a:txBody>
                  <a:tcPr anchor="ctr"/>
                </a:tc>
                <a:extLst>
                  <a:ext uri="{0D108BD9-81ED-4DB2-BD59-A6C34878D82A}">
                    <a16:rowId xmlns:a16="http://schemas.microsoft.com/office/drawing/2014/main" val="976283460"/>
                  </a:ext>
                </a:extLst>
              </a:tr>
              <a:tr h="370840">
                <a:tc>
                  <a:txBody>
                    <a:bodyPr/>
                    <a:lstStyle/>
                    <a:p>
                      <a:pPr>
                        <a:buNone/>
                      </a:pPr>
                      <a:r>
                        <a:rPr lang="en-IN" b="1" dirty="0"/>
                        <a:t>Random Forest (baseline/global)</a:t>
                      </a:r>
                      <a:endParaRPr lang="en-IN" dirty="0"/>
                    </a:p>
                  </a:txBody>
                  <a:tcPr anchor="ctr"/>
                </a:tc>
                <a:tc>
                  <a:txBody>
                    <a:bodyPr/>
                    <a:lstStyle/>
                    <a:p>
                      <a:pPr>
                        <a:buNone/>
                      </a:pPr>
                      <a:r>
                        <a:rPr lang="en-GB" b="0"/>
                        <a:t>Computed Permutation Importance &amp; TreeSHAP to rank features; plotted Partial Dependence for top 3 features.</a:t>
                      </a:r>
                    </a:p>
                  </a:txBody>
                  <a:tcPr anchor="ctr"/>
                </a:tc>
                <a:extLst>
                  <a:ext uri="{0D108BD9-81ED-4DB2-BD59-A6C34878D82A}">
                    <a16:rowId xmlns:a16="http://schemas.microsoft.com/office/drawing/2014/main" val="764356365"/>
                  </a:ext>
                </a:extLst>
              </a:tr>
              <a:tr h="370840">
                <a:tc>
                  <a:txBody>
                    <a:bodyPr/>
                    <a:lstStyle/>
                    <a:p>
                      <a:pPr>
                        <a:buNone/>
                      </a:pPr>
                      <a:r>
                        <a:rPr lang="en-IN" b="1"/>
                        <a:t>CNN–BiLSTM Fusion (proposed)</a:t>
                      </a:r>
                      <a:endParaRPr lang="en-IN"/>
                    </a:p>
                  </a:txBody>
                  <a:tcPr anchor="ctr"/>
                </a:tc>
                <a:tc>
                  <a:txBody>
                    <a:bodyPr/>
                    <a:lstStyle/>
                    <a:p>
                      <a:pPr>
                        <a:buNone/>
                      </a:pPr>
                      <a:r>
                        <a:rPr lang="en-GB" b="0"/>
                        <a:t>Applied DeepSHAP / Integrated Gradients to get time-step attributions and static-feature contributions; generated heatmaps.</a:t>
                      </a:r>
                    </a:p>
                  </a:txBody>
                  <a:tcPr anchor="ctr"/>
                </a:tc>
                <a:extLst>
                  <a:ext uri="{0D108BD9-81ED-4DB2-BD59-A6C34878D82A}">
                    <a16:rowId xmlns:a16="http://schemas.microsoft.com/office/drawing/2014/main" val="946195484"/>
                  </a:ext>
                </a:extLst>
              </a:tr>
              <a:tr h="370840">
                <a:tc>
                  <a:txBody>
                    <a:bodyPr/>
                    <a:lstStyle/>
                    <a:p>
                      <a:pPr>
                        <a:buNone/>
                      </a:pPr>
                      <a:r>
                        <a:rPr lang="en-IN" b="1"/>
                        <a:t>LIME (local explanations)</a:t>
                      </a:r>
                      <a:endParaRPr lang="en-IN"/>
                    </a:p>
                  </a:txBody>
                  <a:tcPr anchor="ctr"/>
                </a:tc>
                <a:tc>
                  <a:txBody>
                    <a:bodyPr/>
                    <a:lstStyle/>
                    <a:p>
                      <a:pPr>
                        <a:buNone/>
                      </a:pPr>
                      <a:r>
                        <a:rPr lang="en-GB" b="0"/>
                        <a:t>Produced case-level explanations for flagged ballots (why this vote was marked suspect).</a:t>
                      </a:r>
                    </a:p>
                  </a:txBody>
                  <a:tcPr anchor="ctr"/>
                </a:tc>
                <a:extLst>
                  <a:ext uri="{0D108BD9-81ED-4DB2-BD59-A6C34878D82A}">
                    <a16:rowId xmlns:a16="http://schemas.microsoft.com/office/drawing/2014/main" val="3580837797"/>
                  </a:ext>
                </a:extLst>
              </a:tr>
              <a:tr h="370840">
                <a:tc>
                  <a:txBody>
                    <a:bodyPr/>
                    <a:lstStyle/>
                    <a:p>
                      <a:pPr>
                        <a:buNone/>
                      </a:pPr>
                      <a:r>
                        <a:rPr lang="en-IN" b="1"/>
                        <a:t>Threshold rationale</a:t>
                      </a:r>
                      <a:endParaRPr lang="en-IN"/>
                    </a:p>
                  </a:txBody>
                  <a:tcPr anchor="ctr"/>
                </a:tc>
                <a:tc>
                  <a:txBody>
                    <a:bodyPr/>
                    <a:lstStyle/>
                    <a:p>
                      <a:pPr>
                        <a:buNone/>
                      </a:pPr>
                      <a:r>
                        <a:rPr lang="en-GB" b="0" dirty="0"/>
                        <a:t>Chose operating point from PR curve to keep FPR ≤ 2%; created one-pager with precision/recall trade-off.</a:t>
                      </a:r>
                    </a:p>
                  </a:txBody>
                  <a:tcPr anchor="ctr"/>
                </a:tc>
                <a:extLst>
                  <a:ext uri="{0D108BD9-81ED-4DB2-BD59-A6C34878D82A}">
                    <a16:rowId xmlns:a16="http://schemas.microsoft.com/office/drawing/2014/main" val="2042462971"/>
                  </a:ext>
                </a:extLst>
              </a:tr>
            </a:tbl>
          </a:graphicData>
        </a:graphic>
      </p:graphicFrame>
      <p:sp>
        <p:nvSpPr>
          <p:cNvPr id="5" name="TextBox 4">
            <a:extLst>
              <a:ext uri="{FF2B5EF4-FFF2-40B4-BE49-F238E27FC236}">
                <a16:creationId xmlns:a16="http://schemas.microsoft.com/office/drawing/2014/main" id="{EA323CB3-7756-1730-D292-F465E21B8917}"/>
              </a:ext>
            </a:extLst>
          </p:cNvPr>
          <p:cNvSpPr txBox="1"/>
          <p:nvPr/>
        </p:nvSpPr>
        <p:spPr>
          <a:xfrm>
            <a:off x="1653540" y="4174672"/>
            <a:ext cx="10426700" cy="1754326"/>
          </a:xfrm>
          <a:prstGeom prst="rect">
            <a:avLst/>
          </a:prstGeom>
          <a:noFill/>
        </p:spPr>
        <p:txBody>
          <a:bodyPr wrap="square" rtlCol="0">
            <a:spAutoFit/>
          </a:bodyPr>
          <a:lstStyle/>
          <a:p>
            <a:pPr marL="342900" indent="-34290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The model combines a CNN–</a:t>
            </a:r>
            <a:r>
              <a:rPr lang="en-GB" dirty="0" err="1">
                <a:latin typeface="Times New Roman" panose="02020603050405020304" pitchFamily="18" charset="0"/>
                <a:cs typeface="Times New Roman" panose="02020603050405020304" pitchFamily="18" charset="0"/>
              </a:rPr>
              <a:t>BiLSTM</a:t>
            </a:r>
            <a:r>
              <a:rPr lang="en-GB" dirty="0">
                <a:latin typeface="Times New Roman" panose="02020603050405020304" pitchFamily="18" charset="0"/>
                <a:cs typeface="Times New Roman" panose="02020603050405020304" pitchFamily="18" charset="0"/>
              </a:rPr>
              <a:t> branch (to learn voting </a:t>
            </a:r>
            <a:r>
              <a:rPr lang="en-GB" dirty="0" err="1">
                <a:latin typeface="Times New Roman" panose="02020603050405020304" pitchFamily="18" charset="0"/>
                <a:cs typeface="Times New Roman" panose="02020603050405020304" pitchFamily="18" charset="0"/>
              </a:rPr>
              <a:t>behavior</a:t>
            </a:r>
            <a:r>
              <a:rPr lang="en-GB" dirty="0">
                <a:latin typeface="Times New Roman" panose="02020603050405020304" pitchFamily="18" charset="0"/>
                <a:cs typeface="Times New Roman" panose="02020603050405020304" pitchFamily="18" charset="0"/>
              </a:rPr>
              <a:t> patterns over time)</a:t>
            </a:r>
          </a:p>
          <a:p>
            <a:pPr marL="342900" indent="-34290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with a Dense branch (to represent static voter/ballot features). The outputs are fused</a:t>
            </a:r>
          </a:p>
          <a:p>
            <a:pPr marL="342900" indent="-34290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and passed through fully connected layers to classify a ballot as verified or suspicious.</a:t>
            </a:r>
          </a:p>
          <a:p>
            <a:pPr marL="342900" indent="-342900">
              <a:buFont typeface="Arial" panose="020B0604020202020204" pitchFamily="34" charset="0"/>
              <a:buChar char="•"/>
            </a:pPr>
            <a:endParaRPr lang="en-GB"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Interpretation is done using SHAP/Integrated Gradients, which highlight which time steps</a:t>
            </a:r>
          </a:p>
          <a:p>
            <a:pPr marL="342900" indent="-34290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and features contributed most to the model’s decision.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34570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3E15294-0CB5-3215-CBC8-93B409E5616A}"/>
              </a:ext>
            </a:extLst>
          </p:cNvPr>
          <p:cNvSpPr txBox="1"/>
          <p:nvPr/>
        </p:nvSpPr>
        <p:spPr>
          <a:xfrm>
            <a:off x="1449956" y="1210643"/>
            <a:ext cx="1177607" cy="369887"/>
          </a:xfrm>
          <a:prstGeom prst="rect">
            <a:avLst/>
          </a:prstGeom>
          <a:noFill/>
        </p:spPr>
        <p:txBody>
          <a:bodyPr wrap="square">
            <a:spAutoFit/>
          </a:bodyPr>
          <a:lstStyle/>
          <a:p>
            <a:pPr>
              <a:defRPr/>
            </a:pPr>
            <a:r>
              <a:rPr lang="en-IN" sz="1800" dirty="0">
                <a:latin typeface="+mj-lt"/>
              </a:rPr>
              <a:t>Model</a:t>
            </a:r>
          </a:p>
        </p:txBody>
      </p:sp>
      <p:graphicFrame>
        <p:nvGraphicFramePr>
          <p:cNvPr id="8" name="Table 7">
            <a:extLst>
              <a:ext uri="{FF2B5EF4-FFF2-40B4-BE49-F238E27FC236}">
                <a16:creationId xmlns:a16="http://schemas.microsoft.com/office/drawing/2014/main" id="{149ECFF1-23D6-0510-8427-CDD7FB4E5331}"/>
              </a:ext>
            </a:extLst>
          </p:cNvPr>
          <p:cNvGraphicFramePr>
            <a:graphicFrameLocks noGrp="1"/>
          </p:cNvGraphicFramePr>
          <p:nvPr>
            <p:extLst>
              <p:ext uri="{D42A27DB-BD31-4B8C-83A1-F6EECF244321}">
                <p14:modId xmlns:p14="http://schemas.microsoft.com/office/powerpoint/2010/main" val="1348890979"/>
              </p:ext>
            </p:extLst>
          </p:nvPr>
        </p:nvGraphicFramePr>
        <p:xfrm>
          <a:off x="4449763" y="1118549"/>
          <a:ext cx="6896099" cy="2310451"/>
        </p:xfrm>
        <a:graphic>
          <a:graphicData uri="http://schemas.openxmlformats.org/drawingml/2006/table">
            <a:tbl>
              <a:tblPr firstRow="1" bandRow="1">
                <a:tableStyleId>{C4B1156A-380E-4F78-BDF5-A606A8083BF9}</a:tableStyleId>
              </a:tblPr>
              <a:tblGrid>
                <a:gridCol w="696787">
                  <a:extLst>
                    <a:ext uri="{9D8B030D-6E8A-4147-A177-3AD203B41FA5}">
                      <a16:colId xmlns:a16="http://schemas.microsoft.com/office/drawing/2014/main" val="20000"/>
                    </a:ext>
                  </a:extLst>
                </a:gridCol>
                <a:gridCol w="944267">
                  <a:extLst>
                    <a:ext uri="{9D8B030D-6E8A-4147-A177-3AD203B41FA5}">
                      <a16:colId xmlns:a16="http://schemas.microsoft.com/office/drawing/2014/main" val="20001"/>
                    </a:ext>
                  </a:extLst>
                </a:gridCol>
                <a:gridCol w="1108487">
                  <a:extLst>
                    <a:ext uri="{9D8B030D-6E8A-4147-A177-3AD203B41FA5}">
                      <a16:colId xmlns:a16="http://schemas.microsoft.com/office/drawing/2014/main" val="20002"/>
                    </a:ext>
                  </a:extLst>
                </a:gridCol>
                <a:gridCol w="1026376">
                  <a:extLst>
                    <a:ext uri="{9D8B030D-6E8A-4147-A177-3AD203B41FA5}">
                      <a16:colId xmlns:a16="http://schemas.microsoft.com/office/drawing/2014/main" val="20003"/>
                    </a:ext>
                  </a:extLst>
                </a:gridCol>
                <a:gridCol w="1116245">
                  <a:extLst>
                    <a:ext uri="{9D8B030D-6E8A-4147-A177-3AD203B41FA5}">
                      <a16:colId xmlns:a16="http://schemas.microsoft.com/office/drawing/2014/main" val="20004"/>
                    </a:ext>
                  </a:extLst>
                </a:gridCol>
                <a:gridCol w="1059969">
                  <a:extLst>
                    <a:ext uri="{9D8B030D-6E8A-4147-A177-3AD203B41FA5}">
                      <a16:colId xmlns:a16="http://schemas.microsoft.com/office/drawing/2014/main" val="20005"/>
                    </a:ext>
                  </a:extLst>
                </a:gridCol>
                <a:gridCol w="943968">
                  <a:extLst>
                    <a:ext uri="{9D8B030D-6E8A-4147-A177-3AD203B41FA5}">
                      <a16:colId xmlns:a16="http://schemas.microsoft.com/office/drawing/2014/main" val="20006"/>
                    </a:ext>
                  </a:extLst>
                </a:gridCol>
              </a:tblGrid>
              <a:tr h="634051">
                <a:tc>
                  <a:txBody>
                    <a:bodyPr/>
                    <a:lstStyle/>
                    <a:p>
                      <a:pPr>
                        <a:buNone/>
                      </a:pPr>
                      <a:r>
                        <a:rPr lang="en-IN" sz="1600"/>
                        <a:t>S.No</a:t>
                      </a:r>
                    </a:p>
                  </a:txBody>
                  <a:tcPr anchor="ctr"/>
                </a:tc>
                <a:tc>
                  <a:txBody>
                    <a:bodyPr/>
                    <a:lstStyle/>
                    <a:p>
                      <a:pPr>
                        <a:buNone/>
                      </a:pPr>
                      <a:r>
                        <a:rPr lang="en-IN" sz="1600"/>
                        <a:t>Epochs</a:t>
                      </a:r>
                    </a:p>
                  </a:txBody>
                  <a:tcPr anchor="ctr"/>
                </a:tc>
                <a:tc>
                  <a:txBody>
                    <a:bodyPr/>
                    <a:lstStyle/>
                    <a:p>
                      <a:pPr algn="r">
                        <a:buNone/>
                      </a:pPr>
                      <a:r>
                        <a:rPr lang="en-IN" sz="1600"/>
                        <a:t>Training Accuracy</a:t>
                      </a:r>
                    </a:p>
                  </a:txBody>
                  <a:tcPr anchor="ctr"/>
                </a:tc>
                <a:tc>
                  <a:txBody>
                    <a:bodyPr/>
                    <a:lstStyle/>
                    <a:p>
                      <a:pPr algn="r">
                        <a:buNone/>
                      </a:pPr>
                      <a:r>
                        <a:rPr lang="en-IN" sz="1600"/>
                        <a:t>Training Loss</a:t>
                      </a:r>
                    </a:p>
                  </a:txBody>
                  <a:tcPr anchor="ctr"/>
                </a:tc>
                <a:tc>
                  <a:txBody>
                    <a:bodyPr/>
                    <a:lstStyle/>
                    <a:p>
                      <a:pPr algn="r">
                        <a:buNone/>
                      </a:pPr>
                      <a:r>
                        <a:rPr lang="en-IN" sz="1600"/>
                        <a:t>Validation Accuracy</a:t>
                      </a:r>
                    </a:p>
                  </a:txBody>
                  <a:tcPr anchor="ctr"/>
                </a:tc>
                <a:tc>
                  <a:txBody>
                    <a:bodyPr/>
                    <a:lstStyle/>
                    <a:p>
                      <a:pPr algn="r">
                        <a:buNone/>
                      </a:pPr>
                      <a:r>
                        <a:rPr lang="en-IN" sz="1600"/>
                        <a:t>Validation Loss</a:t>
                      </a:r>
                    </a:p>
                  </a:txBody>
                  <a:tcPr anchor="ctr"/>
                </a:tc>
                <a:tc>
                  <a:txBody>
                    <a:bodyPr/>
                    <a:lstStyle/>
                    <a:p>
                      <a:pPr algn="r">
                        <a:buNone/>
                      </a:pPr>
                      <a:r>
                        <a:rPr lang="en-IN" sz="1600" dirty="0"/>
                        <a:t>AUC</a:t>
                      </a:r>
                    </a:p>
                  </a:txBody>
                  <a:tcPr anchor="ctr"/>
                </a:tc>
                <a:extLst>
                  <a:ext uri="{0D108BD9-81ED-4DB2-BD59-A6C34878D82A}">
                    <a16:rowId xmlns:a16="http://schemas.microsoft.com/office/drawing/2014/main" val="10000"/>
                  </a:ext>
                </a:extLst>
              </a:tr>
              <a:tr h="304990">
                <a:tc>
                  <a:txBody>
                    <a:bodyPr/>
                    <a:lstStyle/>
                    <a:p>
                      <a:pPr>
                        <a:buNone/>
                      </a:pPr>
                      <a:r>
                        <a:rPr lang="en-IN" sz="1600"/>
                        <a:t>1</a:t>
                      </a:r>
                    </a:p>
                  </a:txBody>
                  <a:tcPr anchor="ctr"/>
                </a:tc>
                <a:tc>
                  <a:txBody>
                    <a:bodyPr/>
                    <a:lstStyle/>
                    <a:p>
                      <a:pPr>
                        <a:buNone/>
                      </a:pPr>
                      <a:r>
                        <a:rPr lang="en-IN" sz="1600"/>
                        <a:t>1–20</a:t>
                      </a:r>
                    </a:p>
                  </a:txBody>
                  <a:tcPr anchor="ctr"/>
                </a:tc>
                <a:tc>
                  <a:txBody>
                    <a:bodyPr/>
                    <a:lstStyle/>
                    <a:p>
                      <a:pPr algn="r">
                        <a:buNone/>
                      </a:pPr>
                      <a:r>
                        <a:rPr lang="en-IN" sz="1600"/>
                        <a:t>0.61</a:t>
                      </a:r>
                    </a:p>
                  </a:txBody>
                  <a:tcPr anchor="ctr"/>
                </a:tc>
                <a:tc>
                  <a:txBody>
                    <a:bodyPr/>
                    <a:lstStyle/>
                    <a:p>
                      <a:pPr algn="r">
                        <a:buNone/>
                      </a:pPr>
                      <a:r>
                        <a:rPr lang="en-IN" sz="1600"/>
                        <a:t>1.06</a:t>
                      </a:r>
                    </a:p>
                  </a:txBody>
                  <a:tcPr anchor="ctr"/>
                </a:tc>
                <a:tc>
                  <a:txBody>
                    <a:bodyPr/>
                    <a:lstStyle/>
                    <a:p>
                      <a:pPr algn="r">
                        <a:buNone/>
                      </a:pPr>
                      <a:r>
                        <a:rPr lang="en-IN" sz="1600"/>
                        <a:t>0.55</a:t>
                      </a:r>
                    </a:p>
                  </a:txBody>
                  <a:tcPr anchor="ctr"/>
                </a:tc>
                <a:tc>
                  <a:txBody>
                    <a:bodyPr/>
                    <a:lstStyle/>
                    <a:p>
                      <a:pPr algn="r">
                        <a:buNone/>
                      </a:pPr>
                      <a:r>
                        <a:rPr lang="en-IN" sz="1600"/>
                        <a:t>1.31</a:t>
                      </a:r>
                    </a:p>
                  </a:txBody>
                  <a:tcPr anchor="ctr"/>
                </a:tc>
                <a:tc>
                  <a:txBody>
                    <a:bodyPr/>
                    <a:lstStyle/>
                    <a:p>
                      <a:pPr algn="r">
                        <a:buNone/>
                      </a:pPr>
                      <a:r>
                        <a:rPr lang="en-IN" sz="1600"/>
                        <a:t>0.870</a:t>
                      </a:r>
                    </a:p>
                  </a:txBody>
                  <a:tcPr anchor="ctr"/>
                </a:tc>
                <a:extLst>
                  <a:ext uri="{0D108BD9-81ED-4DB2-BD59-A6C34878D82A}">
                    <a16:rowId xmlns:a16="http://schemas.microsoft.com/office/drawing/2014/main" val="10001"/>
                  </a:ext>
                </a:extLst>
              </a:tr>
              <a:tr h="304990">
                <a:tc>
                  <a:txBody>
                    <a:bodyPr/>
                    <a:lstStyle/>
                    <a:p>
                      <a:pPr>
                        <a:buNone/>
                      </a:pPr>
                      <a:r>
                        <a:rPr lang="en-IN" sz="1600"/>
                        <a:t>2</a:t>
                      </a:r>
                    </a:p>
                  </a:txBody>
                  <a:tcPr anchor="ctr"/>
                </a:tc>
                <a:tc>
                  <a:txBody>
                    <a:bodyPr/>
                    <a:lstStyle/>
                    <a:p>
                      <a:pPr>
                        <a:buNone/>
                      </a:pPr>
                      <a:r>
                        <a:rPr lang="en-IN" sz="1600"/>
                        <a:t>21–40</a:t>
                      </a:r>
                    </a:p>
                  </a:txBody>
                  <a:tcPr anchor="ctr"/>
                </a:tc>
                <a:tc>
                  <a:txBody>
                    <a:bodyPr/>
                    <a:lstStyle/>
                    <a:p>
                      <a:pPr algn="r">
                        <a:buNone/>
                      </a:pPr>
                      <a:r>
                        <a:rPr lang="en-IN" sz="1600"/>
                        <a:t>0.73</a:t>
                      </a:r>
                    </a:p>
                  </a:txBody>
                  <a:tcPr anchor="ctr"/>
                </a:tc>
                <a:tc>
                  <a:txBody>
                    <a:bodyPr/>
                    <a:lstStyle/>
                    <a:p>
                      <a:pPr algn="r">
                        <a:buNone/>
                      </a:pPr>
                      <a:r>
                        <a:rPr lang="en-IN" sz="1600"/>
                        <a:t>0.80</a:t>
                      </a:r>
                    </a:p>
                  </a:txBody>
                  <a:tcPr anchor="ctr"/>
                </a:tc>
                <a:tc>
                  <a:txBody>
                    <a:bodyPr/>
                    <a:lstStyle/>
                    <a:p>
                      <a:pPr algn="r">
                        <a:buNone/>
                      </a:pPr>
                      <a:r>
                        <a:rPr lang="en-IN" sz="1600"/>
                        <a:t>0.69</a:t>
                      </a:r>
                    </a:p>
                  </a:txBody>
                  <a:tcPr anchor="ctr"/>
                </a:tc>
                <a:tc>
                  <a:txBody>
                    <a:bodyPr/>
                    <a:lstStyle/>
                    <a:p>
                      <a:pPr algn="r">
                        <a:buNone/>
                      </a:pPr>
                      <a:r>
                        <a:rPr lang="en-IN" sz="1600"/>
                        <a:t>0.97</a:t>
                      </a:r>
                    </a:p>
                  </a:txBody>
                  <a:tcPr anchor="ctr"/>
                </a:tc>
                <a:tc>
                  <a:txBody>
                    <a:bodyPr/>
                    <a:lstStyle/>
                    <a:p>
                      <a:pPr algn="r">
                        <a:buNone/>
                      </a:pPr>
                      <a:r>
                        <a:rPr lang="en-IN" sz="1600"/>
                        <a:t>0.894</a:t>
                      </a:r>
                    </a:p>
                  </a:txBody>
                  <a:tcPr anchor="ctr"/>
                </a:tc>
                <a:extLst>
                  <a:ext uri="{0D108BD9-81ED-4DB2-BD59-A6C34878D82A}">
                    <a16:rowId xmlns:a16="http://schemas.microsoft.com/office/drawing/2014/main" val="10002"/>
                  </a:ext>
                </a:extLst>
              </a:tr>
              <a:tr h="304990">
                <a:tc>
                  <a:txBody>
                    <a:bodyPr/>
                    <a:lstStyle/>
                    <a:p>
                      <a:pPr>
                        <a:buNone/>
                      </a:pPr>
                      <a:r>
                        <a:rPr lang="en-IN" sz="1600"/>
                        <a:t>3</a:t>
                      </a:r>
                    </a:p>
                  </a:txBody>
                  <a:tcPr anchor="ctr"/>
                </a:tc>
                <a:tc>
                  <a:txBody>
                    <a:bodyPr/>
                    <a:lstStyle/>
                    <a:p>
                      <a:pPr>
                        <a:buNone/>
                      </a:pPr>
                      <a:r>
                        <a:rPr lang="en-IN" sz="1600"/>
                        <a:t>41–60</a:t>
                      </a:r>
                    </a:p>
                  </a:txBody>
                  <a:tcPr anchor="ctr"/>
                </a:tc>
                <a:tc>
                  <a:txBody>
                    <a:bodyPr/>
                    <a:lstStyle/>
                    <a:p>
                      <a:pPr algn="r">
                        <a:buNone/>
                      </a:pPr>
                      <a:r>
                        <a:rPr lang="en-IN" sz="1600"/>
                        <a:t>0.82</a:t>
                      </a:r>
                    </a:p>
                  </a:txBody>
                  <a:tcPr anchor="ctr"/>
                </a:tc>
                <a:tc>
                  <a:txBody>
                    <a:bodyPr/>
                    <a:lstStyle/>
                    <a:p>
                      <a:pPr algn="r">
                        <a:buNone/>
                      </a:pPr>
                      <a:r>
                        <a:rPr lang="en-IN" sz="1600"/>
                        <a:t>0.62</a:t>
                      </a:r>
                    </a:p>
                  </a:txBody>
                  <a:tcPr anchor="ctr"/>
                </a:tc>
                <a:tc>
                  <a:txBody>
                    <a:bodyPr/>
                    <a:lstStyle/>
                    <a:p>
                      <a:pPr algn="r">
                        <a:buNone/>
                      </a:pPr>
                      <a:r>
                        <a:rPr lang="en-IN" sz="1600"/>
                        <a:t>0.75</a:t>
                      </a:r>
                    </a:p>
                  </a:txBody>
                  <a:tcPr anchor="ctr"/>
                </a:tc>
                <a:tc>
                  <a:txBody>
                    <a:bodyPr/>
                    <a:lstStyle/>
                    <a:p>
                      <a:pPr algn="r">
                        <a:buNone/>
                      </a:pPr>
                      <a:r>
                        <a:rPr lang="en-IN" sz="1600"/>
                        <a:t>0.83</a:t>
                      </a:r>
                    </a:p>
                  </a:txBody>
                  <a:tcPr anchor="ctr"/>
                </a:tc>
                <a:tc>
                  <a:txBody>
                    <a:bodyPr/>
                    <a:lstStyle/>
                    <a:p>
                      <a:pPr algn="r">
                        <a:buNone/>
                      </a:pPr>
                      <a:r>
                        <a:rPr lang="en-IN" sz="1600"/>
                        <a:t>0.905</a:t>
                      </a:r>
                    </a:p>
                  </a:txBody>
                  <a:tcPr anchor="ctr"/>
                </a:tc>
                <a:extLst>
                  <a:ext uri="{0D108BD9-81ED-4DB2-BD59-A6C34878D82A}">
                    <a16:rowId xmlns:a16="http://schemas.microsoft.com/office/drawing/2014/main" val="10003"/>
                  </a:ext>
                </a:extLst>
              </a:tr>
              <a:tr h="304990">
                <a:tc>
                  <a:txBody>
                    <a:bodyPr/>
                    <a:lstStyle/>
                    <a:p>
                      <a:pPr>
                        <a:buNone/>
                      </a:pPr>
                      <a:r>
                        <a:rPr lang="en-IN" sz="1600"/>
                        <a:t>4</a:t>
                      </a:r>
                    </a:p>
                  </a:txBody>
                  <a:tcPr anchor="ctr"/>
                </a:tc>
                <a:tc>
                  <a:txBody>
                    <a:bodyPr/>
                    <a:lstStyle/>
                    <a:p>
                      <a:pPr>
                        <a:buNone/>
                      </a:pPr>
                      <a:r>
                        <a:rPr lang="en-IN" sz="1600"/>
                        <a:t>61–80</a:t>
                      </a:r>
                    </a:p>
                  </a:txBody>
                  <a:tcPr anchor="ctr"/>
                </a:tc>
                <a:tc>
                  <a:txBody>
                    <a:bodyPr/>
                    <a:lstStyle/>
                    <a:p>
                      <a:pPr algn="r">
                        <a:buNone/>
                      </a:pPr>
                      <a:r>
                        <a:rPr lang="en-IN" sz="1600"/>
                        <a:t>0.88</a:t>
                      </a:r>
                    </a:p>
                  </a:txBody>
                  <a:tcPr anchor="ctr"/>
                </a:tc>
                <a:tc>
                  <a:txBody>
                    <a:bodyPr/>
                    <a:lstStyle/>
                    <a:p>
                      <a:pPr algn="r">
                        <a:buNone/>
                      </a:pPr>
                      <a:r>
                        <a:rPr lang="en-IN" sz="1600"/>
                        <a:t>0.51</a:t>
                      </a:r>
                    </a:p>
                  </a:txBody>
                  <a:tcPr anchor="ctr"/>
                </a:tc>
                <a:tc>
                  <a:txBody>
                    <a:bodyPr/>
                    <a:lstStyle/>
                    <a:p>
                      <a:pPr algn="r">
                        <a:buNone/>
                      </a:pPr>
                      <a:r>
                        <a:rPr lang="en-IN" sz="1600"/>
                        <a:t>0.81</a:t>
                      </a:r>
                    </a:p>
                  </a:txBody>
                  <a:tcPr anchor="ctr"/>
                </a:tc>
                <a:tc>
                  <a:txBody>
                    <a:bodyPr/>
                    <a:lstStyle/>
                    <a:p>
                      <a:pPr algn="r">
                        <a:buNone/>
                      </a:pPr>
                      <a:r>
                        <a:rPr lang="en-IN" sz="1600" dirty="0"/>
                        <a:t>0.70</a:t>
                      </a:r>
                    </a:p>
                  </a:txBody>
                  <a:tcPr anchor="ctr"/>
                </a:tc>
                <a:tc>
                  <a:txBody>
                    <a:bodyPr/>
                    <a:lstStyle/>
                    <a:p>
                      <a:pPr algn="r">
                        <a:buNone/>
                      </a:pPr>
                      <a:r>
                        <a:rPr lang="en-IN" sz="1600"/>
                        <a:t>0.914</a:t>
                      </a:r>
                    </a:p>
                  </a:txBody>
                  <a:tcPr anchor="ctr"/>
                </a:tc>
                <a:extLst>
                  <a:ext uri="{0D108BD9-81ED-4DB2-BD59-A6C34878D82A}">
                    <a16:rowId xmlns:a16="http://schemas.microsoft.com/office/drawing/2014/main" val="10004"/>
                  </a:ext>
                </a:extLst>
              </a:tr>
              <a:tr h="304990">
                <a:tc>
                  <a:txBody>
                    <a:bodyPr/>
                    <a:lstStyle/>
                    <a:p>
                      <a:pPr>
                        <a:buNone/>
                      </a:pPr>
                      <a:r>
                        <a:rPr lang="en-IN" sz="1600"/>
                        <a:t>5</a:t>
                      </a:r>
                    </a:p>
                  </a:txBody>
                  <a:tcPr anchor="ctr"/>
                </a:tc>
                <a:tc>
                  <a:txBody>
                    <a:bodyPr/>
                    <a:lstStyle/>
                    <a:p>
                      <a:pPr>
                        <a:buNone/>
                      </a:pPr>
                      <a:r>
                        <a:rPr lang="en-IN" sz="1600"/>
                        <a:t>81–100</a:t>
                      </a:r>
                    </a:p>
                  </a:txBody>
                  <a:tcPr anchor="ctr"/>
                </a:tc>
                <a:tc>
                  <a:txBody>
                    <a:bodyPr/>
                    <a:lstStyle/>
                    <a:p>
                      <a:pPr algn="r">
                        <a:buNone/>
                      </a:pPr>
                      <a:r>
                        <a:rPr lang="en-IN" sz="1600"/>
                        <a:t>0.92</a:t>
                      </a:r>
                    </a:p>
                  </a:txBody>
                  <a:tcPr anchor="ctr"/>
                </a:tc>
                <a:tc>
                  <a:txBody>
                    <a:bodyPr/>
                    <a:lstStyle/>
                    <a:p>
                      <a:pPr algn="r">
                        <a:buNone/>
                      </a:pPr>
                      <a:r>
                        <a:rPr lang="en-IN" sz="1600"/>
                        <a:t>0.42</a:t>
                      </a:r>
                    </a:p>
                  </a:txBody>
                  <a:tcPr anchor="ctr"/>
                </a:tc>
                <a:tc>
                  <a:txBody>
                    <a:bodyPr/>
                    <a:lstStyle/>
                    <a:p>
                      <a:pPr algn="r">
                        <a:buNone/>
                      </a:pPr>
                      <a:r>
                        <a:rPr lang="en-IN" sz="1600"/>
                        <a:t>0.86</a:t>
                      </a:r>
                    </a:p>
                  </a:txBody>
                  <a:tcPr anchor="ctr"/>
                </a:tc>
                <a:tc>
                  <a:txBody>
                    <a:bodyPr/>
                    <a:lstStyle/>
                    <a:p>
                      <a:pPr algn="r">
                        <a:buNone/>
                      </a:pPr>
                      <a:r>
                        <a:rPr lang="en-IN" sz="1600"/>
                        <a:t>0.60</a:t>
                      </a:r>
                    </a:p>
                  </a:txBody>
                  <a:tcPr anchor="ctr"/>
                </a:tc>
                <a:tc>
                  <a:txBody>
                    <a:bodyPr/>
                    <a:lstStyle/>
                    <a:p>
                      <a:pPr algn="r">
                        <a:buNone/>
                      </a:pPr>
                      <a:r>
                        <a:rPr lang="en-IN" sz="1600" dirty="0"/>
                        <a:t>0.920</a:t>
                      </a:r>
                    </a:p>
                  </a:txBody>
                  <a:tcPr anchor="ctr"/>
                </a:tc>
                <a:extLst>
                  <a:ext uri="{0D108BD9-81ED-4DB2-BD59-A6C34878D82A}">
                    <a16:rowId xmlns:a16="http://schemas.microsoft.com/office/drawing/2014/main" val="10005"/>
                  </a:ext>
                </a:extLst>
              </a:tr>
            </a:tbl>
          </a:graphicData>
        </a:graphic>
      </p:graphicFrame>
      <p:sp>
        <p:nvSpPr>
          <p:cNvPr id="14" name="TextBox 13">
            <a:extLst>
              <a:ext uri="{FF2B5EF4-FFF2-40B4-BE49-F238E27FC236}">
                <a16:creationId xmlns:a16="http://schemas.microsoft.com/office/drawing/2014/main" id="{CD49AA55-7C31-F131-C3C1-6E87F1F05B90}"/>
              </a:ext>
            </a:extLst>
          </p:cNvPr>
          <p:cNvSpPr txBox="1"/>
          <p:nvPr/>
        </p:nvSpPr>
        <p:spPr>
          <a:xfrm>
            <a:off x="8716962" y="4569880"/>
            <a:ext cx="2628900" cy="600164"/>
          </a:xfrm>
          <a:prstGeom prst="rect">
            <a:avLst/>
          </a:prstGeom>
          <a:noFill/>
        </p:spPr>
        <p:txBody>
          <a:bodyPr wrap="square">
            <a:spAutoFit/>
          </a:bodyPr>
          <a:lstStyle/>
          <a:p>
            <a:pPr>
              <a:defRPr/>
            </a:pPr>
            <a:r>
              <a:rPr lang="en-GB" sz="1100" dirty="0">
                <a:latin typeface="+mj-lt"/>
              </a:rPr>
              <a:t>Precision: 0.64 (at low-FPR threshold)</a:t>
            </a:r>
          </a:p>
          <a:p>
            <a:pPr>
              <a:defRPr/>
            </a:pPr>
            <a:r>
              <a:rPr lang="en-GB" sz="1100" dirty="0">
                <a:latin typeface="+mj-lt"/>
              </a:rPr>
              <a:t>Recall: 0.03</a:t>
            </a:r>
          </a:p>
          <a:p>
            <a:pPr>
              <a:defRPr/>
            </a:pPr>
            <a:r>
              <a:rPr lang="en-GB" sz="1100" dirty="0">
                <a:latin typeface="+mj-lt"/>
              </a:rPr>
              <a:t>F1 Score: 0.06</a:t>
            </a:r>
          </a:p>
        </p:txBody>
      </p:sp>
      <p:sp>
        <p:nvSpPr>
          <p:cNvPr id="2" name="TextBox 1">
            <a:extLst>
              <a:ext uri="{FF2B5EF4-FFF2-40B4-BE49-F238E27FC236}">
                <a16:creationId xmlns:a16="http://schemas.microsoft.com/office/drawing/2014/main" id="{84C2DEC7-F2DA-B002-22E5-42DD52E8F816}"/>
              </a:ext>
            </a:extLst>
          </p:cNvPr>
          <p:cNvSpPr txBox="1"/>
          <p:nvPr/>
        </p:nvSpPr>
        <p:spPr>
          <a:xfrm>
            <a:off x="375603" y="373784"/>
            <a:ext cx="4544129" cy="400110"/>
          </a:xfrm>
          <a:prstGeom prst="rect">
            <a:avLst/>
          </a:prstGeom>
          <a:noFill/>
        </p:spPr>
        <p:txBody>
          <a:bodyPr wrap="none" rtlCol="0">
            <a:spAutoFit/>
          </a:bodyPr>
          <a:lstStyle/>
          <a:p>
            <a:r>
              <a:rPr lang="en-GB" sz="2000" dirty="0"/>
              <a:t>Training Progress and Model Performance</a:t>
            </a:r>
            <a:endParaRPr lang="en-US" sz="2000" b="1" dirty="0"/>
          </a:p>
        </p:txBody>
      </p:sp>
      <p:sp>
        <p:nvSpPr>
          <p:cNvPr id="9" name="TextBox 8">
            <a:extLst>
              <a:ext uri="{FF2B5EF4-FFF2-40B4-BE49-F238E27FC236}">
                <a16:creationId xmlns:a16="http://schemas.microsoft.com/office/drawing/2014/main" id="{8F61D501-FD7E-966C-116D-D8CF3B980434}"/>
              </a:ext>
            </a:extLst>
          </p:cNvPr>
          <p:cNvSpPr txBox="1"/>
          <p:nvPr/>
        </p:nvSpPr>
        <p:spPr>
          <a:xfrm>
            <a:off x="375603" y="1674674"/>
            <a:ext cx="3972560" cy="1754326"/>
          </a:xfrm>
          <a:prstGeom prst="rect">
            <a:avLst/>
          </a:prstGeom>
          <a:noFill/>
        </p:spPr>
        <p:txBody>
          <a:bodyPr wrap="square">
            <a:spAutoFit/>
          </a:bodyPr>
          <a:lstStyle/>
          <a:p>
            <a:pPr marL="285750" indent="-285750">
              <a:buFont typeface="Arial" panose="020B0604020202020204" pitchFamily="34" charset="0"/>
              <a:buChar char="•"/>
            </a:pPr>
            <a:r>
              <a:rPr lang="en-IN" dirty="0"/>
              <a:t>Optimizer - Adam</a:t>
            </a:r>
          </a:p>
          <a:p>
            <a:pPr marL="285750" indent="-285750">
              <a:buFont typeface="Arial" panose="020B0604020202020204" pitchFamily="34" charset="0"/>
              <a:buChar char="•"/>
            </a:pPr>
            <a:r>
              <a:rPr lang="en-IN" dirty="0"/>
              <a:t>Activation - Sigmoid</a:t>
            </a:r>
          </a:p>
          <a:p>
            <a:pPr marL="285750" indent="-285750">
              <a:buFont typeface="Arial" panose="020B0604020202020204" pitchFamily="34" charset="0"/>
              <a:buChar char="•"/>
            </a:pPr>
            <a:r>
              <a:rPr lang="en-IN" dirty="0"/>
              <a:t>Loss Function - Binary Cross Entropy</a:t>
            </a:r>
          </a:p>
          <a:p>
            <a:pPr marL="285750" indent="-285750">
              <a:buFont typeface="Arial" panose="020B0604020202020204" pitchFamily="34" charset="0"/>
              <a:buChar char="•"/>
            </a:pPr>
            <a:r>
              <a:rPr lang="en-IN" dirty="0"/>
              <a:t>Epochs - 100</a:t>
            </a:r>
          </a:p>
          <a:p>
            <a:pPr marL="285750" indent="-285750">
              <a:buFont typeface="Arial" panose="020B0604020202020204" pitchFamily="34" charset="0"/>
              <a:buChar char="•"/>
            </a:pPr>
            <a:r>
              <a:rPr lang="en-IN" dirty="0"/>
              <a:t>Regularization - Dropout(0.3), Early Stopping(patience=7)</a:t>
            </a:r>
          </a:p>
        </p:txBody>
      </p:sp>
      <p:pic>
        <p:nvPicPr>
          <p:cNvPr id="11" name="Picture 10">
            <a:extLst>
              <a:ext uri="{FF2B5EF4-FFF2-40B4-BE49-F238E27FC236}">
                <a16:creationId xmlns:a16="http://schemas.microsoft.com/office/drawing/2014/main" id="{F69EFE7E-8329-06E7-729F-E323F12F6F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4050" y="3794701"/>
            <a:ext cx="3315713" cy="2150522"/>
          </a:xfrm>
          <a:prstGeom prst="rect">
            <a:avLst/>
          </a:prstGeom>
        </p:spPr>
      </p:pic>
      <p:pic>
        <p:nvPicPr>
          <p:cNvPr id="13" name="Picture 12">
            <a:extLst>
              <a:ext uri="{FF2B5EF4-FFF2-40B4-BE49-F238E27FC236}">
                <a16:creationId xmlns:a16="http://schemas.microsoft.com/office/drawing/2014/main" id="{47502918-4389-3A99-7558-7256ED31D1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73752" y="3718200"/>
            <a:ext cx="3551616" cy="230352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5B821-12D6-8267-15BF-4EEACD6E2EFF}"/>
              </a:ext>
            </a:extLst>
          </p:cNvPr>
          <p:cNvSpPr>
            <a:spLocks noGrp="1"/>
          </p:cNvSpPr>
          <p:nvPr>
            <p:ph type="title"/>
          </p:nvPr>
        </p:nvSpPr>
        <p:spPr>
          <a:xfrm>
            <a:off x="320040" y="365127"/>
            <a:ext cx="10515600" cy="674459"/>
          </a:xfrm>
        </p:spPr>
        <p:txBody>
          <a:bodyPr>
            <a:normAutofit/>
          </a:bodyPr>
          <a:lstStyle/>
          <a:p>
            <a:r>
              <a:rPr lang="en-US" sz="3600" b="1" dirty="0">
                <a:solidFill>
                  <a:srgbClr val="CC0066"/>
                </a:solidFill>
                <a:latin typeface="Times New Roman" panose="02020603050405020304" pitchFamily="18" charset="0"/>
                <a:cs typeface="Times New Roman" panose="02020603050405020304" pitchFamily="18" charset="0"/>
              </a:rPr>
              <a:t>Conclusion and Future Enhancement</a:t>
            </a:r>
            <a:endParaRPr lang="en-US" sz="3600" dirty="0"/>
          </a:p>
        </p:txBody>
      </p:sp>
      <p:sp>
        <p:nvSpPr>
          <p:cNvPr id="3" name="Content Placeholder 2">
            <a:extLst>
              <a:ext uri="{FF2B5EF4-FFF2-40B4-BE49-F238E27FC236}">
                <a16:creationId xmlns:a16="http://schemas.microsoft.com/office/drawing/2014/main" id="{6D1CF384-BD8B-2F40-7DCC-9B0C84DEECC3}"/>
              </a:ext>
            </a:extLst>
          </p:cNvPr>
          <p:cNvSpPr>
            <a:spLocks noGrp="1"/>
          </p:cNvSpPr>
          <p:nvPr>
            <p:ph idx="1"/>
          </p:nvPr>
        </p:nvSpPr>
        <p:spPr>
          <a:xfrm>
            <a:off x="624476" y="1307193"/>
            <a:ext cx="11211923" cy="4362087"/>
          </a:xfrm>
        </p:spPr>
        <p:txBody>
          <a:bodyPr>
            <a:noAutofit/>
          </a:bodyPr>
          <a:lstStyle/>
          <a:p>
            <a:pPr marL="0" indent="0">
              <a:buNone/>
            </a:pPr>
            <a:r>
              <a:rPr lang="en-IN" sz="1600" b="1" dirty="0"/>
              <a:t>Conclusion</a:t>
            </a:r>
            <a:endParaRPr lang="en-IN" sz="1600" dirty="0"/>
          </a:p>
          <a:p>
            <a:r>
              <a:rPr lang="en-IN" sz="1600" dirty="0"/>
              <a:t>Built a privacy-preserving, verifiable e-voting flow using blind signatures, homomorphic </a:t>
            </a:r>
            <a:r>
              <a:rPr lang="en-IN" sz="1600" dirty="0" err="1"/>
              <a:t>signcryption</a:t>
            </a:r>
            <a:r>
              <a:rPr lang="en-IN" sz="1600" dirty="0"/>
              <a:t>, and threshold decryption on blockchain.</a:t>
            </a:r>
          </a:p>
          <a:p>
            <a:r>
              <a:rPr lang="en-IN" sz="1600" dirty="0"/>
              <a:t>Deployed pipeline on Fabric / Ethereum (</a:t>
            </a:r>
            <a:r>
              <a:rPr lang="en-IN" sz="1600" dirty="0" err="1"/>
              <a:t>testnet</a:t>
            </a:r>
            <a:r>
              <a:rPr lang="en-IN" sz="1600" dirty="0"/>
              <a:t>); immutable audit trail ensures integrity &amp; transparency.</a:t>
            </a:r>
          </a:p>
          <a:p>
            <a:r>
              <a:rPr lang="en-IN" sz="1600" dirty="0"/>
              <a:t>Hybrid screening (RF pre-filter → CNN–</a:t>
            </a:r>
            <a:r>
              <a:rPr lang="en-IN" sz="1600" dirty="0" err="1"/>
              <a:t>BiLSTM</a:t>
            </a:r>
            <a:r>
              <a:rPr lang="en-IN" sz="1600" dirty="0"/>
              <a:t> verifier) meets the goal of low FPR while keeping real-time inference.</a:t>
            </a:r>
          </a:p>
          <a:p>
            <a:r>
              <a:rPr lang="en-IN" sz="1600" dirty="0"/>
              <a:t>XAI (SHAP/IG) provides auditor-friendly reasons for each flagged ballot.</a:t>
            </a:r>
          </a:p>
          <a:p>
            <a:pPr marL="0" indent="0">
              <a:buNone/>
            </a:pPr>
            <a:r>
              <a:rPr lang="en-IN" sz="1600" b="1" dirty="0"/>
              <a:t>Future Enhancements</a:t>
            </a:r>
            <a:endParaRPr lang="en-IN" sz="1600" dirty="0"/>
          </a:p>
          <a:p>
            <a:r>
              <a:rPr lang="en-IN" sz="1600" dirty="0"/>
              <a:t>Richer features &amp; sequences: add inter-arrival time deltas, block-height gaps, and credential entropy to improve AUROC.</a:t>
            </a:r>
          </a:p>
          <a:p>
            <a:r>
              <a:rPr lang="en-IN" sz="1600" dirty="0"/>
              <a:t>Scalability: batch submissions, rollups/sidechains, and caching to cut gas/latency further.</a:t>
            </a:r>
          </a:p>
          <a:p>
            <a:r>
              <a:rPr lang="en-IN" sz="1600" dirty="0"/>
              <a:t>Security hardening: formal verification of smart contracts; stronger ZK proofs for end-to-end verifiability.</a:t>
            </a:r>
          </a:p>
          <a:p>
            <a:r>
              <a:rPr lang="en-IN" sz="1600" dirty="0"/>
              <a:t>Data realism: expand from synthetic to mixed real-world logs; adversarial simulations (replay/Sybil) for stress testing.</a:t>
            </a:r>
          </a:p>
          <a:p>
            <a:r>
              <a:rPr lang="en-IN" sz="1600" dirty="0"/>
              <a:t>Operations: dashboard for live SHAP explanations and threshold tuning (FPR target ≤ 2%).</a:t>
            </a:r>
          </a:p>
        </p:txBody>
      </p:sp>
    </p:spTree>
    <p:extLst>
      <p:ext uri="{BB962C8B-B14F-4D97-AF65-F5344CB8AC3E}">
        <p14:creationId xmlns:p14="http://schemas.microsoft.com/office/powerpoint/2010/main" val="2877827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E41E1-B7DC-4655-9930-9204B2637D61}"/>
              </a:ext>
            </a:extLst>
          </p:cNvPr>
          <p:cNvSpPr>
            <a:spLocks noGrp="1"/>
          </p:cNvSpPr>
          <p:nvPr>
            <p:ph type="title"/>
          </p:nvPr>
        </p:nvSpPr>
        <p:spPr>
          <a:xfrm>
            <a:off x="538843" y="370570"/>
            <a:ext cx="10515600" cy="516616"/>
          </a:xfrm>
        </p:spPr>
        <p:txBody>
          <a:bodyPr>
            <a:normAutofit fontScale="90000"/>
          </a:bodyPr>
          <a:lstStyle/>
          <a:p>
            <a:r>
              <a:rPr lang="en-US" sz="3600" b="1">
                <a:solidFill>
                  <a:srgbClr val="CC0066"/>
                </a:solidFill>
                <a:latin typeface="Times New Roman" panose="02020603050405020304" pitchFamily="18" charset="0"/>
                <a:cs typeface="Times New Roman" panose="02020603050405020304" pitchFamily="18" charset="0"/>
              </a:rPr>
              <a:t>References</a:t>
            </a:r>
            <a:endParaRPr lang="en-US" sz="3600"/>
          </a:p>
        </p:txBody>
      </p:sp>
      <p:sp>
        <p:nvSpPr>
          <p:cNvPr id="3" name="Content Placeholder 2">
            <a:extLst>
              <a:ext uri="{FF2B5EF4-FFF2-40B4-BE49-F238E27FC236}">
                <a16:creationId xmlns:a16="http://schemas.microsoft.com/office/drawing/2014/main" id="{60A384AE-F4B2-B6AB-72D0-4DF68C4541E1}"/>
              </a:ext>
            </a:extLst>
          </p:cNvPr>
          <p:cNvSpPr>
            <a:spLocks noGrp="1"/>
          </p:cNvSpPr>
          <p:nvPr>
            <p:ph idx="1"/>
          </p:nvPr>
        </p:nvSpPr>
        <p:spPr>
          <a:xfrm>
            <a:off x="604158" y="1128939"/>
            <a:ext cx="10515600" cy="4591142"/>
          </a:xfrm>
        </p:spPr>
        <p:txBody>
          <a:bodyPr>
            <a:noAutofit/>
          </a:bodyPr>
          <a:lstStyle/>
          <a:p>
            <a:pPr marL="342900" indent="-342900">
              <a:buFont typeface="+mj-lt"/>
              <a:buAutoNum type="arabicPeriod"/>
            </a:pPr>
            <a:r>
              <a:rPr lang="en-US" sz="1600" dirty="0">
                <a:latin typeface="+mn-lt"/>
                <a:cs typeface="Times New Roman" panose="02020603050405020304" pitchFamily="18" charset="0"/>
              </a:rPr>
              <a:t>X. Fan, T. Wu, Q. Zheng, Y. Chen, M. Alam, and X. Xiao, “HSE-Voting: A secure high-efficiency electronic voting scheme based on homomorphic </a:t>
            </a:r>
            <a:r>
              <a:rPr lang="en-US" sz="1600" dirty="0" err="1">
                <a:latin typeface="+mn-lt"/>
                <a:cs typeface="Times New Roman" panose="02020603050405020304" pitchFamily="18" charset="0"/>
              </a:rPr>
              <a:t>signcryption</a:t>
            </a:r>
            <a:r>
              <a:rPr lang="en-US" sz="1600" dirty="0">
                <a:latin typeface="+mn-lt"/>
                <a:cs typeface="Times New Roman" panose="02020603050405020304" pitchFamily="18" charset="0"/>
              </a:rPr>
              <a:t>,” Future Generation Computer Systems, vol. 111, pp. 754–762, 2020.</a:t>
            </a:r>
          </a:p>
          <a:p>
            <a:pPr marL="342900" indent="-342900">
              <a:buFont typeface="+mj-lt"/>
              <a:buAutoNum type="arabicPeriod"/>
            </a:pPr>
            <a:r>
              <a:rPr lang="en-US" sz="1600" dirty="0">
                <a:latin typeface="+mn-lt"/>
                <a:cs typeface="Times New Roman" panose="02020603050405020304" pitchFamily="18" charset="0"/>
              </a:rPr>
              <a:t>Y. Wang, J. Li, Z. Du, and B. Guo, “An efficient and versatile e-voting scheme on blockchain,” Cybersecurity, vol. 7, no. 62, 2024.</a:t>
            </a:r>
          </a:p>
          <a:p>
            <a:pPr marL="342900" indent="-342900">
              <a:buFont typeface="+mj-lt"/>
              <a:buAutoNum type="arabicPeriod"/>
            </a:pPr>
            <a:r>
              <a:rPr lang="en-US" sz="1600" dirty="0">
                <a:latin typeface="+mn-lt"/>
                <a:cs typeface="Times New Roman" panose="02020603050405020304" pitchFamily="18" charset="0"/>
              </a:rPr>
              <a:t>D. </a:t>
            </a:r>
            <a:r>
              <a:rPr lang="en-US" sz="1600" dirty="0" err="1">
                <a:latin typeface="+mn-lt"/>
                <a:cs typeface="Times New Roman" panose="02020603050405020304" pitchFamily="18" charset="0"/>
              </a:rPr>
              <a:t>Chaum</a:t>
            </a:r>
            <a:r>
              <a:rPr lang="en-US" sz="1600" dirty="0">
                <a:latin typeface="+mn-lt"/>
                <a:cs typeface="Times New Roman" panose="02020603050405020304" pitchFamily="18" charset="0"/>
              </a:rPr>
              <a:t>, “Blind Signatures for Untraceable Payments,” in Advances in Cryptology, 1983.</a:t>
            </a:r>
          </a:p>
          <a:p>
            <a:pPr marL="342900" indent="-342900">
              <a:buFont typeface="+mj-lt"/>
              <a:buAutoNum type="arabicPeriod"/>
            </a:pPr>
            <a:r>
              <a:rPr lang="en-US" sz="1600" dirty="0">
                <a:latin typeface="+mn-lt"/>
                <a:cs typeface="Times New Roman" panose="02020603050405020304" pitchFamily="18" charset="0"/>
              </a:rPr>
              <a:t>S. Nakamoto, “Bitcoin: A Peer-to-Peer Electronic Cash System,” 2008. Available: https://bitcoin.org/bitcoin.pdf</a:t>
            </a:r>
          </a:p>
          <a:p>
            <a:pPr marL="342900" indent="-342900">
              <a:buFont typeface="+mj-lt"/>
              <a:buAutoNum type="arabicPeriod"/>
            </a:pPr>
            <a:r>
              <a:rPr lang="en-US" sz="1600" dirty="0">
                <a:latin typeface="+mn-lt"/>
                <a:cs typeface="Times New Roman" panose="02020603050405020304" pitchFamily="18" charset="0"/>
              </a:rPr>
              <a:t>A. </a:t>
            </a:r>
            <a:r>
              <a:rPr lang="en-US" sz="1600" dirty="0" err="1">
                <a:latin typeface="+mn-lt"/>
                <a:cs typeface="Times New Roman" panose="02020603050405020304" pitchFamily="18" charset="0"/>
              </a:rPr>
              <a:t>Kiayias</a:t>
            </a:r>
            <a:r>
              <a:rPr lang="en-US" sz="1600" dirty="0">
                <a:latin typeface="+mn-lt"/>
                <a:cs typeface="Times New Roman" panose="02020603050405020304" pitchFamily="18" charset="0"/>
              </a:rPr>
              <a:t>, T. Zacharias, and M. </a:t>
            </a:r>
            <a:r>
              <a:rPr lang="en-US" sz="1600" dirty="0" err="1">
                <a:latin typeface="+mn-lt"/>
                <a:cs typeface="Times New Roman" panose="02020603050405020304" pitchFamily="18" charset="0"/>
              </a:rPr>
              <a:t>Zindros</a:t>
            </a:r>
            <a:r>
              <a:rPr lang="en-US" sz="1600" dirty="0">
                <a:latin typeface="+mn-lt"/>
                <a:cs typeface="Times New Roman" panose="02020603050405020304" pitchFamily="18" charset="0"/>
              </a:rPr>
              <a:t>, “Better security for blind signatures,” in Public Key Cryptography (PKC), LNCS 10175, pp. 455–485, 2017.</a:t>
            </a:r>
          </a:p>
          <a:p>
            <a:pPr marL="342900" indent="-342900">
              <a:buFont typeface="+mj-lt"/>
              <a:buAutoNum type="arabicPeriod"/>
            </a:pPr>
            <a:r>
              <a:rPr lang="en-US" sz="1600" dirty="0">
                <a:latin typeface="+mn-lt"/>
                <a:cs typeface="Times New Roman" panose="02020603050405020304" pitchFamily="18" charset="0"/>
              </a:rPr>
              <a:t>F. Hao, R. Anderson, and J. Clark, “Verifiable Electronic Voting,” Electronic Notes in Theoretical Computer Science, vol. 151, no. 1, pp. 53–67, 2006.</a:t>
            </a:r>
          </a:p>
          <a:p>
            <a:pPr marL="342900" indent="-342900">
              <a:buFont typeface="+mj-lt"/>
              <a:buAutoNum type="arabicPeriod"/>
            </a:pPr>
            <a:r>
              <a:rPr lang="en-US" sz="1600" dirty="0">
                <a:latin typeface="+mn-lt"/>
                <a:cs typeface="Times New Roman" panose="02020603050405020304" pitchFamily="18" charset="0"/>
              </a:rPr>
              <a:t>J. </a:t>
            </a:r>
            <a:r>
              <a:rPr lang="en-US" sz="1600" dirty="0" err="1">
                <a:latin typeface="+mn-lt"/>
                <a:cs typeface="Times New Roman" panose="02020603050405020304" pitchFamily="18" charset="0"/>
              </a:rPr>
              <a:t>Benaloh</a:t>
            </a:r>
            <a:r>
              <a:rPr lang="en-US" sz="1600" dirty="0">
                <a:latin typeface="+mn-lt"/>
                <a:cs typeface="Times New Roman" panose="02020603050405020304" pitchFamily="18" charset="0"/>
              </a:rPr>
              <a:t>, “Verifiable Secret-Ballot Elections,” Ph.D. dissertation, Yale Univ., 1987.</a:t>
            </a:r>
          </a:p>
          <a:p>
            <a:pPr marL="342900" indent="-342900">
              <a:buFont typeface="+mj-lt"/>
              <a:buAutoNum type="arabicPeriod"/>
            </a:pPr>
            <a:r>
              <a:rPr lang="en-US" sz="1600" dirty="0">
                <a:latin typeface="+mn-lt"/>
                <a:cs typeface="Times New Roman" panose="02020603050405020304" pitchFamily="18" charset="0"/>
              </a:rPr>
              <a:t>C. D. Neff, “A Verifiable Secret Shuffle and Its Application to E-Voting,” in Proc. ACM CCS, pp. 116–125, 2001.</a:t>
            </a:r>
          </a:p>
          <a:p>
            <a:pPr marL="342900" indent="-342900">
              <a:buFont typeface="+mj-lt"/>
              <a:buAutoNum type="arabicPeriod"/>
            </a:pPr>
            <a:r>
              <a:rPr lang="en-US" sz="1600" dirty="0">
                <a:latin typeface="+mn-lt"/>
                <a:cs typeface="Times New Roman" panose="02020603050405020304" pitchFamily="18" charset="0"/>
              </a:rPr>
              <a:t>D. </a:t>
            </a:r>
            <a:r>
              <a:rPr lang="en-US" sz="1600" dirty="0" err="1">
                <a:latin typeface="+mn-lt"/>
                <a:cs typeface="Times New Roman" panose="02020603050405020304" pitchFamily="18" charset="0"/>
              </a:rPr>
              <a:t>Boneh</a:t>
            </a:r>
            <a:r>
              <a:rPr lang="en-US" sz="1600" dirty="0">
                <a:latin typeface="+mn-lt"/>
                <a:cs typeface="Times New Roman" panose="02020603050405020304" pitchFamily="18" charset="0"/>
              </a:rPr>
              <a:t>, B. Lynn, and H. </a:t>
            </a:r>
            <a:r>
              <a:rPr lang="en-US" sz="1600" dirty="0" err="1">
                <a:latin typeface="+mn-lt"/>
                <a:cs typeface="Times New Roman" panose="02020603050405020304" pitchFamily="18" charset="0"/>
              </a:rPr>
              <a:t>Shacham</a:t>
            </a:r>
            <a:r>
              <a:rPr lang="en-US" sz="1600" dirty="0">
                <a:latin typeface="+mn-lt"/>
                <a:cs typeface="Times New Roman" panose="02020603050405020304" pitchFamily="18" charset="0"/>
              </a:rPr>
              <a:t>, “Short signatures from the Weil pairing,” in ASIACRYPT, pp. 514–532, 2001.</a:t>
            </a:r>
          </a:p>
          <a:p>
            <a:pPr marL="342900" indent="-342900">
              <a:buFont typeface="+mj-lt"/>
              <a:buAutoNum type="arabicPeriod"/>
            </a:pPr>
            <a:r>
              <a:rPr lang="en-US" sz="1600" dirty="0">
                <a:latin typeface="+mn-lt"/>
                <a:cs typeface="Times New Roman" panose="02020603050405020304" pitchFamily="18" charset="0"/>
              </a:rPr>
              <a:t>Y. Wang, Z. Du, J. Li, and B. Guo, “Blockchain Voting Dataset,” Kaggle Open Data Repository, 2023. Available: https://www.kaggle.com/datasets/ardodev/blockchain-voting-transactions-jurnal</a:t>
            </a:r>
          </a:p>
          <a:p>
            <a:pPr marL="0" indent="0">
              <a:buNone/>
            </a:pPr>
            <a:endParaRPr lang="en-US" sz="1400" dirty="0">
              <a:latin typeface="+mn-lt"/>
              <a:cs typeface="Times New Roman" panose="02020603050405020304" pitchFamily="18" charset="0"/>
            </a:endParaRPr>
          </a:p>
        </p:txBody>
      </p:sp>
    </p:spTree>
    <p:extLst>
      <p:ext uri="{BB962C8B-B14F-4D97-AF65-F5344CB8AC3E}">
        <p14:creationId xmlns:p14="http://schemas.microsoft.com/office/powerpoint/2010/main" val="24277941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7E01AA-72CB-3846-C82F-06DB8900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200" y="111760"/>
            <a:ext cx="10261600" cy="5984760"/>
          </a:xfrm>
          <a:prstGeom prst="rect">
            <a:avLst/>
          </a:prstGeom>
        </p:spPr>
      </p:pic>
    </p:spTree>
    <p:extLst>
      <p:ext uri="{BB962C8B-B14F-4D97-AF65-F5344CB8AC3E}">
        <p14:creationId xmlns:p14="http://schemas.microsoft.com/office/powerpoint/2010/main" val="453820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DD501-763A-1636-F5FE-DBC922E15E10}"/>
              </a:ext>
            </a:extLst>
          </p:cNvPr>
          <p:cNvSpPr>
            <a:spLocks noGrp="1"/>
          </p:cNvSpPr>
          <p:nvPr>
            <p:ph type="title"/>
          </p:nvPr>
        </p:nvSpPr>
        <p:spPr>
          <a:xfrm>
            <a:off x="114409" y="148103"/>
            <a:ext cx="11635631" cy="952044"/>
          </a:xfrm>
        </p:spPr>
        <p:txBody>
          <a:bodyPr>
            <a:normAutofit/>
          </a:bodyPr>
          <a:lstStyle/>
          <a:p>
            <a:r>
              <a:rPr lang="en-US" sz="2400" b="1" dirty="0">
                <a:solidFill>
                  <a:srgbClr val="CC0066"/>
                </a:solidFill>
                <a:latin typeface="Times New Roman" panose="02020603050405020304" pitchFamily="18" charset="0"/>
                <a:cs typeface="Times New Roman" panose="02020603050405020304" pitchFamily="18" charset="0"/>
              </a:rPr>
              <a:t>Identified metrics of the journal/Conference for all references considered</a:t>
            </a:r>
          </a:p>
        </p:txBody>
      </p:sp>
      <p:graphicFrame>
        <p:nvGraphicFramePr>
          <p:cNvPr id="4" name="Content Placeholder 3">
            <a:extLst>
              <a:ext uri="{FF2B5EF4-FFF2-40B4-BE49-F238E27FC236}">
                <a16:creationId xmlns:a16="http://schemas.microsoft.com/office/drawing/2014/main" id="{C6C4854D-B8C7-BD99-FA5E-EC4F8427E17F}"/>
              </a:ext>
            </a:extLst>
          </p:cNvPr>
          <p:cNvGraphicFramePr>
            <a:graphicFrameLocks noGrp="1"/>
          </p:cNvGraphicFramePr>
          <p:nvPr>
            <p:ph idx="1"/>
            <p:extLst>
              <p:ext uri="{D42A27DB-BD31-4B8C-83A1-F6EECF244321}">
                <p14:modId xmlns:p14="http://schemas.microsoft.com/office/powerpoint/2010/main" val="2685001241"/>
              </p:ext>
            </p:extLst>
          </p:nvPr>
        </p:nvGraphicFramePr>
        <p:xfrm>
          <a:off x="579120" y="1298267"/>
          <a:ext cx="11308081" cy="4724400"/>
        </p:xfrm>
        <a:graphic>
          <a:graphicData uri="http://schemas.openxmlformats.org/drawingml/2006/table">
            <a:tbl>
              <a:tblPr firstRow="1" bandRow="1">
                <a:tableStyleId>{5C22544A-7EE6-4342-B048-85BDC9FD1C3A}</a:tableStyleId>
              </a:tblPr>
              <a:tblGrid>
                <a:gridCol w="619835">
                  <a:extLst>
                    <a:ext uri="{9D8B030D-6E8A-4147-A177-3AD203B41FA5}">
                      <a16:colId xmlns:a16="http://schemas.microsoft.com/office/drawing/2014/main" val="1257105993"/>
                    </a:ext>
                  </a:extLst>
                </a:gridCol>
                <a:gridCol w="1447359">
                  <a:extLst>
                    <a:ext uri="{9D8B030D-6E8A-4147-A177-3AD203B41FA5}">
                      <a16:colId xmlns:a16="http://schemas.microsoft.com/office/drawing/2014/main" val="3619364728"/>
                    </a:ext>
                  </a:extLst>
                </a:gridCol>
                <a:gridCol w="1033598">
                  <a:extLst>
                    <a:ext uri="{9D8B030D-6E8A-4147-A177-3AD203B41FA5}">
                      <a16:colId xmlns:a16="http://schemas.microsoft.com/office/drawing/2014/main" val="3029057927"/>
                    </a:ext>
                  </a:extLst>
                </a:gridCol>
                <a:gridCol w="1033598">
                  <a:extLst>
                    <a:ext uri="{9D8B030D-6E8A-4147-A177-3AD203B41FA5}">
                      <a16:colId xmlns:a16="http://schemas.microsoft.com/office/drawing/2014/main" val="1884174872"/>
                    </a:ext>
                  </a:extLst>
                </a:gridCol>
                <a:gridCol w="1639022">
                  <a:extLst>
                    <a:ext uri="{9D8B030D-6E8A-4147-A177-3AD203B41FA5}">
                      <a16:colId xmlns:a16="http://schemas.microsoft.com/office/drawing/2014/main" val="198269188"/>
                    </a:ext>
                  </a:extLst>
                </a:gridCol>
                <a:gridCol w="1032118">
                  <a:extLst>
                    <a:ext uri="{9D8B030D-6E8A-4147-A177-3AD203B41FA5}">
                      <a16:colId xmlns:a16="http://schemas.microsoft.com/office/drawing/2014/main" val="3209819169"/>
                    </a:ext>
                  </a:extLst>
                </a:gridCol>
                <a:gridCol w="997959">
                  <a:extLst>
                    <a:ext uri="{9D8B030D-6E8A-4147-A177-3AD203B41FA5}">
                      <a16:colId xmlns:a16="http://schemas.microsoft.com/office/drawing/2014/main" val="2697115156"/>
                    </a:ext>
                  </a:extLst>
                </a:gridCol>
                <a:gridCol w="1233589">
                  <a:extLst>
                    <a:ext uri="{9D8B030D-6E8A-4147-A177-3AD203B41FA5}">
                      <a16:colId xmlns:a16="http://schemas.microsoft.com/office/drawing/2014/main" val="3860166218"/>
                    </a:ext>
                  </a:extLst>
                </a:gridCol>
                <a:gridCol w="2271003">
                  <a:extLst>
                    <a:ext uri="{9D8B030D-6E8A-4147-A177-3AD203B41FA5}">
                      <a16:colId xmlns:a16="http://schemas.microsoft.com/office/drawing/2014/main" val="2494057133"/>
                    </a:ext>
                  </a:extLst>
                </a:gridCol>
              </a:tblGrid>
              <a:tr h="797476">
                <a:tc>
                  <a:txBody>
                    <a:bodyPr/>
                    <a:lstStyle/>
                    <a:p>
                      <a:pPr>
                        <a:buNone/>
                      </a:pPr>
                      <a:r>
                        <a:rPr lang="en-IN" sz="1400"/>
                        <a:t>S.No</a:t>
                      </a:r>
                    </a:p>
                  </a:txBody>
                  <a:tcPr anchor="ctr"/>
                </a:tc>
                <a:tc>
                  <a:txBody>
                    <a:bodyPr/>
                    <a:lstStyle/>
                    <a:p>
                      <a:pPr>
                        <a:buNone/>
                      </a:pPr>
                      <a:r>
                        <a:rPr lang="en-IN" sz="1400" b="1"/>
                        <a:t>Title of the Paper</a:t>
                      </a:r>
                      <a:endParaRPr lang="en-IN" sz="1400"/>
                    </a:p>
                  </a:txBody>
                  <a:tcPr anchor="ctr"/>
                </a:tc>
                <a:tc>
                  <a:txBody>
                    <a:bodyPr/>
                    <a:lstStyle/>
                    <a:p>
                      <a:pPr>
                        <a:buNone/>
                      </a:pPr>
                      <a:r>
                        <a:rPr lang="en-IN" sz="1400" b="1"/>
                        <a:t>Citation Count</a:t>
                      </a:r>
                      <a:endParaRPr lang="en-IN" sz="1400"/>
                    </a:p>
                  </a:txBody>
                  <a:tcPr anchor="ctr"/>
                </a:tc>
                <a:tc>
                  <a:txBody>
                    <a:bodyPr/>
                    <a:lstStyle/>
                    <a:p>
                      <a:pPr>
                        <a:buNone/>
                      </a:pPr>
                      <a:r>
                        <a:rPr lang="en-IN" sz="1400" b="1"/>
                        <a:t>Type (Journal / Conference)</a:t>
                      </a:r>
                      <a:endParaRPr lang="en-IN" sz="1400"/>
                    </a:p>
                  </a:txBody>
                  <a:tcPr anchor="ctr"/>
                </a:tc>
                <a:tc>
                  <a:txBody>
                    <a:bodyPr/>
                    <a:lstStyle/>
                    <a:p>
                      <a:pPr>
                        <a:buNone/>
                      </a:pPr>
                      <a:r>
                        <a:rPr lang="en-IN" sz="1400" b="1" dirty="0"/>
                        <a:t>Name of Journal / Conference</a:t>
                      </a:r>
                      <a:endParaRPr lang="en-IN" sz="1400" dirty="0"/>
                    </a:p>
                  </a:txBody>
                  <a:tcPr anchor="ctr"/>
                </a:tc>
                <a:tc>
                  <a:txBody>
                    <a:bodyPr/>
                    <a:lstStyle/>
                    <a:p>
                      <a:pPr>
                        <a:buNone/>
                      </a:pPr>
                      <a:r>
                        <a:rPr lang="en-IN" sz="1400" b="1"/>
                        <a:t>CiteScore</a:t>
                      </a:r>
                      <a:endParaRPr lang="en-IN" sz="1400"/>
                    </a:p>
                  </a:txBody>
                  <a:tcPr anchor="ctr"/>
                </a:tc>
                <a:tc>
                  <a:txBody>
                    <a:bodyPr/>
                    <a:lstStyle/>
                    <a:p>
                      <a:pPr>
                        <a:buNone/>
                      </a:pPr>
                      <a:r>
                        <a:rPr lang="en-IN" sz="1400" b="1"/>
                        <a:t>Impact Factor</a:t>
                      </a:r>
                      <a:endParaRPr lang="en-IN" sz="1400"/>
                    </a:p>
                  </a:txBody>
                  <a:tcPr anchor="ctr"/>
                </a:tc>
                <a:tc>
                  <a:txBody>
                    <a:bodyPr/>
                    <a:lstStyle/>
                    <a:p>
                      <a:pPr>
                        <a:buNone/>
                      </a:pPr>
                      <a:r>
                        <a:rPr lang="en-IN" sz="1400" b="1"/>
                        <a:t>Quartile</a:t>
                      </a:r>
                      <a:endParaRPr lang="en-IN" sz="1400"/>
                    </a:p>
                  </a:txBody>
                  <a:tcPr anchor="ctr"/>
                </a:tc>
                <a:tc>
                  <a:txBody>
                    <a:bodyPr/>
                    <a:lstStyle/>
                    <a:p>
                      <a:pPr>
                        <a:buNone/>
                      </a:pPr>
                      <a:r>
                        <a:rPr lang="en-IN" sz="1400" b="1"/>
                        <a:t>Indexed In</a:t>
                      </a:r>
                      <a:endParaRPr lang="en-IN" sz="1400"/>
                    </a:p>
                  </a:txBody>
                  <a:tcPr anchor="ctr"/>
                </a:tc>
                <a:extLst>
                  <a:ext uri="{0D108BD9-81ED-4DB2-BD59-A6C34878D82A}">
                    <a16:rowId xmlns:a16="http://schemas.microsoft.com/office/drawing/2014/main" val="316605372"/>
                  </a:ext>
                </a:extLst>
              </a:tr>
              <a:tr h="616257">
                <a:tc>
                  <a:txBody>
                    <a:bodyPr/>
                    <a:lstStyle/>
                    <a:p>
                      <a:pPr>
                        <a:buNone/>
                      </a:pPr>
                      <a:r>
                        <a:rPr lang="en-IN" sz="1400"/>
                        <a:t>1</a:t>
                      </a:r>
                    </a:p>
                  </a:txBody>
                  <a:tcPr anchor="ctr"/>
                </a:tc>
                <a:tc>
                  <a:txBody>
                    <a:bodyPr/>
                    <a:lstStyle/>
                    <a:p>
                      <a:pPr>
                        <a:buNone/>
                      </a:pPr>
                      <a:r>
                        <a:rPr lang="en-GB" sz="1400"/>
                        <a:t>Review: Crypto Schemes for Remote E-Voting</a:t>
                      </a:r>
                    </a:p>
                  </a:txBody>
                  <a:tcPr anchor="ctr"/>
                </a:tc>
                <a:tc>
                  <a:txBody>
                    <a:bodyPr/>
                    <a:lstStyle/>
                    <a:p>
                      <a:pPr>
                        <a:buNone/>
                      </a:pPr>
                      <a:r>
                        <a:rPr lang="en-IN" sz="1400"/>
                        <a:t>85</a:t>
                      </a:r>
                    </a:p>
                  </a:txBody>
                  <a:tcPr anchor="ctr"/>
                </a:tc>
                <a:tc>
                  <a:txBody>
                    <a:bodyPr/>
                    <a:lstStyle/>
                    <a:p>
                      <a:pPr>
                        <a:buNone/>
                      </a:pPr>
                      <a:r>
                        <a:rPr lang="en-IN" sz="1400"/>
                        <a:t>Journal</a:t>
                      </a:r>
                    </a:p>
                  </a:txBody>
                  <a:tcPr anchor="ctr"/>
                </a:tc>
                <a:tc>
                  <a:txBody>
                    <a:bodyPr/>
                    <a:lstStyle/>
                    <a:p>
                      <a:pPr>
                        <a:buNone/>
                      </a:pPr>
                      <a:r>
                        <a:rPr lang="en-IN" sz="1400" dirty="0"/>
                        <a:t>Open Mathematics</a:t>
                      </a:r>
                    </a:p>
                  </a:txBody>
                  <a:tcPr anchor="ctr"/>
                </a:tc>
                <a:tc>
                  <a:txBody>
                    <a:bodyPr/>
                    <a:lstStyle/>
                    <a:p>
                      <a:pPr>
                        <a:buNone/>
                      </a:pPr>
                      <a:r>
                        <a:rPr lang="en-IN" sz="1400"/>
                        <a:t>2.1</a:t>
                      </a:r>
                    </a:p>
                  </a:txBody>
                  <a:tcPr anchor="ctr"/>
                </a:tc>
                <a:tc>
                  <a:txBody>
                    <a:bodyPr/>
                    <a:lstStyle/>
                    <a:p>
                      <a:pPr>
                        <a:buNone/>
                      </a:pPr>
                      <a:r>
                        <a:rPr lang="en-IN" sz="1400"/>
                        <a:t>1.1</a:t>
                      </a:r>
                    </a:p>
                  </a:txBody>
                  <a:tcPr anchor="ctr"/>
                </a:tc>
                <a:tc>
                  <a:txBody>
                    <a:bodyPr/>
                    <a:lstStyle/>
                    <a:p>
                      <a:pPr>
                        <a:buNone/>
                      </a:pPr>
                      <a:r>
                        <a:rPr lang="en-IN" sz="1400"/>
                        <a:t>Q3</a:t>
                      </a:r>
                    </a:p>
                  </a:txBody>
                  <a:tcPr anchor="ctr"/>
                </a:tc>
                <a:tc>
                  <a:txBody>
                    <a:bodyPr/>
                    <a:lstStyle/>
                    <a:p>
                      <a:pPr>
                        <a:buNone/>
                      </a:pPr>
                      <a:r>
                        <a:rPr lang="en-IN" sz="1400"/>
                        <a:t>Scopus / Web of Science</a:t>
                      </a:r>
                    </a:p>
                  </a:txBody>
                  <a:tcPr anchor="ctr"/>
                </a:tc>
                <a:extLst>
                  <a:ext uri="{0D108BD9-81ED-4DB2-BD59-A6C34878D82A}">
                    <a16:rowId xmlns:a16="http://schemas.microsoft.com/office/drawing/2014/main" val="2135405064"/>
                  </a:ext>
                </a:extLst>
              </a:tr>
              <a:tr h="616257">
                <a:tc>
                  <a:txBody>
                    <a:bodyPr/>
                    <a:lstStyle/>
                    <a:p>
                      <a:pPr>
                        <a:buNone/>
                      </a:pPr>
                      <a:r>
                        <a:rPr lang="en-IN" sz="1400"/>
                        <a:t>2</a:t>
                      </a:r>
                    </a:p>
                  </a:txBody>
                  <a:tcPr anchor="ctr"/>
                </a:tc>
                <a:tc>
                  <a:txBody>
                    <a:bodyPr/>
                    <a:lstStyle/>
                    <a:p>
                      <a:pPr>
                        <a:buNone/>
                      </a:pPr>
                      <a:r>
                        <a:rPr lang="en-IN" sz="1400"/>
                        <a:t>Blockchain-Enhanced Electoral Integrity (Oman)</a:t>
                      </a:r>
                    </a:p>
                  </a:txBody>
                  <a:tcPr anchor="ctr"/>
                </a:tc>
                <a:tc>
                  <a:txBody>
                    <a:bodyPr/>
                    <a:lstStyle/>
                    <a:p>
                      <a:pPr>
                        <a:buNone/>
                      </a:pPr>
                      <a:r>
                        <a:rPr lang="en-IN" sz="1400"/>
                        <a:t>14</a:t>
                      </a:r>
                    </a:p>
                  </a:txBody>
                  <a:tcPr anchor="ctr"/>
                </a:tc>
                <a:tc>
                  <a:txBody>
                    <a:bodyPr/>
                    <a:lstStyle/>
                    <a:p>
                      <a:pPr>
                        <a:buNone/>
                      </a:pPr>
                      <a:r>
                        <a:rPr lang="en-IN" sz="1400"/>
                        <a:t>Journal</a:t>
                      </a:r>
                    </a:p>
                  </a:txBody>
                  <a:tcPr anchor="ctr"/>
                </a:tc>
                <a:tc>
                  <a:txBody>
                    <a:bodyPr/>
                    <a:lstStyle/>
                    <a:p>
                      <a:pPr>
                        <a:buNone/>
                      </a:pPr>
                      <a:r>
                        <a:rPr lang="en-IN" sz="1400"/>
                        <a:t>F1000Research</a:t>
                      </a:r>
                    </a:p>
                  </a:txBody>
                  <a:tcPr anchor="ctr"/>
                </a:tc>
                <a:tc>
                  <a:txBody>
                    <a:bodyPr/>
                    <a:lstStyle/>
                    <a:p>
                      <a:pPr>
                        <a:buNone/>
                      </a:pPr>
                      <a:r>
                        <a:rPr lang="en-IN" sz="1400"/>
                        <a:t>3.2</a:t>
                      </a:r>
                    </a:p>
                  </a:txBody>
                  <a:tcPr anchor="ctr"/>
                </a:tc>
                <a:tc>
                  <a:txBody>
                    <a:bodyPr/>
                    <a:lstStyle/>
                    <a:p>
                      <a:pPr>
                        <a:buNone/>
                      </a:pPr>
                      <a:r>
                        <a:rPr lang="en-IN" sz="1400"/>
                        <a:t>—</a:t>
                      </a:r>
                    </a:p>
                  </a:txBody>
                  <a:tcPr anchor="ctr"/>
                </a:tc>
                <a:tc>
                  <a:txBody>
                    <a:bodyPr/>
                    <a:lstStyle/>
                    <a:p>
                      <a:pPr>
                        <a:buNone/>
                      </a:pPr>
                      <a:r>
                        <a:rPr lang="en-IN" sz="1400" dirty="0"/>
                        <a:t>Q2</a:t>
                      </a:r>
                    </a:p>
                  </a:txBody>
                  <a:tcPr anchor="ctr"/>
                </a:tc>
                <a:tc>
                  <a:txBody>
                    <a:bodyPr/>
                    <a:lstStyle/>
                    <a:p>
                      <a:pPr>
                        <a:buNone/>
                      </a:pPr>
                      <a:r>
                        <a:rPr lang="en-IN" sz="1400"/>
                        <a:t>Scopus / PubMed</a:t>
                      </a:r>
                    </a:p>
                  </a:txBody>
                  <a:tcPr anchor="ctr"/>
                </a:tc>
                <a:extLst>
                  <a:ext uri="{0D108BD9-81ED-4DB2-BD59-A6C34878D82A}">
                    <a16:rowId xmlns:a16="http://schemas.microsoft.com/office/drawing/2014/main" val="4229003641"/>
                  </a:ext>
                </a:extLst>
              </a:tr>
              <a:tr h="616257">
                <a:tc>
                  <a:txBody>
                    <a:bodyPr/>
                    <a:lstStyle/>
                    <a:p>
                      <a:pPr>
                        <a:buNone/>
                      </a:pPr>
                      <a:r>
                        <a:rPr lang="en-IN" sz="1400"/>
                        <a:t>3</a:t>
                      </a:r>
                    </a:p>
                  </a:txBody>
                  <a:tcPr anchor="ctr"/>
                </a:tc>
                <a:tc>
                  <a:txBody>
                    <a:bodyPr/>
                    <a:lstStyle/>
                    <a:p>
                      <a:pPr>
                        <a:buNone/>
                      </a:pPr>
                      <a:r>
                        <a:rPr lang="en-GB" sz="1400"/>
                        <a:t>Secure Mobile Voting using Blockchain</a:t>
                      </a:r>
                    </a:p>
                  </a:txBody>
                  <a:tcPr anchor="ctr"/>
                </a:tc>
                <a:tc>
                  <a:txBody>
                    <a:bodyPr/>
                    <a:lstStyle/>
                    <a:p>
                      <a:pPr>
                        <a:buNone/>
                      </a:pPr>
                      <a:r>
                        <a:rPr lang="en-IN" sz="1400"/>
                        <a:t>64</a:t>
                      </a:r>
                    </a:p>
                  </a:txBody>
                  <a:tcPr anchor="ctr"/>
                </a:tc>
                <a:tc>
                  <a:txBody>
                    <a:bodyPr/>
                    <a:lstStyle/>
                    <a:p>
                      <a:pPr>
                        <a:buNone/>
                      </a:pPr>
                      <a:r>
                        <a:rPr lang="en-IN" sz="1400"/>
                        <a:t>Conference</a:t>
                      </a:r>
                    </a:p>
                  </a:txBody>
                  <a:tcPr anchor="ctr"/>
                </a:tc>
                <a:tc>
                  <a:txBody>
                    <a:bodyPr/>
                    <a:lstStyle/>
                    <a:p>
                      <a:pPr>
                        <a:buNone/>
                      </a:pPr>
                      <a:r>
                        <a:rPr lang="en-IN" sz="1400"/>
                        <a:t>ICIS (International Conference on Information Systems)</a:t>
                      </a:r>
                    </a:p>
                  </a:txBody>
                  <a:tcPr anchor="ctr"/>
                </a:tc>
                <a:tc>
                  <a:txBody>
                    <a:bodyPr/>
                    <a:lstStyle/>
                    <a:p>
                      <a:pPr>
                        <a:buNone/>
                      </a:pPr>
                      <a:r>
                        <a:rPr lang="en-IN" sz="1400"/>
                        <a:t>—</a:t>
                      </a:r>
                    </a:p>
                  </a:txBody>
                  <a:tcPr anchor="ctr"/>
                </a:tc>
                <a:tc>
                  <a:txBody>
                    <a:bodyPr/>
                    <a:lstStyle/>
                    <a:p>
                      <a:pPr>
                        <a:buNone/>
                      </a:pPr>
                      <a:r>
                        <a:rPr lang="en-IN" sz="1400"/>
                        <a:t>—</a:t>
                      </a:r>
                    </a:p>
                  </a:txBody>
                  <a:tcPr anchor="ctr"/>
                </a:tc>
                <a:tc>
                  <a:txBody>
                    <a:bodyPr/>
                    <a:lstStyle/>
                    <a:p>
                      <a:pPr>
                        <a:buNone/>
                      </a:pPr>
                      <a:r>
                        <a:rPr lang="en-IN" sz="1400"/>
                        <a:t>—</a:t>
                      </a:r>
                    </a:p>
                  </a:txBody>
                  <a:tcPr anchor="ctr"/>
                </a:tc>
                <a:tc>
                  <a:txBody>
                    <a:bodyPr/>
                    <a:lstStyle/>
                    <a:p>
                      <a:pPr>
                        <a:buNone/>
                      </a:pPr>
                      <a:r>
                        <a:rPr lang="en-IN" sz="1400" dirty="0"/>
                        <a:t>Google Scholar Indexed</a:t>
                      </a:r>
                    </a:p>
                  </a:txBody>
                  <a:tcPr anchor="ctr"/>
                </a:tc>
                <a:extLst>
                  <a:ext uri="{0D108BD9-81ED-4DB2-BD59-A6C34878D82A}">
                    <a16:rowId xmlns:a16="http://schemas.microsoft.com/office/drawing/2014/main" val="637139813"/>
                  </a:ext>
                </a:extLst>
              </a:tr>
              <a:tr h="795998">
                <a:tc>
                  <a:txBody>
                    <a:bodyPr/>
                    <a:lstStyle/>
                    <a:p>
                      <a:pPr>
                        <a:buNone/>
                      </a:pPr>
                      <a:r>
                        <a:rPr lang="en-IN" sz="1400"/>
                        <a:t>4</a:t>
                      </a:r>
                    </a:p>
                  </a:txBody>
                  <a:tcPr anchor="ctr"/>
                </a:tc>
                <a:tc>
                  <a:txBody>
                    <a:bodyPr/>
                    <a:lstStyle/>
                    <a:p>
                      <a:pPr>
                        <a:buNone/>
                      </a:pPr>
                      <a:r>
                        <a:rPr lang="en-GB" sz="1400"/>
                        <a:t>E-Voting using Homomorphic Encryption &amp; ZKP: Practical Evaluation</a:t>
                      </a:r>
                    </a:p>
                  </a:txBody>
                  <a:tcPr anchor="ctr"/>
                </a:tc>
                <a:tc>
                  <a:txBody>
                    <a:bodyPr/>
                    <a:lstStyle/>
                    <a:p>
                      <a:pPr>
                        <a:buNone/>
                      </a:pPr>
                      <a:r>
                        <a:rPr lang="en-IN" sz="1400"/>
                        <a:t>52</a:t>
                      </a:r>
                    </a:p>
                  </a:txBody>
                  <a:tcPr anchor="ctr"/>
                </a:tc>
                <a:tc>
                  <a:txBody>
                    <a:bodyPr/>
                    <a:lstStyle/>
                    <a:p>
                      <a:pPr>
                        <a:buNone/>
                      </a:pPr>
                      <a:r>
                        <a:rPr lang="en-IN" sz="1400"/>
                        <a:t>Journal</a:t>
                      </a:r>
                    </a:p>
                  </a:txBody>
                  <a:tcPr anchor="ctr"/>
                </a:tc>
                <a:tc>
                  <a:txBody>
                    <a:bodyPr/>
                    <a:lstStyle/>
                    <a:p>
                      <a:pPr>
                        <a:buNone/>
                      </a:pPr>
                      <a:r>
                        <a:rPr lang="en-IN" sz="1400"/>
                        <a:t>Future Generation Computer Systems</a:t>
                      </a:r>
                    </a:p>
                  </a:txBody>
                  <a:tcPr anchor="ctr"/>
                </a:tc>
                <a:tc>
                  <a:txBody>
                    <a:bodyPr/>
                    <a:lstStyle/>
                    <a:p>
                      <a:pPr>
                        <a:buNone/>
                      </a:pPr>
                      <a:r>
                        <a:rPr lang="en-IN" sz="1400"/>
                        <a:t>12.5</a:t>
                      </a:r>
                    </a:p>
                  </a:txBody>
                  <a:tcPr anchor="ctr"/>
                </a:tc>
                <a:tc>
                  <a:txBody>
                    <a:bodyPr/>
                    <a:lstStyle/>
                    <a:p>
                      <a:pPr>
                        <a:buNone/>
                      </a:pPr>
                      <a:r>
                        <a:rPr lang="en-IN" sz="1400"/>
                        <a:t>7.5</a:t>
                      </a:r>
                    </a:p>
                  </a:txBody>
                  <a:tcPr anchor="ctr"/>
                </a:tc>
                <a:tc>
                  <a:txBody>
                    <a:bodyPr/>
                    <a:lstStyle/>
                    <a:p>
                      <a:pPr>
                        <a:buNone/>
                      </a:pPr>
                      <a:r>
                        <a:rPr lang="en-IN" sz="1400"/>
                        <a:t>Q1</a:t>
                      </a:r>
                    </a:p>
                  </a:txBody>
                  <a:tcPr anchor="ctr"/>
                </a:tc>
                <a:tc>
                  <a:txBody>
                    <a:bodyPr/>
                    <a:lstStyle/>
                    <a:p>
                      <a:pPr>
                        <a:buNone/>
                      </a:pPr>
                      <a:r>
                        <a:rPr lang="en-IN" sz="1400" dirty="0"/>
                        <a:t>Scopus / Web of Science</a:t>
                      </a:r>
                    </a:p>
                  </a:txBody>
                  <a:tcPr anchor="ctr"/>
                </a:tc>
                <a:extLst>
                  <a:ext uri="{0D108BD9-81ED-4DB2-BD59-A6C34878D82A}">
                    <a16:rowId xmlns:a16="http://schemas.microsoft.com/office/drawing/2014/main" val="4170354101"/>
                  </a:ext>
                </a:extLst>
              </a:tr>
            </a:tbl>
          </a:graphicData>
        </a:graphic>
      </p:graphicFrame>
    </p:spTree>
    <p:extLst>
      <p:ext uri="{BB962C8B-B14F-4D97-AF65-F5344CB8AC3E}">
        <p14:creationId xmlns:p14="http://schemas.microsoft.com/office/powerpoint/2010/main" val="28917854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C2A9828-172A-5215-B04F-A26AC889D7FC}"/>
              </a:ext>
            </a:extLst>
          </p:cNvPr>
          <p:cNvGraphicFramePr>
            <a:graphicFrameLocks noGrp="1"/>
          </p:cNvGraphicFramePr>
          <p:nvPr>
            <p:extLst>
              <p:ext uri="{D42A27DB-BD31-4B8C-83A1-F6EECF244321}">
                <p14:modId xmlns:p14="http://schemas.microsoft.com/office/powerpoint/2010/main" val="1862183823"/>
              </p:ext>
            </p:extLst>
          </p:nvPr>
        </p:nvGraphicFramePr>
        <p:xfrm>
          <a:off x="2505883" y="1778591"/>
          <a:ext cx="5828030" cy="1552575"/>
        </p:xfrm>
        <a:graphic>
          <a:graphicData uri="http://schemas.openxmlformats.org/drawingml/2006/table">
            <a:tbl>
              <a:tblPr firstRow="1" firstCol="1">
                <a:tableStyleId>{69012ECD-51FC-41F1-AA8D-1B2483CD663E}</a:tableStyleId>
              </a:tblPr>
              <a:tblGrid>
                <a:gridCol w="3644546">
                  <a:extLst>
                    <a:ext uri="{9D8B030D-6E8A-4147-A177-3AD203B41FA5}">
                      <a16:colId xmlns:a16="http://schemas.microsoft.com/office/drawing/2014/main" val="539922962"/>
                    </a:ext>
                  </a:extLst>
                </a:gridCol>
                <a:gridCol w="2183484">
                  <a:extLst>
                    <a:ext uri="{9D8B030D-6E8A-4147-A177-3AD203B41FA5}">
                      <a16:colId xmlns:a16="http://schemas.microsoft.com/office/drawing/2014/main" val="3921592894"/>
                    </a:ext>
                  </a:extLst>
                </a:gridCol>
              </a:tblGrid>
              <a:tr h="310515">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Rubric Name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Weightage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6150902"/>
                  </a:ext>
                </a:extLst>
              </a:tr>
              <a:tr h="310515">
                <a:tc>
                  <a:txBody>
                    <a:bodyPr/>
                    <a:lstStyle/>
                    <a:p>
                      <a:pPr marL="0" marR="0" algn="l">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Problem Statement/Introduction</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5</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71067121"/>
                  </a:ext>
                </a:extLst>
              </a:tr>
              <a:tr h="310515">
                <a:tc>
                  <a:txBody>
                    <a:bodyPr/>
                    <a:lstStyle/>
                    <a:p>
                      <a:pPr marL="0" marR="0" algn="l">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Motivation</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5</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76156000"/>
                  </a:ext>
                </a:extLst>
              </a:tr>
              <a:tr h="310515">
                <a:tc>
                  <a:txBody>
                    <a:bodyPr/>
                    <a:lstStyle/>
                    <a:p>
                      <a:pPr marL="0" marR="0" algn="l">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Dataset Analysis</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10</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2473521"/>
                  </a:ext>
                </a:extLst>
              </a:tr>
              <a:tr h="310515">
                <a:tc>
                  <a:txBody>
                    <a:bodyPr/>
                    <a:lstStyle/>
                    <a:p>
                      <a:pPr marL="0" marR="0" algn="l">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Related papers review</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30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90849380"/>
                  </a:ext>
                </a:extLst>
              </a:tr>
            </a:tbl>
          </a:graphicData>
        </a:graphic>
      </p:graphicFrame>
      <p:sp>
        <p:nvSpPr>
          <p:cNvPr id="3" name="Rectangle 1">
            <a:extLst>
              <a:ext uri="{FF2B5EF4-FFF2-40B4-BE49-F238E27FC236}">
                <a16:creationId xmlns:a16="http://schemas.microsoft.com/office/drawing/2014/main" id="{287D2FEE-0DE8-D8EF-3588-8BEE36653B53}"/>
              </a:ext>
            </a:extLst>
          </p:cNvPr>
          <p:cNvSpPr>
            <a:spLocks noChangeArrowheads="1"/>
          </p:cNvSpPr>
          <p:nvPr/>
        </p:nvSpPr>
        <p:spPr bwMode="auto">
          <a:xfrm>
            <a:off x="561653" y="439095"/>
            <a:ext cx="1014118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a:ln>
                  <a:noFill/>
                </a:ln>
                <a:solidFill>
                  <a:srgbClr val="CC0066"/>
                </a:solidFill>
                <a:effectLst/>
                <a:latin typeface="Times New Roman" panose="02020603050405020304" pitchFamily="18" charset="0"/>
                <a:ea typeface="Calibri" panose="020F0502020204030204" pitchFamily="34" charset="0"/>
                <a:cs typeface="Times New Roman" panose="02020603050405020304" pitchFamily="18" charset="0"/>
              </a:rPr>
              <a:t>Evaluation Rubrics</a:t>
            </a:r>
            <a:endParaRPr kumimoji="0" lang="en-US" altLang="en-US" sz="3600" b="0" i="0" u="none" strike="noStrike" cap="none" normalizeH="0" baseline="0">
              <a:ln>
                <a:noFill/>
              </a:ln>
              <a:solidFill>
                <a:srgbClr val="CC006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8529791"/>
      </p:ext>
    </p:extLst>
  </p:cSld>
  <p:clrMapOvr>
    <a:masterClrMapping/>
  </p:clrMapOvr>
</p:sld>
</file>

<file path=ppt/theme/theme1.xml><?xml version="1.0" encoding="utf-8"?>
<a:theme xmlns:a="http://schemas.openxmlformats.org/drawingml/2006/main" name="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Presentation Cover pag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Presentation slides">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43CD6CE29747349A5A94DA81629FDC5" ma:contentTypeVersion="11" ma:contentTypeDescription="Create a new document." ma:contentTypeScope="" ma:versionID="dc06cc9d132ff9dbfd94d33746a170bc">
  <xsd:schema xmlns:xsd="http://www.w3.org/2001/XMLSchema" xmlns:xs="http://www.w3.org/2001/XMLSchema" xmlns:p="http://schemas.microsoft.com/office/2006/metadata/properties" xmlns:ns2="288a120d-550d-410d-8e83-3a0debd8f61a" xmlns:ns3="b2fc7224-56e7-4a56-81e9-64380d6fda13" targetNamespace="http://schemas.microsoft.com/office/2006/metadata/properties" ma:root="true" ma:fieldsID="3e4d2b7f430bf8adbb47ab8b4dbba55a" ns2:_="" ns3:_="">
    <xsd:import namespace="288a120d-550d-410d-8e83-3a0debd8f61a"/>
    <xsd:import namespace="b2fc7224-56e7-4a56-81e9-64380d6fd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a120d-550d-410d-8e83-3a0debd8f6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fc7224-56e7-4a56-81e9-64380d6fda1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86E6DA-5186-4C2D-B67F-DA1E8DD817FC}">
  <ds:schemaRefs>
    <ds:schemaRef ds:uri="288a120d-550d-410d-8e83-3a0debd8f61a"/>
    <ds:schemaRef ds:uri="b2fc7224-56e7-4a56-81e9-64380d6fda1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14EAF80-A9B1-4397-8673-948369AFEFED}">
  <ds:schemaRefs>
    <ds:schemaRef ds:uri="http://schemas.microsoft.com/sharepoint/v3/contenttype/forms"/>
  </ds:schemaRefs>
</ds:datastoreItem>
</file>

<file path=customXml/itemProps3.xml><?xml version="1.0" encoding="utf-8"?>
<ds:datastoreItem xmlns:ds="http://schemas.openxmlformats.org/officeDocument/2006/customXml" ds:itemID="{896A51D3-70D6-4C59-A5F9-E965D4778D21}">
  <ds:schemaRefs>
    <ds:schemaRef ds:uri="288a120d-550d-410d-8e83-3a0debd8f61a"/>
    <ds:schemaRef ds:uri="b2fc7224-56e7-4a56-81e9-64380d6fda1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450</TotalTime>
  <Words>5117</Words>
  <Application>Microsoft Office PowerPoint</Application>
  <PresentationFormat>Widescreen</PresentationFormat>
  <Paragraphs>654</Paragraphs>
  <Slides>44</Slides>
  <Notes>2</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44</vt:i4>
      </vt:variant>
    </vt:vector>
  </HeadingPairs>
  <TitlesOfParts>
    <vt:vector size="57" baseType="lpstr">
      <vt:lpstr>Arial</vt:lpstr>
      <vt:lpstr>Avenir Next LT Pro</vt:lpstr>
      <vt:lpstr>Calibri</vt:lpstr>
      <vt:lpstr>Cambria Math</vt:lpstr>
      <vt:lpstr>Futura</vt:lpstr>
      <vt:lpstr>Garamond</vt:lpstr>
      <vt:lpstr>Times New Roman</vt:lpstr>
      <vt:lpstr>Wingdings</vt:lpstr>
      <vt:lpstr>Presentation Cover page</vt:lpstr>
      <vt:lpstr>Presentation slides</vt:lpstr>
      <vt:lpstr>1_Presentation Cover page</vt:lpstr>
      <vt:lpstr>1_Presentation slides</vt:lpstr>
      <vt:lpstr>2_Presentation slides</vt:lpstr>
      <vt:lpstr>Blockchain Based E-Voting for Electrol Integrity</vt:lpstr>
      <vt:lpstr>Agenda</vt:lpstr>
      <vt:lpstr>Contributions</vt:lpstr>
      <vt:lpstr>Introduction</vt:lpstr>
      <vt:lpstr>List of Products similar to this project</vt:lpstr>
      <vt:lpstr>List of Research Labs</vt:lpstr>
      <vt:lpstr>Literature Survey</vt:lpstr>
      <vt:lpstr>PowerPoint Presentation</vt:lpstr>
      <vt:lpstr>PowerPoint Presentation</vt:lpstr>
      <vt:lpstr>PowerPoint Presentation</vt:lpstr>
      <vt:lpstr>PowerPoint Presentation</vt:lpstr>
      <vt:lpstr>PowerPoint Presentation</vt:lpstr>
      <vt:lpstr>Challenges</vt:lpstr>
      <vt:lpstr>Problem Statement</vt:lpstr>
      <vt:lpstr>Motivation</vt:lpstr>
      <vt:lpstr>Dataset Description</vt:lpstr>
      <vt:lpstr>PowerPoint Presentation</vt:lpstr>
      <vt:lpstr>Block Diagram</vt:lpstr>
      <vt:lpstr>Methodology</vt:lpstr>
      <vt:lpstr>PowerPoint Presentation</vt:lpstr>
      <vt:lpstr>PowerPoint Presentation</vt:lpstr>
      <vt:lpstr>PowerPoint Presentation</vt:lpstr>
      <vt:lpstr>Dataset Analysis</vt:lpstr>
      <vt:lpstr>Dataset Analysis</vt:lpstr>
      <vt:lpstr>Machine Learning Model</vt:lpstr>
      <vt:lpstr>Algorithm - proposed</vt:lpstr>
      <vt:lpstr>Difference from Existing Algorithms</vt:lpstr>
      <vt:lpstr>Explanation of algorithm</vt:lpstr>
      <vt:lpstr>Complexity Analysis</vt:lpstr>
      <vt:lpstr>Experimental Set up</vt:lpstr>
      <vt:lpstr>Performance Measures</vt:lpstr>
      <vt:lpstr>Deep Learning Model</vt:lpstr>
      <vt:lpstr>Architecture Diagram</vt:lpstr>
      <vt:lpstr>Algorithm Procedure</vt:lpstr>
      <vt:lpstr>Experimental Set up</vt:lpstr>
      <vt:lpstr>Performance Measures</vt:lpstr>
      <vt:lpstr>Split Ratio of the Dataset </vt:lpstr>
      <vt:lpstr>Explainable AI</vt:lpstr>
      <vt:lpstr>PowerPoint Presentation</vt:lpstr>
      <vt:lpstr>Conclusion and Future Enhancement</vt:lpstr>
      <vt:lpstr>References</vt:lpstr>
      <vt:lpstr>PowerPoint Presentation</vt:lpstr>
      <vt:lpstr>Identified metrics of the journal/Conference for all references considered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KSUM-SB2-XPS-35</dc:creator>
  <cp:lastModifiedBy>SMILEY .</cp:lastModifiedBy>
  <cp:revision>37</cp:revision>
  <dcterms:created xsi:type="dcterms:W3CDTF">2020-07-03T08:40:50Z</dcterms:created>
  <dcterms:modified xsi:type="dcterms:W3CDTF">2025-11-16T15:58:16Z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0x010100643CD6CE29747349A5A94DA81629FDC5</vt:lpwstr>
  </property>
</Properties>
</file>